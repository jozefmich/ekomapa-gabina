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i+7JVKc07gUfH7lhjHwC9Jwswwg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Ondřej Stokláska"/>
  <p:cmAuthor clrIdx="1" id="1" initials="" lastIdx="4" name="Michal Fibiger"/>
  <p:cmAuthor clrIdx="2" id="2" initials="" lastIdx="3" name="Jozef Michalovčik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E20A2F-A244-48F6-8F02-71892E3F2A70}">
  <a:tblStyle styleId="{4AE20A2F-A244-48F6-8F02-71892E3F2A7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02T12:42:47.217">
    <p:pos x="6000" y="0"/>
    <p:text>PRICING structure: (fibi?)
vyvoj
Ops (Dev/prod)
FE
Integrace
Datový model
Provoz
Delenie koristi - success share model - transparentne podmienky ( FIBI)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H9gmz1g"/>
      </p:ext>
    </p:extLst>
  </p:cm>
  <p:cm authorId="1" idx="1" dt="2026-10-02T10:38:48.266">
    <p:pos x="6000" y="0"/>
    <p:text>ano Pricing ja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CH-CiAHA"/>
      </p:ext>
    </p:extLst>
  </p:cm>
  <p:cm authorId="0" idx="2" dt="2026-10-02T12:38:10.563">
    <p:pos x="6000" y="0"/>
    <p:text>@michal.fibiger@vorian.cz to byl copy-paste Jožova textu :D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CH9vHshI"/>
      </p:ext>
    </p:extLst>
  </p:cm>
  <p:cm authorId="1" idx="2" dt="2026-10-02T12:39:37.082">
    <p:pos x="6000" y="0"/>
    <p:text>:D Jeste se podivam jestli nema byt pricing oddeleny pouze v excelu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CH9vHshM"/>
      </p:ext>
    </p:extLst>
  </p:cm>
  <p:cm authorId="1" idx="3" dt="2026-10-02T12:42:47.217">
    <p:pos x="6000" y="0"/>
    <p:text>Tak cenovky maji byt pouze v excelu. Zde maji byt MDs odhady k Milnikum a etapam a odhady na soucinnost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CH9vHshQ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1" dt="2026-10-02T07:52:44.094">
    <p:pos x="177" y="665"/>
    <p:text>honzo, ja som si vygeneroval skill s EG.D corporate identity. takže UX UI by sa malo odražať od toho. tak som urobil ten prototyp
kludne daj vediet a ja ti to nazdielam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H9gmz08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2" dt="2026-10-02T08:15:26.681">
    <p:pos x="391" y="299"/>
    <p:text>zavolat/ napísat Tomaš Galik
. či možme poskladat team INAK než je definovaný. že nam nejake role Chýbajú  a ine mame zase pokryte 2 role 1 človekom = cost saving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HUJLDBY"/>
      </p:ext>
    </p:extLst>
  </p:cm>
  <p:cm authorId="1" idx="4" dt="2026-10-02T08:15:26.681">
    <p:pos x="391" y="299"/>
    <p:text>Team muze byt slozen dle dodavatele - tzn. mit jine role - musime to ale zduvodnit</p:text>
    <p:extLst>
      <p:ext uri="{C676402C-5697-4E1C-873F-D02D1690AC5C}">
        <p15:threadingInfo timeZoneBias="0">
          <p15:parentCm authorId="2" idx="2"/>
        </p15:threadingInfo>
      </p:ext>
      <p:ext uri="http://customooxmlschemas.google.com/">
        <go:slidesCustomData xmlns:go="http://customooxmlschemas.google.com/" commentPostId="AAACH9gmz1E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3" dt="2026-09-18T15:14:08.442">
    <p:pos x="391" y="714"/>
    <p:text>https://claude.ai/artifact/5q7NsEHehZAVLLM9HjjafB
Check THIS OUT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HSi8ex4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6b5b3f776f01fd4e_1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" name="Google Shape;11;h6b5b3f776f01fd4e_16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h6b5b3f776f01fd4e_16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b9f14948f_1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3fb9f14948f_1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Titulní slide dle šablony Vorian. Datum = den podání nabídky.</a:t>
            </a:r>
            <a:endParaRPr/>
          </a:p>
        </p:txBody>
      </p:sp>
      <p:sp>
        <p:nvSpPr>
          <p:cNvPr id="28" name="Google Shape;28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6b5b3f776f01fd4e_10_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h6b5b3f776f01fd4e_10_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6b5b3f776f01fd4e_3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h6b5b3f776f01fd4e_3_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h6b5b3f776f01fd4e_3_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6b5b3f776f01fd4e_13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h6b5b3f776f01fd4e_1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h6b5b3f776f01fd4e_1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h6b5b3f776f01fd4e_13_2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h6b5b3f776f01fd4e_13_2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h6b5b3f776f01fd4e_13_5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h6b5b3f776f01fd4e_13_5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6b5b3f776f01fd4e_13_8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h6b5b3f776f01fd4e_13_8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h6b5b3f776f01fd4e_13_11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h6b5b3f776f01fd4e_13_11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h6b5b3f776f01fd4e_13_16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h6b5b3f776f01fd4e_13_16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h6b5b3f776f01fd4e_13_20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h6b5b3f776f01fd4e_13_20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h56367c99c7dc0982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h56367c99c7dc0982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h56367c99c7dc0982_0_5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h56367c99c7dc0982_0_5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h6b5b3f776f01fd4e_13_25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h6b5b3f776f01fd4e_13_25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h6b5b3f776f01fd4e_13_28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h6b5b3f776f01fd4e_13_28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1" name="Google Shape;86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h6b5b3f776f01fd4e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h6b5b3f776f01fd4e_5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h6b5b3f776f01fd4e_5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h6b5b3f776f01fd4e_5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6" name="Google Shape;1006;h6b5b3f776f01fd4e_5_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h6b5b3f776f01fd4e_5_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9" name="Google Shape;1039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3a1860cb4cd2a7a5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7" name="Google Shape;1077;h3a1860cb4cd2a7a5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h3a1860cb4cd2a7a5_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h3a1860cb4cd2a7a5_2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3" name="Google Shape;1123;h3a1860cb4cd2a7a5_2_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h3a1860cb4cd2a7a5_2_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h3a1860cb4cd2a7a5_2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6" name="Google Shape;1146;h3a1860cb4cd2a7a5_2_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h3a1860cb4cd2a7a5_2_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6" name="Google Shape;115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5" name="Google Shape;118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8" name="Google Shape;1198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9" name="Google Shape;1209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8" name="Google Shape;1268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2" name="Google Shape;1282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9" name="Google Shape;1309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0" name="Google Shape;1320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1" name="Google Shape;1341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h244f88c167811e80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7" name="Google Shape;1367;h244f88c167811e80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h244f88c167811e80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7" name="Google Shape;1387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Závěrečný slide. Kontakt musí sedět s identifikačními údaji dle kapitoly 8.1.</a:t>
            </a:r>
            <a:endParaRPr/>
          </a:p>
        </p:txBody>
      </p:sp>
      <p:sp>
        <p:nvSpPr>
          <p:cNvPr id="1388" name="Google Shape;1388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s://eon-gabina-prototype.vercel.app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comments" Target="../comments/comment3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3.jpg"/><Relationship Id="rId7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comments" Target="../comments/commen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h6b5b3f776f01fd4e_16_0"/>
          <p:cNvSpPr txBox="1"/>
          <p:nvPr/>
        </p:nvSpPr>
        <p:spPr>
          <a:xfrm>
            <a:off x="621792" y="411480"/>
            <a:ext cx="10945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highlight>
                  <a:srgbClr val="FFFF00"/>
                </a:highlight>
              </a:rPr>
              <a:t>ŽLUTÝ SLIDE :) </a:t>
            </a:r>
            <a:endParaRPr b="0" i="0" sz="3000" u="none" cap="none" strike="noStrike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h6b5b3f776f01fd4e_16_0"/>
          <p:cNvSpPr txBox="1"/>
          <p:nvPr/>
        </p:nvSpPr>
        <p:spPr>
          <a:xfrm>
            <a:off x="621792" y="960120"/>
            <a:ext cx="10945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h6b5b3f776f01fd4e_16_0"/>
          <p:cNvSpPr txBox="1"/>
          <p:nvPr/>
        </p:nvSpPr>
        <p:spPr>
          <a:xfrm>
            <a:off x="41148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h6b5b3f776f01fd4e_16_0"/>
          <p:cNvSpPr txBox="1"/>
          <p:nvPr/>
        </p:nvSpPr>
        <p:spPr>
          <a:xfrm>
            <a:off x="10863072" y="64190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" name="Google Shape;18;h6b5b3f776f01fd4e_16_0"/>
          <p:cNvGraphicFramePr/>
          <p:nvPr/>
        </p:nvGraphicFramePr>
        <p:xfrm>
          <a:off x="621792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{4AE20A2F-A244-48F6-8F02-71892E3F2A70}</a:tableStyleId>
              </a:tblPr>
              <a:tblGrid>
                <a:gridCol w="365750"/>
                <a:gridCol w="3840475"/>
                <a:gridCol w="4572000"/>
                <a:gridCol w="1280150"/>
                <a:gridCol w="8869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Požadavek ZD (kap. 8.5)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Jak to pokryjeme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Vlastník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Stav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8C8C8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Popis základní koncepce řešení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Zvalidovat společně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VŠICHNI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8C8C8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Popis modulární architektury a vazby částí řešení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Revize slidu Architektura + text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Chocho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8C8C8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Detailní popis předpokládaných funkcionalit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Neřešíme textem — prototyp + upload na web, odkaz v nabídce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Jan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/>
                        <a:t>Done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8C8C8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Popis integrací a návazné funkcionality, popis API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Připravit (7 zdrojů, Query API, OpenAPI 3.1)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Chocho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8C8C8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Popis datového modelu, entit a vazeb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Připravit (kanonický model enginu, ER)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Chocho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8C8C8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Popis navrhovaného predikčního modelu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Připravit (profilový model, validace)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Chocho + Jožo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8C8C8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Specifika a omezení rolí v rámci IT systému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Připravit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Fibi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/>
                        <a:t>Done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8C8C8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Hodnocení rizik a zobrazení aktuálního stavu řešení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Zrušeno zadavatelem (e-mail R. Lácha 22. 9.) — jedna věta s odkazem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Fibi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☑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8C8C8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Popis grafického rozhraní (UX) a vizualizace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Screenshoty prototypu v brandingu EG.D + popisky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Jan (+ Jožo)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8C8C8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Správa uživatelů, rolí a oprávnění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Tři role: admin, developer, koncový uživatel; není CMS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/>
                        <a:t>Fibi - Slide 26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/>
                        <a:t>Done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8C8C8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 — řešení, protokoly, deklarace souladu se ZD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Hotovo v prezentaci (sl. 15–23), přenést do textu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Fibi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½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8C8C8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Služby projektu a podpory — deployment, zálohování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Připravit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Ondřej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8C8C8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Vymezení nepokrytých / jinak řešených požadavků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Připravit (odchylky od referenční architektury, Q&amp;A)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Ondřej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Google Shape;19;h6b5b3f776f01fd4e_16_0"/>
          <p:cNvSpPr txBox="1"/>
          <p:nvPr/>
        </p:nvSpPr>
        <p:spPr>
          <a:xfrm>
            <a:off x="621792" y="6053328"/>
            <a:ext cx="10945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Stav k pátku 2. 10. ráno. Bod 10 nemá vlastníka. Bod 3 předpokládá, že prototyp bude veřejně dostupný do neděle.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b9f14948f_1_0"/>
          <p:cNvSpPr txBox="1"/>
          <p:nvPr/>
        </p:nvSpPr>
        <p:spPr>
          <a:xfrm>
            <a:off x="282525" y="1055850"/>
            <a:ext cx="11718900" cy="5849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Od popisu v nabídce očekáváme minimálně: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popis základní koncepce řešení - zvalidovat (ALL) +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popis modulární architektury a vazby jednotlivých částí řešení - revize (CHOCHO)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detailní popis předpokládaných funkcionalit (detail musí být dostatečný pro pochopení, co budou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nabízené funkce pokrývat a jak s nimi uživatel bude pracovat) - neřešíme - bude stačit prototyp + upload na web (JAN)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popis pokrývané integrace a návaznou funkcionalitu řešení, popis API daného řešení, - připravit (CHOCHO)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popis datového modelu, jednotlivých datových entit a vazeb mezi nimi, - připravit (CHOCHO)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popis navrhovaného predikčního modelu, - připravit (CHOCHO ve spolupráci s JO</a:t>
            </a:r>
            <a:r>
              <a:rPr lang="en-US"/>
              <a:t>ŽO</a:t>
            </a: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řešení specifik a omezení jednotlivých popsaných rolí v rámci IT systému, (FIBI)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popis řešení pro oblast hodnocení rizik a zobrazení aktuálního stavu řešení, (FIBI)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popis grafického rozhraní (UX) a vizualizace (či vzhled existujícího řešení) pro vytvoření představy (</a:t>
            </a:r>
            <a:r>
              <a:rPr lang="en-US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 JAN + jozef može dat support.)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budoucí aplikaci,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popis správy uživatelů, jejich rolí a oprávnění v rámci systému</a:t>
            </a:r>
            <a:r>
              <a:rPr i="1" lang="en-US"/>
              <a:t>,(admin, </a:t>
            </a:r>
            <a:r>
              <a:rPr i="1" lang="en-US"/>
              <a:t>developer</a:t>
            </a:r>
            <a:r>
              <a:rPr i="1" lang="en-US"/>
              <a:t>, koncovy zakaznik. neni to CMS)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security – popis řešení, použité protokoly – deklarace naplnění bezpečnostních požadavků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definovaných v ZD, (FIBI)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služby projektu a podpory – deployment, zálohování, - připravit (OST)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jednoznačné vymezení požadavků Zadavatele, jež nebudou nabídkou pokryty, nebo je uchazeč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navrhuje řešit zcela jinak s patřičným vysvětlením důvodů. - připravit (OST)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PRICING structure: (fibi?)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-US" sz="1100"/>
              <a:t>vyvoj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 sz="1100"/>
              <a:t>Ops (Dev/prod)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 sz="1100"/>
              <a:t>FE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 sz="1100"/>
              <a:t>Integrace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 sz="1100"/>
              <a:t>Datový model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 sz="1100"/>
              <a:t>Provoz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Delenie koristi </a:t>
            </a:r>
            <a:r>
              <a:rPr lang="en-US" sz="1100"/>
              <a:t>- success share model - transparentne podmienky ( </a:t>
            </a:r>
            <a:r>
              <a:rPr b="1" lang="en-US" sz="1100"/>
              <a:t>FIBI</a:t>
            </a:r>
            <a:r>
              <a:rPr lang="en-US" sz="1100"/>
              <a:t>) 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" name="Google Shape;3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1556" y="566928"/>
            <a:ext cx="1006631" cy="97840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 txBox="1"/>
          <p:nvPr/>
        </p:nvSpPr>
        <p:spPr>
          <a:xfrm>
            <a:off x="0" y="1856232"/>
            <a:ext cx="12188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914400" y="2788920"/>
            <a:ext cx="103601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GABINA </a:t>
            </a:r>
            <a:r>
              <a:rPr b="1" lang="en-US" sz="4000">
                <a:solidFill>
                  <a:srgbClr val="FFFFFF"/>
                </a:solidFill>
              </a:rPr>
              <a:t>-</a:t>
            </a: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Ekomapa EG.D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914400" y="365760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Nabídka do výběrového řízení · E.ON Česká republika, s. r. 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0" y="5943600"/>
            <a:ext cx="12188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</a:rPr>
              <a:t>Vorian Team</a:t>
            </a:r>
            <a:r>
              <a:rPr b="0" i="0" lang="en-US" sz="11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  ·   30. 9.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0" y="2240280"/>
            <a:ext cx="2210826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621792" y="1517904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1645920" y="149961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Porozumění zadání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1645920" y="1773936"/>
            <a:ext cx="5760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Co GABINA je a co určuje celý projekt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2"/>
          <p:cNvCxnSpPr/>
          <p:nvPr/>
        </p:nvCxnSpPr>
        <p:spPr>
          <a:xfrm>
            <a:off x="621792" y="2066544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2"/>
          <p:cNvSpPr txBox="1"/>
          <p:nvPr/>
        </p:nvSpPr>
        <p:spPr>
          <a:xfrm>
            <a:off x="621792" y="219456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1645920" y="217627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Navrhované řešení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1645920" y="2450592"/>
            <a:ext cx="5760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Architektura, data, výpočty, predikce, UX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621792" y="2743200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2"/>
          <p:cNvSpPr txBox="1"/>
          <p:nvPr/>
        </p:nvSpPr>
        <p:spPr>
          <a:xfrm>
            <a:off x="621792" y="2871216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645920" y="285292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Realizace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1645920" y="3127248"/>
            <a:ext cx="5760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Fázování, harmonogram, tým, součinnost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2"/>
          <p:cNvCxnSpPr/>
          <p:nvPr/>
        </p:nvCxnSpPr>
        <p:spPr>
          <a:xfrm>
            <a:off x="621792" y="3419856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2"/>
          <p:cNvSpPr txBox="1"/>
          <p:nvPr/>
        </p:nvSpPr>
        <p:spPr>
          <a:xfrm>
            <a:off x="621792" y="3547872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1645920" y="352958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645920" y="3803904"/>
            <a:ext cx="5760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Struktura dle Přílohy č. 3 a předpoklady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2"/>
          <p:cNvCxnSpPr/>
          <p:nvPr/>
        </p:nvCxnSpPr>
        <p:spPr>
          <a:xfrm>
            <a:off x="621792" y="4096512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2"/>
          <p:cNvSpPr txBox="1"/>
          <p:nvPr/>
        </p:nvSpPr>
        <p:spPr>
          <a:xfrm>
            <a:off x="621792" y="422452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1645920" y="42062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Proč Vorian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1645920" y="4480560"/>
            <a:ext cx="5760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Reference, rizika, závěr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/>
        </p:nvSpPr>
        <p:spPr>
          <a:xfrm>
            <a:off x="914400" y="23957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SEKCE 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914400" y="283464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Porozumění zadání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914400" y="39319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Ukažme, že rozumíme zadání, dřív než začneme mluvit o sobě.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4120" y="4709160"/>
            <a:ext cx="1364127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 má GABINA dělat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Veřejná microsite Ekomapa EG.D — vizualizace, porovnávání a edukace v oblasti energetického mixu a uhlíkové stopy.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21792" y="1691640"/>
            <a:ext cx="603504" cy="60350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621792" y="169164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621792" y="2551176"/>
            <a:ext cx="244830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Denní přehled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621792" y="2880360"/>
            <a:ext cx="244830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Interaktivní mapa s drill-down ČR → kraj → okres a přehled za poslední měřený den.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454146" y="1691640"/>
            <a:ext cx="603504" cy="60350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454146" y="169164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3454146" y="2551176"/>
            <a:ext cx="244830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Detailní data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3454146" y="2880360"/>
            <a:ext cx="244830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Graf mixu, Sankey tok elektřiny a víceosý přehled se 72hodinovou predikcí.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286500" y="1691640"/>
            <a:ext cx="603504" cy="60350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6286500" y="169164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6286500" y="2551176"/>
            <a:ext cx="244830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Kontext lokality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6286500" y="2880360"/>
            <a:ext cx="244830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EKO-index, soběstačnost, podíl OZE, emise na obyvatele a gamifikace.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9118854" y="1691640"/>
            <a:ext cx="603504" cy="60350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9118854" y="169164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9118854" y="2551176"/>
            <a:ext cx="244830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EKO-žebříček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9118854" y="2880360"/>
            <a:ext cx="244830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Porovnání okresů v distribučním území podle ročního EKO-indexu.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Rozsah zadání v číslech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621792" y="2148840"/>
            <a:ext cx="19696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621792" y="2926080"/>
            <a:ext cx="196961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okresů v distribučním území EG.D, v pěti krajích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2865730" y="2148840"/>
            <a:ext cx="19696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 tis.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2865730" y="2926080"/>
            <a:ext cx="196961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hodnot denně z BI DWH, granularita 1 hodina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5109667" y="2148840"/>
            <a:ext cx="19696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5109667" y="2926080"/>
            <a:ext cx="196961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od tohoto roku je dostupná historie dat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7353605" y="2148840"/>
            <a:ext cx="19696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72 h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7353605" y="2926080"/>
            <a:ext cx="196961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horizont predikce, granularita 1 hodina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9597542" y="2148840"/>
            <a:ext cx="19696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500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9597542" y="2926080"/>
            <a:ext cx="196961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návštěv měsíčně, špička 150–200 souběžných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621792" y="3977640"/>
            <a:ext cx="10945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50"/>
              <a:buFont typeface="Arial"/>
              <a:buNone/>
            </a:pPr>
            <a:r>
              <a:rPr i="1" lang="en-US" sz="12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Objem dat i provoz jsou malé. Rozhodující není výkon, ale správnost výpočtu a udržitelnost provozu do prosince 2033.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Tři věci, které určují celý projekt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Naše čtení zadání po vyhodnocení 232 odpovědí na dotazy uchazečů.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21792" y="1691640"/>
            <a:ext cx="603504" cy="60350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621792" y="169164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621792" y="2551176"/>
            <a:ext cx="33131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Regulované prostředí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621792" y="2880360"/>
            <a:ext cx="331317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Azure v tenantu E.ON, GitLab E.ON, CSD direktivy, do produkce nasazuje výhradně E.ON. Compliance režie je položka rozpočtu, ne vedlejší efekt.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437888" y="1691640"/>
            <a:ext cx="603504" cy="60350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4437888" y="169164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4437888" y="2551176"/>
            <a:ext cx="33131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jsou malá, výpočet je jádro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4437888" y="2880360"/>
            <a:ext cx="331317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20 tisíc hodnot denně. Hodnota vzniká ve správnosti emisní intenzity a EKO-indexu, ne ve škálování platformy.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253984" y="1691640"/>
            <a:ext cx="603504" cy="60350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8253984" y="169164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8253984" y="2551176"/>
            <a:ext cx="33131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Predikce srozumitelná, ne přesná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8253984" y="2880360"/>
            <a:ext cx="331317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Zadavatel žádá jednodušší profilovou třídu modelu s chybovostí do 10 % a nepožaduje nákladné řešení.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914400" y="23957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SEKCE 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914400" y="283464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Navrhované řešení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914400" y="39319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Kapitola 8.5 — kvalita a srozumitelnost tohoto popisu je klíčovým faktorem hodnocení.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4120" y="4709160"/>
            <a:ext cx="1364127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h6b5b3f776f01fd4e_1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00" y="1249974"/>
            <a:ext cx="8448624" cy="536838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h6b5b3f776f01fd4e_10_3"/>
          <p:cNvSpPr txBox="1"/>
          <p:nvPr/>
        </p:nvSpPr>
        <p:spPr>
          <a:xfrm>
            <a:off x="843875" y="596850"/>
            <a:ext cx="99552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 u="sng">
                <a:solidFill>
                  <a:schemeClr val="hlink"/>
                </a:solidFill>
                <a:hlinkClick r:id="rId4"/>
              </a:rPr>
              <a:t>Vyzkoušejte PROTOTYP</a:t>
            </a:r>
            <a:r>
              <a:rPr b="1" lang="en-US" sz="3500"/>
              <a:t> </a:t>
            </a:r>
            <a:endParaRPr b="1" sz="3500"/>
          </a:p>
        </p:txBody>
      </p:sp>
      <p:pic>
        <p:nvPicPr>
          <p:cNvPr id="156" name="Google Shape;156;h6b5b3f776f01fd4e_10_3" title="Screenshot 2026-10-03 at 17.42.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4062" y="2042530"/>
            <a:ext cx="6239539" cy="3585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h6b5b3f776f01fd4e_10_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28374" y="1120438"/>
            <a:ext cx="2463023" cy="53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Návrh řešení </a:t>
            </a:r>
            <a:r>
              <a:rPr b="1" lang="en-US" sz="3300"/>
              <a:t>-</a:t>
            </a: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hlavní obrazovka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835504" y="1357750"/>
            <a:ext cx="613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Brandovaný návrh Vorian pro EG.D. Jedna stránka, jeden sdílený kontext lokality.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ck_s1.png" id="165" name="Google Shape;1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4941" y="2468706"/>
            <a:ext cx="4638584" cy="220976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3"/>
          <p:cNvSpPr/>
          <p:nvPr/>
        </p:nvSpPr>
        <p:spPr>
          <a:xfrm>
            <a:off x="1094941" y="2468706"/>
            <a:ext cx="4638600" cy="2209800"/>
          </a:xfrm>
          <a:prstGeom prst="rect">
            <a:avLst/>
          </a:prstGeom>
          <a:noFill/>
          <a:ln cap="flat" cmpd="sng" w="61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9325" lIns="58700" spcFirstLastPara="1" rIns="58700" wrap="square" tIns="29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2392574" y="3744823"/>
            <a:ext cx="187800" cy="187800"/>
          </a:xfrm>
          <a:prstGeom prst="ellipse">
            <a:avLst/>
          </a:prstGeom>
          <a:solidFill>
            <a:srgbClr val="000000"/>
          </a:solidFill>
          <a:ln cap="flat" cmpd="sng" w="12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9325" lIns="58700" spcFirstLastPara="1" rIns="58700" wrap="square" tIns="29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2392574" y="3744823"/>
            <a:ext cx="1878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2"/>
              <a:buFont typeface="Arial"/>
              <a:buNone/>
            </a:pPr>
            <a:r>
              <a:rPr b="1" lang="en-US" sz="6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2717276" y="2502927"/>
            <a:ext cx="187800" cy="187800"/>
          </a:xfrm>
          <a:prstGeom prst="ellipse">
            <a:avLst/>
          </a:prstGeom>
          <a:solidFill>
            <a:srgbClr val="000000"/>
          </a:solidFill>
          <a:ln cap="flat" cmpd="sng" w="12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9325" lIns="58700" spcFirstLastPara="1" rIns="58700" wrap="square" tIns="29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2717276" y="2502927"/>
            <a:ext cx="1878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2"/>
              <a:buFont typeface="Arial"/>
              <a:buNone/>
            </a:pPr>
            <a:r>
              <a:rPr b="1" lang="en-US" sz="6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5129347" y="3347062"/>
            <a:ext cx="187800" cy="187800"/>
          </a:xfrm>
          <a:prstGeom prst="ellipse">
            <a:avLst/>
          </a:prstGeom>
          <a:solidFill>
            <a:srgbClr val="000000"/>
          </a:solidFill>
          <a:ln cap="flat" cmpd="sng" w="12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9325" lIns="58700" spcFirstLastPara="1" rIns="58700" wrap="square" tIns="29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5129347" y="3347062"/>
            <a:ext cx="1878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2"/>
              <a:buFont typeface="Arial"/>
              <a:buNone/>
            </a:pPr>
            <a:r>
              <a:rPr b="1" lang="en-US" sz="6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5384470" y="4153632"/>
            <a:ext cx="187800" cy="187800"/>
          </a:xfrm>
          <a:prstGeom prst="ellipse">
            <a:avLst/>
          </a:prstGeom>
          <a:solidFill>
            <a:srgbClr val="000000"/>
          </a:solidFill>
          <a:ln cap="flat" cmpd="sng" w="12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9325" lIns="58700" spcFirstLastPara="1" rIns="58700" wrap="square" tIns="29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5384470" y="4153632"/>
            <a:ext cx="1878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2"/>
              <a:buFont typeface="Arial"/>
              <a:buNone/>
            </a:pPr>
            <a:r>
              <a:rPr b="1" lang="en-US" sz="6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6347849" y="2290613"/>
            <a:ext cx="360600" cy="255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6347849" y="2290613"/>
            <a:ext cx="36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6863147" y="2272325"/>
            <a:ext cx="4212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Stylizovaná mapa krajů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6863150" y="2519200"/>
            <a:ext cx="4573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Drill-down ČR → kraj → okres kliknutím. Distribuční území barevně odlišeno, Olomoucký kraj označen jako částečně pokrytý.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6347849" y="3113568"/>
            <a:ext cx="360600" cy="255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6347849" y="3113568"/>
            <a:ext cx="36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 txBox="1"/>
          <p:nvPr/>
        </p:nvSpPr>
        <p:spPr>
          <a:xfrm>
            <a:off x="6863150" y="3095270"/>
            <a:ext cx="457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Vyhledávání a lokalizace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6863150" y="3342158"/>
            <a:ext cx="4573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Obojí nastaví globální kontext lokality. Mimo DÚ zůstane kontext na úrovni ČR s upozorněním.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6347849" y="3936524"/>
            <a:ext cx="360600" cy="255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6347849" y="3936524"/>
            <a:ext cx="36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6863150" y="3918228"/>
            <a:ext cx="457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Denní přehled D-1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6863150" y="4165116"/>
            <a:ext cx="4573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Šest dlaždic z materializované gold vrstvy: výroba, spotřeba, soběstačnost, import, podíl OZE, emisní intenzita.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6347849" y="4759480"/>
            <a:ext cx="360600" cy="255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6347849" y="4759480"/>
            <a:ext cx="36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6863150" y="4741186"/>
            <a:ext cx="457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Stáří dat a vysvětlivky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6863150" y="4988073"/>
            <a:ext cx="4573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Dynamický popisek poslední měřené hodnoty. Při zpoždění dávky se zobrazí poslední dostupný den, ne chyba.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750" y="1929048"/>
            <a:ext cx="5987090" cy="380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Návrh řešení </a:t>
            </a:r>
            <a:r>
              <a:rPr b="1" lang="en-US" sz="3300"/>
              <a:t>-</a:t>
            </a: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detailní data a kontext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UC02 až UC04 na jedné stránce pod stejným kontextem lokality.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ck_s2.png" id="201" name="Google Shape;2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67" y="2067393"/>
            <a:ext cx="5312666" cy="210293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4"/>
          <p:cNvSpPr/>
          <p:nvPr/>
        </p:nvSpPr>
        <p:spPr>
          <a:xfrm>
            <a:off x="621767" y="2067393"/>
            <a:ext cx="5312700" cy="2103000"/>
          </a:xfrm>
          <a:prstGeom prst="rect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ck_s3.png" id="203" name="Google Shape;2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4471" y="2067393"/>
            <a:ext cx="5312665" cy="220992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4"/>
          <p:cNvSpPr/>
          <p:nvPr/>
        </p:nvSpPr>
        <p:spPr>
          <a:xfrm>
            <a:off x="6254471" y="2067393"/>
            <a:ext cx="5312700" cy="2209800"/>
          </a:xfrm>
          <a:prstGeom prst="rect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 txBox="1"/>
          <p:nvPr/>
        </p:nvSpPr>
        <p:spPr>
          <a:xfrm>
            <a:off x="621767" y="4478482"/>
            <a:ext cx="531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Detailní data (UC02)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621767" y="4734514"/>
            <a:ext cx="5312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Graf mixu s přepínáním výkon / výroba / CO₂ a elektroenergetický přehled s viditelným přechodem měřených dat do 72hodinové predikce. Přepínání den / týden / měsíc / rok, dvě osy, cena OTE a meteorologie jako volitelné řady.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6254471" y="4478482"/>
            <a:ext cx="531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Kontext lokality a EKO-žebříček (UC03, UC04)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 txBox="1"/>
          <p:nvPr/>
        </p:nvSpPr>
        <p:spPr>
          <a:xfrm>
            <a:off x="6254471" y="4734514"/>
            <a:ext cx="5312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EKO-index s úrovní, meziročním trendem a odznaky; roční kontextová data a statický popis dodaný EG.D. Žebříček 22 okresů s vyhledáváním a řazením, vybraný okres zvýrazněn a vycentrován.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6b5b3f776f01fd4e_3_2"/>
          <p:cNvSpPr txBox="1"/>
          <p:nvPr/>
        </p:nvSpPr>
        <p:spPr>
          <a:xfrm>
            <a:off x="621792" y="475488"/>
            <a:ext cx="109453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Architektura řešení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h6b5b3f776f01fd4e_3_2"/>
          <p:cNvSpPr txBox="1"/>
          <p:nvPr/>
        </p:nvSpPr>
        <p:spPr>
          <a:xfrm>
            <a:off x="621792" y="1097280"/>
            <a:ext cx="109453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Logický pohled — jeden směr toku dat, výpočetní jádro jako samostatná aplikace, žádná logika v DWH EG.D.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h6b5b3f776f01fd4e_3_2"/>
          <p:cNvSpPr txBox="1"/>
          <p:nvPr/>
        </p:nvSpPr>
        <p:spPr>
          <a:xfrm>
            <a:off x="41148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h6b5b3f776f01fd4e_3_2"/>
          <p:cNvSpPr txBox="1"/>
          <p:nvPr/>
        </p:nvSpPr>
        <p:spPr>
          <a:xfrm>
            <a:off x="10863072" y="64190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h6b5b3f776f01fd4e_3_2"/>
          <p:cNvSpPr txBox="1"/>
          <p:nvPr/>
        </p:nvSpPr>
        <p:spPr>
          <a:xfrm>
            <a:off x="895426" y="1680151"/>
            <a:ext cx="2097862" cy="12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ZDROJE — MIMO ŘEŠENÍ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h6b5b3f776f01fd4e_3_2"/>
          <p:cNvCxnSpPr/>
          <p:nvPr/>
        </p:nvCxnSpPr>
        <p:spPr>
          <a:xfrm>
            <a:off x="895426" y="1804416"/>
            <a:ext cx="2097862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h6b5b3f776f01fd4e_3_2"/>
          <p:cNvSpPr txBox="1"/>
          <p:nvPr/>
        </p:nvSpPr>
        <p:spPr>
          <a:xfrm>
            <a:off x="3449345" y="1680151"/>
            <a:ext cx="5746318" cy="12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GABINA — AZURE TENANT E.ON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h6b5b3f776f01fd4e_3_2"/>
          <p:cNvCxnSpPr/>
          <p:nvPr/>
        </p:nvCxnSpPr>
        <p:spPr>
          <a:xfrm>
            <a:off x="3449345" y="1804416"/>
            <a:ext cx="574631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h6b5b3f776f01fd4e_3_2"/>
          <p:cNvSpPr txBox="1"/>
          <p:nvPr/>
        </p:nvSpPr>
        <p:spPr>
          <a:xfrm>
            <a:off x="9651721" y="1680151"/>
            <a:ext cx="1641805" cy="12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UŽIVATELÉ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h6b5b3f776f01fd4e_3_2"/>
          <p:cNvCxnSpPr/>
          <p:nvPr/>
        </p:nvCxnSpPr>
        <p:spPr>
          <a:xfrm>
            <a:off x="9651721" y="1804416"/>
            <a:ext cx="1641805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h6b5b3f776f01fd4e_3_2"/>
          <p:cNvSpPr/>
          <p:nvPr/>
        </p:nvSpPr>
        <p:spPr>
          <a:xfrm>
            <a:off x="3449345" y="1895543"/>
            <a:ext cx="5746318" cy="430784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h6b5b3f776f01fd4e_3_2"/>
          <p:cNvSpPr/>
          <p:nvPr/>
        </p:nvSpPr>
        <p:spPr>
          <a:xfrm>
            <a:off x="895426" y="1978386"/>
            <a:ext cx="2097862" cy="53848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h6b5b3f776f01fd4e_3_2"/>
          <p:cNvSpPr txBox="1"/>
          <p:nvPr/>
        </p:nvSpPr>
        <p:spPr>
          <a:xfrm>
            <a:off x="986638" y="2036377"/>
            <a:ext cx="1961045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 DWH EG.D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h6b5b3f776f01fd4e_3_2"/>
          <p:cNvSpPr txBox="1"/>
          <p:nvPr/>
        </p:nvSpPr>
        <p:spPr>
          <a:xfrm>
            <a:off x="986638" y="2185494"/>
            <a:ext cx="1961045" cy="323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 h / okres / typ zdroje · CzechGlobe meteo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denně, OAuth 2.0, private endpoint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h6b5b3f776f01fd4e_3_2"/>
          <p:cNvSpPr/>
          <p:nvPr/>
        </p:nvSpPr>
        <p:spPr>
          <a:xfrm>
            <a:off x="895426" y="2641131"/>
            <a:ext cx="2097862" cy="41421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h6b5b3f776f01fd4e_3_2"/>
          <p:cNvSpPr txBox="1"/>
          <p:nvPr/>
        </p:nvSpPr>
        <p:spPr>
          <a:xfrm>
            <a:off x="986638" y="2699121"/>
            <a:ext cx="1961045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ENTSO-E · OTE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h6b5b3f776f01fd4e_3_2"/>
          <p:cNvSpPr txBox="1"/>
          <p:nvPr/>
        </p:nvSpPr>
        <p:spPr>
          <a:xfrm>
            <a:off x="986638" y="2848239"/>
            <a:ext cx="1961045" cy="198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národní výroba a spotřeba, cena · denně, HTTPS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h6b5b3f776f01fd4e_3_2"/>
          <p:cNvSpPr/>
          <p:nvPr/>
        </p:nvSpPr>
        <p:spPr>
          <a:xfrm>
            <a:off x="895426" y="3179611"/>
            <a:ext cx="2097862" cy="53848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h6b5b3f776f01fd4e_3_2"/>
          <p:cNvSpPr txBox="1"/>
          <p:nvPr/>
        </p:nvSpPr>
        <p:spPr>
          <a:xfrm>
            <a:off x="986638" y="3237601"/>
            <a:ext cx="1961045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MPO · ERÚ · ČSÚ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h6b5b3f776f01fd4e_3_2"/>
          <p:cNvSpPr txBox="1"/>
          <p:nvPr/>
        </p:nvSpPr>
        <p:spPr>
          <a:xfrm>
            <a:off x="986638" y="3386719"/>
            <a:ext cx="1961045" cy="323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emisní faktory, sektory, obyvatelstvo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ročně, ruční upload přes admin portál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h6b5b3f776f01fd4e_3_2"/>
          <p:cNvSpPr txBox="1"/>
          <p:nvPr/>
        </p:nvSpPr>
        <p:spPr>
          <a:xfrm>
            <a:off x="3631768" y="2048803"/>
            <a:ext cx="4104513" cy="107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VÝPOČETNÍ JÁDRO — 1 kontejnerový image, 4 joby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h6b5b3f776f01fd4e_3_2"/>
          <p:cNvSpPr/>
          <p:nvPr/>
        </p:nvSpPr>
        <p:spPr>
          <a:xfrm>
            <a:off x="3631768" y="2164783"/>
            <a:ext cx="2781948" cy="1366911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h6b5b3f776f01fd4e_3_2"/>
          <p:cNvSpPr txBox="1"/>
          <p:nvPr/>
        </p:nvSpPr>
        <p:spPr>
          <a:xfrm>
            <a:off x="3768585" y="2247626"/>
            <a:ext cx="2553919" cy="165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 · Container Apps Jobs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h6b5b3f776f01fd4e_3_2"/>
          <p:cNvSpPr txBox="1"/>
          <p:nvPr/>
        </p:nvSpPr>
        <p:spPr>
          <a:xfrm>
            <a:off x="3768585" y="2413313"/>
            <a:ext cx="2553919" cy="12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Python, polars · bez AI komponenty v běhu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h6b5b3f776f01fd4e_3_2"/>
          <p:cNvSpPr/>
          <p:nvPr/>
        </p:nvSpPr>
        <p:spPr>
          <a:xfrm>
            <a:off x="3768585" y="2661842"/>
            <a:ext cx="1254157" cy="331372"/>
          </a:xfrm>
          <a:prstGeom prst="rect">
            <a:avLst/>
          </a:prstGeom>
          <a:solidFill>
            <a:srgbClr val="262626"/>
          </a:solidFill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h6b5b3f776f01fd4e_3_2"/>
          <p:cNvSpPr txBox="1"/>
          <p:nvPr/>
        </p:nvSpPr>
        <p:spPr>
          <a:xfrm>
            <a:off x="3859797" y="2719832"/>
            <a:ext cx="1117340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h6b5b3f776f01fd4e_3_2"/>
          <p:cNvSpPr txBox="1"/>
          <p:nvPr/>
        </p:nvSpPr>
        <p:spPr>
          <a:xfrm>
            <a:off x="3859797" y="2868950"/>
            <a:ext cx="1117340" cy="1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denně · validace, mapování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h6b5b3f776f01fd4e_3_2"/>
          <p:cNvSpPr/>
          <p:nvPr/>
        </p:nvSpPr>
        <p:spPr>
          <a:xfrm>
            <a:off x="5113953" y="2661842"/>
            <a:ext cx="1254157" cy="331372"/>
          </a:xfrm>
          <a:prstGeom prst="rect">
            <a:avLst/>
          </a:prstGeom>
          <a:solidFill>
            <a:srgbClr val="262626"/>
          </a:solidFill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h6b5b3f776f01fd4e_3_2"/>
          <p:cNvSpPr txBox="1"/>
          <p:nvPr/>
        </p:nvSpPr>
        <p:spPr>
          <a:xfrm>
            <a:off x="5205165" y="2719832"/>
            <a:ext cx="1117340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compute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h6b5b3f776f01fd4e_3_2"/>
          <p:cNvSpPr txBox="1"/>
          <p:nvPr/>
        </p:nvSpPr>
        <p:spPr>
          <a:xfrm>
            <a:off x="5205165" y="2868950"/>
            <a:ext cx="1117340" cy="1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emisní intenzita, EKO-index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h6b5b3f776f01fd4e_3_2"/>
          <p:cNvSpPr/>
          <p:nvPr/>
        </p:nvSpPr>
        <p:spPr>
          <a:xfrm>
            <a:off x="3768585" y="3076057"/>
            <a:ext cx="1254157" cy="331372"/>
          </a:xfrm>
          <a:prstGeom prst="rect">
            <a:avLst/>
          </a:prstGeom>
          <a:solidFill>
            <a:srgbClr val="262626"/>
          </a:solidFill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h6b5b3f776f01fd4e_3_2"/>
          <p:cNvSpPr txBox="1"/>
          <p:nvPr/>
        </p:nvSpPr>
        <p:spPr>
          <a:xfrm>
            <a:off x="3859797" y="3134047"/>
            <a:ext cx="1117340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h6b5b3f776f01fd4e_3_2"/>
          <p:cNvSpPr txBox="1"/>
          <p:nvPr/>
        </p:nvSpPr>
        <p:spPr>
          <a:xfrm>
            <a:off x="3859797" y="3283165"/>
            <a:ext cx="1117340" cy="1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profil × meteo, 72 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h6b5b3f776f01fd4e_3_2"/>
          <p:cNvSpPr/>
          <p:nvPr/>
        </p:nvSpPr>
        <p:spPr>
          <a:xfrm>
            <a:off x="5113953" y="3076057"/>
            <a:ext cx="1254157" cy="331372"/>
          </a:xfrm>
          <a:prstGeom prst="rect">
            <a:avLst/>
          </a:prstGeom>
          <a:solidFill>
            <a:srgbClr val="262626"/>
          </a:solidFill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h6b5b3f776f01fd4e_3_2"/>
          <p:cNvSpPr txBox="1"/>
          <p:nvPr/>
        </p:nvSpPr>
        <p:spPr>
          <a:xfrm>
            <a:off x="5205165" y="3134047"/>
            <a:ext cx="1117340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publish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h6b5b3f776f01fd4e_3_2"/>
          <p:cNvSpPr txBox="1"/>
          <p:nvPr/>
        </p:nvSpPr>
        <p:spPr>
          <a:xfrm>
            <a:off x="5205165" y="3283165"/>
            <a:ext cx="1117340" cy="1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materializované pohledy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h6b5b3f776f01fd4e_3_2"/>
          <p:cNvSpPr txBox="1"/>
          <p:nvPr/>
        </p:nvSpPr>
        <p:spPr>
          <a:xfrm>
            <a:off x="6687350" y="2048803"/>
            <a:ext cx="4104513" cy="107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PERIMETR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h6b5b3f776f01fd4e_3_2"/>
          <p:cNvSpPr/>
          <p:nvPr/>
        </p:nvSpPr>
        <p:spPr>
          <a:xfrm>
            <a:off x="6687350" y="2164783"/>
            <a:ext cx="1094537" cy="45563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h6b5b3f776f01fd4e_3_2"/>
          <p:cNvSpPr txBox="1"/>
          <p:nvPr/>
        </p:nvSpPr>
        <p:spPr>
          <a:xfrm>
            <a:off x="6778562" y="2222774"/>
            <a:ext cx="957720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Cloudflare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h6b5b3f776f01fd4e_3_2"/>
          <p:cNvSpPr txBox="1"/>
          <p:nvPr/>
        </p:nvSpPr>
        <p:spPr>
          <a:xfrm>
            <a:off x="6778562" y="2371891"/>
            <a:ext cx="957720" cy="240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WAF, CDN pro SPA, limity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h6b5b3f776f01fd4e_3_2"/>
          <p:cNvSpPr/>
          <p:nvPr/>
        </p:nvSpPr>
        <p:spPr>
          <a:xfrm>
            <a:off x="7964310" y="2164783"/>
            <a:ext cx="1094537" cy="45563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h6b5b3f776f01fd4e_3_2"/>
          <p:cNvSpPr txBox="1"/>
          <p:nvPr/>
        </p:nvSpPr>
        <p:spPr>
          <a:xfrm>
            <a:off x="8055521" y="2222774"/>
            <a:ext cx="957720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Azure APIM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h6b5b3f776f01fd4e_3_2"/>
          <p:cNvSpPr txBox="1"/>
          <p:nvPr/>
        </p:nvSpPr>
        <p:spPr>
          <a:xfrm>
            <a:off x="8055521" y="2371891"/>
            <a:ext cx="957720" cy="240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JWT, LoA, verzování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h6b5b3f776f01fd4e_3_2"/>
          <p:cNvSpPr txBox="1"/>
          <p:nvPr/>
        </p:nvSpPr>
        <p:spPr>
          <a:xfrm>
            <a:off x="6687350" y="2794391"/>
            <a:ext cx="4104513" cy="107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APLIKACE — Container Apps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h6b5b3f776f01fd4e_3_2"/>
          <p:cNvSpPr/>
          <p:nvPr/>
        </p:nvSpPr>
        <p:spPr>
          <a:xfrm>
            <a:off x="6687350" y="2910371"/>
            <a:ext cx="2371496" cy="41421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h6b5b3f776f01fd4e_3_2"/>
          <p:cNvSpPr txBox="1"/>
          <p:nvPr/>
        </p:nvSpPr>
        <p:spPr>
          <a:xfrm>
            <a:off x="6778562" y="2968361"/>
            <a:ext cx="2234679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 API · FastAPI, read-only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h6b5b3f776f01fd4e_3_2"/>
          <p:cNvSpPr txBox="1"/>
          <p:nvPr/>
        </p:nvSpPr>
        <p:spPr>
          <a:xfrm>
            <a:off x="6778562" y="3117479"/>
            <a:ext cx="2234679" cy="198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OpenAPI 3.1, agregáty za okres a výš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h6b5b3f776f01fd4e_3_2"/>
          <p:cNvSpPr/>
          <p:nvPr/>
        </p:nvSpPr>
        <p:spPr>
          <a:xfrm>
            <a:off x="6687350" y="3407430"/>
            <a:ext cx="2371496" cy="41421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h6b5b3f776f01fd4e_3_2"/>
          <p:cNvSpPr txBox="1"/>
          <p:nvPr/>
        </p:nvSpPr>
        <p:spPr>
          <a:xfrm>
            <a:off x="6778562" y="3465420"/>
            <a:ext cx="2234679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 · React SPA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h6b5b3f776f01fd4e_3_2"/>
          <p:cNvSpPr txBox="1"/>
          <p:nvPr/>
        </p:nvSpPr>
        <p:spPr>
          <a:xfrm>
            <a:off x="6778562" y="3614537"/>
            <a:ext cx="2234679" cy="198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mapa, mix, Sankey, přehled, žebříček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h6b5b3f776f01fd4e_3_2"/>
          <p:cNvSpPr/>
          <p:nvPr/>
        </p:nvSpPr>
        <p:spPr>
          <a:xfrm>
            <a:off x="6687350" y="3904488"/>
            <a:ext cx="2371496" cy="41421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h6b5b3f776f01fd4e_3_2"/>
          <p:cNvSpPr txBox="1"/>
          <p:nvPr/>
        </p:nvSpPr>
        <p:spPr>
          <a:xfrm>
            <a:off x="6778562" y="3962478"/>
            <a:ext cx="2234679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 portál · interní síť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h6b5b3f776f01fd4e_3_2"/>
          <p:cNvSpPr txBox="1"/>
          <p:nvPr/>
        </p:nvSpPr>
        <p:spPr>
          <a:xfrm>
            <a:off x="6778562" y="4111596"/>
            <a:ext cx="2234679" cy="198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SaRA OIDC + PKCE, roční upload, re-trigger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h6b5b3f776f01fd4e_3_2"/>
          <p:cNvSpPr txBox="1"/>
          <p:nvPr/>
        </p:nvSpPr>
        <p:spPr>
          <a:xfrm>
            <a:off x="3631768" y="3747086"/>
            <a:ext cx="4104513" cy="107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h6b5b3f776f01fd4e_3_2"/>
          <p:cNvSpPr/>
          <p:nvPr/>
        </p:nvSpPr>
        <p:spPr>
          <a:xfrm>
            <a:off x="3631768" y="3863066"/>
            <a:ext cx="2781948" cy="53848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h6b5b3f776f01fd4e_3_2"/>
          <p:cNvSpPr txBox="1"/>
          <p:nvPr/>
        </p:nvSpPr>
        <p:spPr>
          <a:xfrm>
            <a:off x="3722980" y="3921057"/>
            <a:ext cx="2645131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 Flexible Server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h6b5b3f776f01fd4e_3_2"/>
          <p:cNvSpPr txBox="1"/>
          <p:nvPr/>
        </p:nvSpPr>
        <p:spPr>
          <a:xfrm>
            <a:off x="3722980" y="4070174"/>
            <a:ext cx="2645131" cy="323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kanonický model, verze dávek, materializované pohledy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jen Entra ID, private endpoint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h6b5b3f776f01fd4e_3_2"/>
          <p:cNvSpPr/>
          <p:nvPr/>
        </p:nvSpPr>
        <p:spPr>
          <a:xfrm>
            <a:off x="3631768" y="4505100"/>
            <a:ext cx="2781948" cy="45563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h6b5b3f776f01fd4e_3_2"/>
          <p:cNvSpPr txBox="1"/>
          <p:nvPr/>
        </p:nvSpPr>
        <p:spPr>
          <a:xfrm>
            <a:off x="3722980" y="4563090"/>
            <a:ext cx="2645131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ADLS Gen2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h6b5b3f776f01fd4e_3_2"/>
          <p:cNvSpPr txBox="1"/>
          <p:nvPr/>
        </p:nvSpPr>
        <p:spPr>
          <a:xfrm>
            <a:off x="3722980" y="4712208"/>
            <a:ext cx="2645131" cy="240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raw parquet · reprocessing a audit do 12/2033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h6b5b3f776f01fd4e_3_2"/>
          <p:cNvSpPr txBox="1"/>
          <p:nvPr/>
        </p:nvSpPr>
        <p:spPr>
          <a:xfrm>
            <a:off x="3631768" y="5155418"/>
            <a:ext cx="4104513" cy="107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PROVOZ A BEZPEČNOST — průřezově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h6b5b3f776f01fd4e_3_2"/>
          <p:cNvSpPr/>
          <p:nvPr/>
        </p:nvSpPr>
        <p:spPr>
          <a:xfrm>
            <a:off x="3631768" y="5271399"/>
            <a:ext cx="1276960" cy="37279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h6b5b3f776f01fd4e_3_2"/>
          <p:cNvSpPr txBox="1"/>
          <p:nvPr/>
        </p:nvSpPr>
        <p:spPr>
          <a:xfrm>
            <a:off x="3722980" y="5329389"/>
            <a:ext cx="1140143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Entra ID · PIM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h6b5b3f776f01fd4e_3_2"/>
          <p:cNvSpPr txBox="1"/>
          <p:nvPr/>
        </p:nvSpPr>
        <p:spPr>
          <a:xfrm>
            <a:off x="3722980" y="5478506"/>
            <a:ext cx="1140143" cy="157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managed identity, bez klíčů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h6b5b3f776f01fd4e_3_2"/>
          <p:cNvSpPr/>
          <p:nvPr/>
        </p:nvSpPr>
        <p:spPr>
          <a:xfrm>
            <a:off x="4999939" y="5271399"/>
            <a:ext cx="1276960" cy="37279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h6b5b3f776f01fd4e_3_2"/>
          <p:cNvSpPr txBox="1"/>
          <p:nvPr/>
        </p:nvSpPr>
        <p:spPr>
          <a:xfrm>
            <a:off x="5091151" y="5329389"/>
            <a:ext cx="1140143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Vault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h6b5b3f776f01fd4e_3_2"/>
          <p:cNvSpPr txBox="1"/>
          <p:nvPr/>
        </p:nvSpPr>
        <p:spPr>
          <a:xfrm>
            <a:off x="5091151" y="5478506"/>
            <a:ext cx="1140143" cy="157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secrets, CMK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h6b5b3f776f01fd4e_3_2"/>
          <p:cNvSpPr/>
          <p:nvPr/>
        </p:nvSpPr>
        <p:spPr>
          <a:xfrm>
            <a:off x="6368110" y="5271399"/>
            <a:ext cx="1276960" cy="37279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h6b5b3f776f01fd4e_3_2"/>
          <p:cNvSpPr txBox="1"/>
          <p:nvPr/>
        </p:nvSpPr>
        <p:spPr>
          <a:xfrm>
            <a:off x="6459322" y="5329389"/>
            <a:ext cx="1140143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h6b5b3f776f01fd4e_3_2"/>
          <p:cNvSpPr txBox="1"/>
          <p:nvPr/>
        </p:nvSpPr>
        <p:spPr>
          <a:xfrm>
            <a:off x="6459322" y="5478506"/>
            <a:ext cx="1140143" cy="157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Log Analytics, New Relic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h6b5b3f776f01fd4e_3_2"/>
          <p:cNvSpPr/>
          <p:nvPr/>
        </p:nvSpPr>
        <p:spPr>
          <a:xfrm>
            <a:off x="7736281" y="5271399"/>
            <a:ext cx="1322565" cy="37279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h6b5b3f776f01fd4e_3_2"/>
          <p:cNvSpPr txBox="1"/>
          <p:nvPr/>
        </p:nvSpPr>
        <p:spPr>
          <a:xfrm>
            <a:off x="7827493" y="5329389"/>
            <a:ext cx="1185748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GitLab E.ON · Wiz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h6b5b3f776f01fd4e_3_2"/>
          <p:cNvSpPr txBox="1"/>
          <p:nvPr/>
        </p:nvSpPr>
        <p:spPr>
          <a:xfrm>
            <a:off x="7827493" y="5478506"/>
            <a:ext cx="1185748" cy="157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CI/CD, SAST/DAST, IaC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h6b5b3f776f01fd4e_3_2"/>
          <p:cNvSpPr txBox="1"/>
          <p:nvPr/>
        </p:nvSpPr>
        <p:spPr>
          <a:xfrm>
            <a:off x="3631768" y="5789168"/>
            <a:ext cx="5472684" cy="289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Prostředí: QAS (vývoj a test, nasazuje Vorian) a RUN (produkce, nasazuje výhradně E.ON IT). Infrastruktura jako Terraform.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Žádné VM, žádné veřejné endpointy za Cloudflare, žádný zápis zpět do DWH EG.D.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h6b5b3f776f01fd4e_3_2"/>
          <p:cNvSpPr/>
          <p:nvPr/>
        </p:nvSpPr>
        <p:spPr>
          <a:xfrm>
            <a:off x="9651721" y="2164783"/>
            <a:ext cx="1641805" cy="45563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h6b5b3f776f01fd4e_3_2"/>
          <p:cNvSpPr txBox="1"/>
          <p:nvPr/>
        </p:nvSpPr>
        <p:spPr>
          <a:xfrm>
            <a:off x="9742932" y="2222774"/>
            <a:ext cx="1504988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Veřejnost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h6b5b3f776f01fd4e_3_2"/>
          <p:cNvSpPr txBox="1"/>
          <p:nvPr/>
        </p:nvSpPr>
        <p:spPr>
          <a:xfrm>
            <a:off x="9742932" y="2371891"/>
            <a:ext cx="1504988" cy="240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microsite Ekomapa, HTTPS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h6b5b3f776f01fd4e_3_2"/>
          <p:cNvSpPr/>
          <p:nvPr/>
        </p:nvSpPr>
        <p:spPr>
          <a:xfrm>
            <a:off x="9651721" y="3904488"/>
            <a:ext cx="1641805" cy="41421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h6b5b3f776f01fd4e_3_2"/>
          <p:cNvSpPr txBox="1"/>
          <p:nvPr/>
        </p:nvSpPr>
        <p:spPr>
          <a:xfrm>
            <a:off x="9742932" y="3962478"/>
            <a:ext cx="1504988" cy="14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 EG.D / E.ON 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h6b5b3f776f01fd4e_3_2"/>
          <p:cNvSpPr txBox="1"/>
          <p:nvPr/>
        </p:nvSpPr>
        <p:spPr>
          <a:xfrm>
            <a:off x="9742932" y="4111596"/>
            <a:ext cx="1504988" cy="198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interní síť, KID účty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h6b5b3f776f01fd4e_3_2"/>
          <p:cNvCxnSpPr/>
          <p:nvPr/>
        </p:nvCxnSpPr>
        <p:spPr>
          <a:xfrm>
            <a:off x="2993288" y="2247626"/>
            <a:ext cx="364846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h6b5b3f776f01fd4e_3_2"/>
          <p:cNvCxnSpPr/>
          <p:nvPr/>
        </p:nvCxnSpPr>
        <p:spPr>
          <a:xfrm>
            <a:off x="3358134" y="2247626"/>
            <a:ext cx="0" cy="57990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h6b5b3f776f01fd4e_3_2"/>
          <p:cNvCxnSpPr/>
          <p:nvPr/>
        </p:nvCxnSpPr>
        <p:spPr>
          <a:xfrm>
            <a:off x="3358134" y="2827528"/>
            <a:ext cx="410451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9" name="Google Shape;299;h6b5b3f776f01fd4e_3_2"/>
          <p:cNvCxnSpPr/>
          <p:nvPr/>
        </p:nvCxnSpPr>
        <p:spPr>
          <a:xfrm>
            <a:off x="2993288" y="2848239"/>
            <a:ext cx="364846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h6b5b3f776f01fd4e_3_2"/>
          <p:cNvCxnSpPr/>
          <p:nvPr/>
        </p:nvCxnSpPr>
        <p:spPr>
          <a:xfrm>
            <a:off x="2993288" y="3448851"/>
            <a:ext cx="364846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h6b5b3f776f01fd4e_3_2"/>
          <p:cNvCxnSpPr/>
          <p:nvPr/>
        </p:nvCxnSpPr>
        <p:spPr>
          <a:xfrm rot="10800000">
            <a:off x="3358134" y="2848239"/>
            <a:ext cx="0" cy="60061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h6b5b3f776f01fd4e_3_2"/>
          <p:cNvCxnSpPr/>
          <p:nvPr/>
        </p:nvCxnSpPr>
        <p:spPr>
          <a:xfrm>
            <a:off x="4347778" y="3531694"/>
            <a:ext cx="0" cy="33137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" name="Google Shape;303;h6b5b3f776f01fd4e_3_2"/>
          <p:cNvCxnSpPr/>
          <p:nvPr/>
        </p:nvCxnSpPr>
        <p:spPr>
          <a:xfrm>
            <a:off x="4087825" y="3531694"/>
            <a:ext cx="0" cy="18639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h6b5b3f776f01fd4e_3_2"/>
          <p:cNvCxnSpPr/>
          <p:nvPr/>
        </p:nvCxnSpPr>
        <p:spPr>
          <a:xfrm rot="10800000">
            <a:off x="3540557" y="3718091"/>
            <a:ext cx="547268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h6b5b3f776f01fd4e_3_2"/>
          <p:cNvCxnSpPr/>
          <p:nvPr/>
        </p:nvCxnSpPr>
        <p:spPr>
          <a:xfrm>
            <a:off x="3540557" y="3718091"/>
            <a:ext cx="0" cy="101482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h6b5b3f776f01fd4e_3_2"/>
          <p:cNvCxnSpPr/>
          <p:nvPr/>
        </p:nvCxnSpPr>
        <p:spPr>
          <a:xfrm>
            <a:off x="3540557" y="4732919"/>
            <a:ext cx="91211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7" name="Google Shape;307;h6b5b3f776f01fd4e_3_2"/>
          <p:cNvCxnSpPr/>
          <p:nvPr/>
        </p:nvCxnSpPr>
        <p:spPr>
          <a:xfrm rot="10800000">
            <a:off x="5647540" y="3531694"/>
            <a:ext cx="0" cy="33137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" name="Google Shape;308;h6b5b3f776f01fd4e_3_2"/>
          <p:cNvCxnSpPr/>
          <p:nvPr/>
        </p:nvCxnSpPr>
        <p:spPr>
          <a:xfrm>
            <a:off x="5866448" y="3531694"/>
            <a:ext cx="0" cy="33137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9" name="Google Shape;309;h6b5b3f776f01fd4e_3_2"/>
          <p:cNvSpPr txBox="1"/>
          <p:nvPr/>
        </p:nvSpPr>
        <p:spPr>
          <a:xfrm>
            <a:off x="4999939" y="3647674"/>
            <a:ext cx="912114" cy="99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čte / zapisuje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h6b5b3f776f01fd4e_3_2"/>
          <p:cNvCxnSpPr/>
          <p:nvPr/>
        </p:nvCxnSpPr>
        <p:spPr>
          <a:xfrm>
            <a:off x="6413716" y="4049463"/>
            <a:ext cx="136817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h6b5b3f776f01fd4e_3_2"/>
          <p:cNvCxnSpPr/>
          <p:nvPr/>
        </p:nvCxnSpPr>
        <p:spPr>
          <a:xfrm rot="10800000">
            <a:off x="6550533" y="3117479"/>
            <a:ext cx="0" cy="93198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h6b5b3f776f01fd4e_3_2"/>
          <p:cNvCxnSpPr/>
          <p:nvPr/>
        </p:nvCxnSpPr>
        <p:spPr>
          <a:xfrm>
            <a:off x="6550533" y="3117479"/>
            <a:ext cx="136817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" name="Google Shape;313;h6b5b3f776f01fd4e_3_2"/>
          <p:cNvCxnSpPr/>
          <p:nvPr/>
        </p:nvCxnSpPr>
        <p:spPr>
          <a:xfrm rot="10800000">
            <a:off x="8511578" y="2620420"/>
            <a:ext cx="0" cy="289951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" name="Google Shape;314;h6b5b3f776f01fd4e_3_2"/>
          <p:cNvCxnSpPr/>
          <p:nvPr/>
        </p:nvCxnSpPr>
        <p:spPr>
          <a:xfrm>
            <a:off x="7781887" y="2392602"/>
            <a:ext cx="182423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h6b5b3f776f01fd4e_3_2"/>
          <p:cNvCxnSpPr/>
          <p:nvPr/>
        </p:nvCxnSpPr>
        <p:spPr>
          <a:xfrm rot="10800000">
            <a:off x="9058847" y="2392602"/>
            <a:ext cx="592874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" name="Google Shape;316;h6b5b3f776f01fd4e_3_2"/>
          <p:cNvCxnSpPr/>
          <p:nvPr/>
        </p:nvCxnSpPr>
        <p:spPr>
          <a:xfrm rot="10800000">
            <a:off x="9058847" y="4111596"/>
            <a:ext cx="592874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7" name="Google Shape;317;h6b5b3f776f01fd4e_3_2"/>
          <p:cNvCxnSpPr/>
          <p:nvPr/>
        </p:nvCxnSpPr>
        <p:spPr>
          <a:xfrm rot="10800000">
            <a:off x="6504927" y="4215150"/>
            <a:ext cx="182423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h6b5b3f776f01fd4e_3_2"/>
          <p:cNvCxnSpPr/>
          <p:nvPr/>
        </p:nvCxnSpPr>
        <p:spPr>
          <a:xfrm>
            <a:off x="6504927" y="4215150"/>
            <a:ext cx="0" cy="517769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h6b5b3f776f01fd4e_3_2"/>
          <p:cNvCxnSpPr/>
          <p:nvPr/>
        </p:nvCxnSpPr>
        <p:spPr>
          <a:xfrm rot="10800000">
            <a:off x="6413716" y="4732919"/>
            <a:ext cx="91211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0" name="Google Shape;320;h6b5b3f776f01fd4e_3_2"/>
          <p:cNvSpPr txBox="1"/>
          <p:nvPr/>
        </p:nvSpPr>
        <p:spPr>
          <a:xfrm>
            <a:off x="6596139" y="4360125"/>
            <a:ext cx="1915439" cy="99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roční upload → ADLS → ingest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Volba datové platformy</a:t>
            </a:r>
            <a:endParaRPr sz="33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Zadavatel připouští dvě varianty. Nabízíme jednu.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21792" y="1691640"/>
            <a:ext cx="5198364" cy="3108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 txBox="1"/>
          <p:nvPr/>
        </p:nvSpPr>
        <p:spPr>
          <a:xfrm>
            <a:off x="987552" y="1938528"/>
            <a:ext cx="44668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[Varianta, kterou nabízíme]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987552" y="2304288"/>
            <a:ext cx="44668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DOPORUČENO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 txBox="1"/>
          <p:nvPr/>
        </p:nvSpPr>
        <p:spPr>
          <a:xfrm>
            <a:off x="987552" y="2651760"/>
            <a:ext cx="446684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[Důvod 1 — vazba na objem 20 tis. hodnot denně]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[Důvod 2 — provozní náklady v prostředí E.ON]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[Důvod 3 — zkušenost týmu s touto technologií]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[Důvod 4 — udržitelnost do prosince 2033]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368796" y="1691640"/>
            <a:ext cx="5198364" cy="3108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 txBox="1"/>
          <p:nvPr/>
        </p:nvSpPr>
        <p:spPr>
          <a:xfrm>
            <a:off x="6734556" y="1938528"/>
            <a:ext cx="44668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[Varianta, kterou nenabízíme]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 txBox="1"/>
          <p:nvPr/>
        </p:nvSpPr>
        <p:spPr>
          <a:xfrm>
            <a:off x="6734556" y="2395728"/>
            <a:ext cx="446684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[Kdy by dávala smysl]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8C8C8C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[Proč ji v tomto rozsahu nedoporučujeme]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8C8C8C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[Dopad na provozní náklady]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 integrace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Sedm zdrojů, jedna noční dávka, jeden kanonický model.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621792" y="164592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Zdroj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3090672" y="1645920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Typ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5193792" y="164592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Co dodává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9765792" y="164592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Frekvence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10"/>
          <p:cNvCxnSpPr/>
          <p:nvPr/>
        </p:nvCxnSpPr>
        <p:spPr>
          <a:xfrm>
            <a:off x="621792" y="1911096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10"/>
          <p:cNvSpPr txBox="1"/>
          <p:nvPr/>
        </p:nvSpPr>
        <p:spPr>
          <a:xfrm>
            <a:off x="621792" y="199339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 DWH EG.D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 txBox="1"/>
          <p:nvPr/>
        </p:nvSpPr>
        <p:spPr>
          <a:xfrm>
            <a:off x="3090672" y="199339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interní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5193792" y="1993392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1 h / okres, dle typu zdroje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9765792" y="1993392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denně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10"/>
          <p:cNvCxnSpPr/>
          <p:nvPr/>
        </p:nvCxnSpPr>
        <p:spPr>
          <a:xfrm>
            <a:off x="621792" y="2313432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10"/>
          <p:cNvSpPr txBox="1"/>
          <p:nvPr/>
        </p:nvSpPr>
        <p:spPr>
          <a:xfrm>
            <a:off x="621792" y="2395728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CzechGlobe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3090672" y="2395728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interní, v DWH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5193792" y="2395728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meteo včetně historických předpovědí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9765792" y="239572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denně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0"/>
          <p:cNvCxnSpPr/>
          <p:nvPr/>
        </p:nvCxnSpPr>
        <p:spPr>
          <a:xfrm>
            <a:off x="621792" y="2715768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0"/>
          <p:cNvSpPr txBox="1"/>
          <p:nvPr/>
        </p:nvSpPr>
        <p:spPr>
          <a:xfrm>
            <a:off x="621792" y="2798064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ENTSO-E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 txBox="1"/>
          <p:nvPr/>
        </p:nvSpPr>
        <p:spPr>
          <a:xfrm>
            <a:off x="3090672" y="2798064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externí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5193792" y="2798064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národní spotřeba a výroba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9765792" y="2798064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denně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0"/>
          <p:cNvCxnSpPr/>
          <p:nvPr/>
        </p:nvCxnSpPr>
        <p:spPr>
          <a:xfrm>
            <a:off x="621792" y="3118104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10"/>
          <p:cNvSpPr txBox="1"/>
          <p:nvPr/>
        </p:nvSpPr>
        <p:spPr>
          <a:xfrm>
            <a:off x="621792" y="3200400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 txBox="1"/>
          <p:nvPr/>
        </p:nvSpPr>
        <p:spPr>
          <a:xfrm>
            <a:off x="3090672" y="320040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externí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 txBox="1"/>
          <p:nvPr/>
        </p:nvSpPr>
        <p:spPr>
          <a:xfrm>
            <a:off x="5193792" y="3200400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tržní cena elektřiny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 txBox="1"/>
          <p:nvPr/>
        </p:nvSpPr>
        <p:spPr>
          <a:xfrm>
            <a:off x="9765792" y="3200400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denně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10"/>
          <p:cNvCxnSpPr/>
          <p:nvPr/>
        </p:nvCxnSpPr>
        <p:spPr>
          <a:xfrm>
            <a:off x="621792" y="3520440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10"/>
          <p:cNvSpPr txBox="1"/>
          <p:nvPr/>
        </p:nvSpPr>
        <p:spPr>
          <a:xfrm>
            <a:off x="621792" y="3602736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MPO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3090672" y="3602736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externí, ruční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 txBox="1"/>
          <p:nvPr/>
        </p:nvSpPr>
        <p:spPr>
          <a:xfrm>
            <a:off x="5193792" y="3602736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emisní faktory, šest kategorií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 txBox="1"/>
          <p:nvPr/>
        </p:nvSpPr>
        <p:spPr>
          <a:xfrm>
            <a:off x="9765792" y="3602736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ročně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0"/>
          <p:cNvCxnSpPr/>
          <p:nvPr/>
        </p:nvCxnSpPr>
        <p:spPr>
          <a:xfrm>
            <a:off x="621792" y="3922776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10"/>
          <p:cNvSpPr txBox="1"/>
          <p:nvPr/>
        </p:nvSpPr>
        <p:spPr>
          <a:xfrm>
            <a:off x="621792" y="400507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ČSÚ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 txBox="1"/>
          <p:nvPr/>
        </p:nvSpPr>
        <p:spPr>
          <a:xfrm>
            <a:off x="3090672" y="40050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externí, ruční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 txBox="1"/>
          <p:nvPr/>
        </p:nvSpPr>
        <p:spPr>
          <a:xfrm>
            <a:off x="5193792" y="4005072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obyvatelstvo a rozloha okresů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 txBox="1"/>
          <p:nvPr/>
        </p:nvSpPr>
        <p:spPr>
          <a:xfrm>
            <a:off x="9765792" y="4005072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ročně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10"/>
          <p:cNvCxnSpPr/>
          <p:nvPr/>
        </p:nvCxnSpPr>
        <p:spPr>
          <a:xfrm>
            <a:off x="621792" y="4325112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10"/>
          <p:cNvSpPr txBox="1"/>
          <p:nvPr/>
        </p:nvSpPr>
        <p:spPr>
          <a:xfrm>
            <a:off x="621792" y="4407408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ERÚ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 txBox="1"/>
          <p:nvPr/>
        </p:nvSpPr>
        <p:spPr>
          <a:xfrm>
            <a:off x="3090672" y="4407408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externí, ruční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 txBox="1"/>
          <p:nvPr/>
        </p:nvSpPr>
        <p:spPr>
          <a:xfrm>
            <a:off x="5193792" y="4407408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sektorové rozdělení spotřeby, osm sektorů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 txBox="1"/>
          <p:nvPr/>
        </p:nvSpPr>
        <p:spPr>
          <a:xfrm>
            <a:off x="9765792" y="440740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ročně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Výpočetní jádro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Emisní intenzita a EKO-index — jediná místa, kde se chyba promítne do veřejného žebříčku okresů.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621792" y="1691640"/>
            <a:ext cx="5198364" cy="3108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 txBox="1"/>
          <p:nvPr/>
        </p:nvSpPr>
        <p:spPr>
          <a:xfrm>
            <a:off x="987552" y="1965960"/>
            <a:ext cx="44668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Emisní intenzita CO₂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 txBox="1"/>
          <p:nvPr/>
        </p:nvSpPr>
        <p:spPr>
          <a:xfrm>
            <a:off x="987552" y="2377440"/>
            <a:ext cx="4466844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Sedmikrokový výpočet nad spotřebou, lokální výrobou a emisními faktory MPO. Emisní faktor dovozu se počítá očištěním celostátní hodnoty o lokální výrobu. Materializujeme v datové vrstvě, nepočítáme za běhu.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6368796" y="1691640"/>
            <a:ext cx="5198364" cy="3108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 txBox="1"/>
          <p:nvPr/>
        </p:nvSpPr>
        <p:spPr>
          <a:xfrm>
            <a:off x="6734556" y="1965960"/>
            <a:ext cx="44668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EKO-index 0–10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 txBox="1"/>
          <p:nvPr/>
        </p:nvSpPr>
        <p:spPr>
          <a:xfrm>
            <a:off x="6734556" y="2377440"/>
            <a:ext cx="4466844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Roční ukazatel odvozený z odchylky lokální emisní intenzity od celostátního průměru. Počítá se jednou ročně po zveřejnění emisních faktorů MPO, hodnota je finální a nepřepočítává se.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Predikční model (FR08) - </a:t>
            </a:r>
            <a:r>
              <a:rPr b="1" lang="en-US" sz="3300"/>
              <a:t>CHOCHO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Samostatná položka cenové nabídky. Návrh nechává zadavatel plně na dodavateli.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621792" y="1691640"/>
            <a:ext cx="603504" cy="60350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 txBox="1"/>
          <p:nvPr/>
        </p:nvSpPr>
        <p:spPr>
          <a:xfrm>
            <a:off x="621792" y="169164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 txBox="1"/>
          <p:nvPr/>
        </p:nvSpPr>
        <p:spPr>
          <a:xfrm>
            <a:off x="621792" y="2551176"/>
            <a:ext cx="33131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 predikujeme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621792" y="2880360"/>
            <a:ext cx="331317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Výrobu, spotřebu, energetický mix a emisní intenzitu. Horizont 72 hodin, granularita 1 hodina, pouze okresy a kraje v distribučním území.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437888" y="1691640"/>
            <a:ext cx="603504" cy="60350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 txBox="1"/>
          <p:nvPr/>
        </p:nvSpPr>
        <p:spPr>
          <a:xfrm>
            <a:off x="4437888" y="169164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 txBox="1"/>
          <p:nvPr/>
        </p:nvSpPr>
        <p:spPr>
          <a:xfrm>
            <a:off x="4437888" y="2551176"/>
            <a:ext cx="33131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Vstupy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 txBox="1"/>
          <p:nvPr/>
        </p:nvSpPr>
        <p:spPr>
          <a:xfrm>
            <a:off x="4437888" y="2880360"/>
            <a:ext cx="331317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Historie od roku 2020, meteorologické předpovědi CzechGlobe včetně archivu vydaných předpovědí, instalovaný výkon dle typu zdroje.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8253984" y="1691640"/>
            <a:ext cx="603504" cy="60350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8253984" y="169164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 txBox="1"/>
          <p:nvPr/>
        </p:nvSpPr>
        <p:spPr>
          <a:xfrm>
            <a:off x="8253984" y="2551176"/>
            <a:ext cx="33131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Přístup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 txBox="1"/>
          <p:nvPr/>
        </p:nvSpPr>
        <p:spPr>
          <a:xfrm>
            <a:off x="8253984" y="2880360"/>
            <a:ext cx="331317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8C8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[Doplňte třídu modelu, způsob trénování a validace, frekvenci retrainingu a jak model zdůvodníme uživateli.]</a:t>
            </a:r>
            <a:endParaRPr sz="115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h6b5b3f776f01fd4e_13_0"/>
          <p:cNvSpPr txBox="1"/>
          <p:nvPr/>
        </p:nvSpPr>
        <p:spPr>
          <a:xfrm>
            <a:off x="621792" y="475488"/>
            <a:ext cx="10945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Bezpečnost a soulad s CSD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h6b5b3f776f01fd4e_13_0"/>
          <p:cNvSpPr txBox="1"/>
          <p:nvPr/>
        </p:nvSpPr>
        <p:spPr>
          <a:xfrm>
            <a:off x="621792" y="1133856"/>
            <a:ext cx="10945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Bezpečnost je vyřazovací kritérium. Proto ji dokládáme požadavek po požadavku.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h6b5b3f776f01fd4e_13_0"/>
          <p:cNvSpPr txBox="1"/>
          <p:nvPr/>
        </p:nvSpPr>
        <p:spPr>
          <a:xfrm>
            <a:off x="411480" y="6419088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h6b5b3f776f01fd4e_13_0"/>
          <p:cNvSpPr txBox="1"/>
          <p:nvPr/>
        </p:nvSpPr>
        <p:spPr>
          <a:xfrm>
            <a:off x="10863072" y="64190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h6b5b3f776f01fd4e_13_0"/>
          <p:cNvSpPr/>
          <p:nvPr/>
        </p:nvSpPr>
        <p:spPr>
          <a:xfrm>
            <a:off x="622300" y="1625600"/>
            <a:ext cx="10947300" cy="888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h6b5b3f776f01fd4e_13_0"/>
          <p:cNvSpPr txBox="1"/>
          <p:nvPr/>
        </p:nvSpPr>
        <p:spPr>
          <a:xfrm>
            <a:off x="876300" y="1625600"/>
            <a:ext cx="1043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Deklarace souladu  </a:t>
            </a: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Vorian deklaruje plný soulad se všemi požadavky označenými MUSÍ v Příloze č. 1 — kapitola 7 (CSD), 9 (administrace a oprávnění), 11 (bezpečnostní a síťové limity) a 12 (CI/CD). Na následujících stranách ke každému požadavku uvádíme, jak ho splníme, kdo za něj odpovídá, a jediné odchylky, které navrhujeme.</a:t>
            </a:r>
            <a:endParaRPr/>
          </a:p>
        </p:txBody>
      </p:sp>
      <p:sp>
        <p:nvSpPr>
          <p:cNvPr id="432" name="Google Shape;432;h6b5b3f776f01fd4e_13_0"/>
          <p:cNvSpPr/>
          <p:nvPr/>
        </p:nvSpPr>
        <p:spPr>
          <a:xfrm>
            <a:off x="622300" y="2768600"/>
            <a:ext cx="2546400" cy="1397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h6b5b3f776f01fd4e_13_0"/>
          <p:cNvSpPr txBox="1"/>
          <p:nvPr/>
        </p:nvSpPr>
        <p:spPr>
          <a:xfrm>
            <a:off x="825500" y="2946400"/>
            <a:ext cx="2139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CSD-20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Bezpečný vývoj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Kód jen v GitLabu E.ON, secrets jen v Key Vault, princip čtyř očí</a:t>
            </a:r>
            <a:endParaRPr/>
          </a:p>
        </p:txBody>
      </p:sp>
      <p:sp>
        <p:nvSpPr>
          <p:cNvPr id="434" name="Google Shape;434;h6b5b3f776f01fd4e_13_0"/>
          <p:cNvSpPr/>
          <p:nvPr/>
        </p:nvSpPr>
        <p:spPr>
          <a:xfrm>
            <a:off x="3422650" y="2768600"/>
            <a:ext cx="2546400" cy="1397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h6b5b3f776f01fd4e_13_0"/>
          <p:cNvSpPr txBox="1"/>
          <p:nvPr/>
        </p:nvSpPr>
        <p:spPr>
          <a:xfrm>
            <a:off x="3625850" y="2946400"/>
            <a:ext cx="21399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CSD-22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Security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OpenAPI 3.1, úrovně LoA vynucené v APIM, mTLS s CA akceptovanou E.ON</a:t>
            </a:r>
            <a:endParaRPr/>
          </a:p>
        </p:txBody>
      </p:sp>
      <p:sp>
        <p:nvSpPr>
          <p:cNvPr id="436" name="Google Shape;436;h6b5b3f776f01fd4e_13_0"/>
          <p:cNvSpPr/>
          <p:nvPr/>
        </p:nvSpPr>
        <p:spPr>
          <a:xfrm>
            <a:off x="6223000" y="2768600"/>
            <a:ext cx="2546400" cy="1397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h6b5b3f776f01fd4e_13_0"/>
          <p:cNvSpPr txBox="1"/>
          <p:nvPr/>
        </p:nvSpPr>
        <p:spPr>
          <a:xfrm>
            <a:off x="6426200" y="2946400"/>
            <a:ext cx="2139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CSD-33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Životní cyklus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QAS a RUN oddělené, každá změna trasovatelná přes Git a audit log</a:t>
            </a:r>
            <a:endParaRPr/>
          </a:p>
        </p:txBody>
      </p:sp>
      <p:sp>
        <p:nvSpPr>
          <p:cNvPr id="438" name="Google Shape;438;h6b5b3f776f01fd4e_13_0"/>
          <p:cNvSpPr/>
          <p:nvPr/>
        </p:nvSpPr>
        <p:spPr>
          <a:xfrm>
            <a:off x="9023350" y="2768600"/>
            <a:ext cx="2546400" cy="1397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h6b5b3f776f01fd4e_13_0"/>
          <p:cNvSpPr txBox="1"/>
          <p:nvPr/>
        </p:nvSpPr>
        <p:spPr>
          <a:xfrm>
            <a:off x="9226550" y="2946400"/>
            <a:ext cx="2139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CSD-10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Zranitelnosti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Critical do 14 dnů, High do 30 dnů, go-live jen v bezchybném stavu</a:t>
            </a:r>
            <a:endParaRPr/>
          </a:p>
        </p:txBody>
      </p:sp>
      <p:sp>
        <p:nvSpPr>
          <p:cNvPr id="440" name="Google Shape;440;h6b5b3f776f01fd4e_13_0"/>
          <p:cNvSpPr/>
          <p:nvPr/>
        </p:nvSpPr>
        <p:spPr>
          <a:xfrm>
            <a:off x="622300" y="4394200"/>
            <a:ext cx="2546400" cy="1397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h6b5b3f776f01fd4e_13_0"/>
          <p:cNvSpPr txBox="1"/>
          <p:nvPr/>
        </p:nvSpPr>
        <p:spPr>
          <a:xfrm>
            <a:off x="825500" y="4572000"/>
            <a:ext cx="2139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CSD-08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Logování a monitoring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Bezpečnostní události ze všech komponent, alerting dle CSD</a:t>
            </a:r>
            <a:endParaRPr/>
          </a:p>
        </p:txBody>
      </p:sp>
      <p:sp>
        <p:nvSpPr>
          <p:cNvPr id="442" name="Google Shape;442;h6b5b3f776f01fd4e_13_0"/>
          <p:cNvSpPr/>
          <p:nvPr/>
        </p:nvSpPr>
        <p:spPr>
          <a:xfrm>
            <a:off x="3422650" y="4394200"/>
            <a:ext cx="2546400" cy="1397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h6b5b3f776f01fd4e_13_0"/>
          <p:cNvSpPr txBox="1"/>
          <p:nvPr/>
        </p:nvSpPr>
        <p:spPr>
          <a:xfrm>
            <a:off x="3625850" y="4572000"/>
            <a:ext cx="2139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CSD-28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Řízení přístupu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Dodavatel jen v DEV/QAS, PIM just-in-time, managed identity</a:t>
            </a:r>
            <a:endParaRPr/>
          </a:p>
        </p:txBody>
      </p:sp>
      <p:sp>
        <p:nvSpPr>
          <p:cNvPr id="444" name="Google Shape;444;h6b5b3f776f01fd4e_13_0"/>
          <p:cNvSpPr/>
          <p:nvPr/>
        </p:nvSpPr>
        <p:spPr>
          <a:xfrm>
            <a:off x="6223000" y="4394200"/>
            <a:ext cx="2546400" cy="1397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h6b5b3f776f01fd4e_13_0"/>
          <p:cNvSpPr txBox="1"/>
          <p:nvPr/>
        </p:nvSpPr>
        <p:spPr>
          <a:xfrm>
            <a:off x="6426200" y="4572000"/>
            <a:ext cx="2139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CSD-23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Identita / Zero Trust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Entra ID, žádné lokální účty, klíče ani connection stringy</a:t>
            </a:r>
            <a:endParaRPr/>
          </a:p>
        </p:txBody>
      </p:sp>
      <p:sp>
        <p:nvSpPr>
          <p:cNvPr id="446" name="Google Shape;446;h6b5b3f776f01fd4e_13_0"/>
          <p:cNvSpPr/>
          <p:nvPr/>
        </p:nvSpPr>
        <p:spPr>
          <a:xfrm>
            <a:off x="9023350" y="4394200"/>
            <a:ext cx="2546400" cy="1397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h6b5b3f776f01fd4e_13_0"/>
          <p:cNvSpPr txBox="1"/>
          <p:nvPr/>
        </p:nvSpPr>
        <p:spPr>
          <a:xfrm>
            <a:off x="9226550" y="4572000"/>
            <a:ext cx="2139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CSD-17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CIS Benchmarks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Baseline Azure, Docker a GitLab jako policy v IaC a CI/CD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h6b5b3f776f01fd4e_13_26"/>
          <p:cNvSpPr txBox="1"/>
          <p:nvPr/>
        </p:nvSpPr>
        <p:spPr>
          <a:xfrm>
            <a:off x="621792" y="475488"/>
            <a:ext cx="10945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Soulad s CSD (1/3)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h6b5b3f776f01fd4e_13_26"/>
          <p:cNvSpPr txBox="1"/>
          <p:nvPr/>
        </p:nvSpPr>
        <p:spPr>
          <a:xfrm>
            <a:off x="621792" y="1133856"/>
            <a:ext cx="10945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Vývoj, API, životní cyklus a zranitelnosti — Příloha č. 1, kapitola 7.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h6b5b3f776f01fd4e_13_26"/>
          <p:cNvSpPr txBox="1"/>
          <p:nvPr/>
        </p:nvSpPr>
        <p:spPr>
          <a:xfrm>
            <a:off x="411480" y="6419088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h6b5b3f776f01fd4e_13_26"/>
          <p:cNvSpPr txBox="1"/>
          <p:nvPr/>
        </p:nvSpPr>
        <p:spPr>
          <a:xfrm>
            <a:off x="10863072" y="64190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h6b5b3f776f01fd4e_13_26"/>
          <p:cNvSpPr txBox="1"/>
          <p:nvPr/>
        </p:nvSpPr>
        <p:spPr>
          <a:xfrm>
            <a:off x="622300" y="1625600"/>
            <a:ext cx="14985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Direktiva</a:t>
            </a:r>
            <a:endParaRPr/>
          </a:p>
        </p:txBody>
      </p:sp>
      <p:sp>
        <p:nvSpPr>
          <p:cNvPr id="457" name="Google Shape;457;h6b5b3f776f01fd4e_13_26"/>
          <p:cNvSpPr txBox="1"/>
          <p:nvPr/>
        </p:nvSpPr>
        <p:spPr>
          <a:xfrm>
            <a:off x="2247900" y="1625600"/>
            <a:ext cx="294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Co zadání vyžaduje (MUSÍ)</a:t>
            </a:r>
            <a:endParaRPr/>
          </a:p>
        </p:txBody>
      </p:sp>
      <p:sp>
        <p:nvSpPr>
          <p:cNvPr id="458" name="Google Shape;458;h6b5b3f776f01fd4e_13_26"/>
          <p:cNvSpPr txBox="1"/>
          <p:nvPr/>
        </p:nvSpPr>
        <p:spPr>
          <a:xfrm>
            <a:off x="5321300" y="1625600"/>
            <a:ext cx="4470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Jak to splníme</a:t>
            </a:r>
            <a:endParaRPr/>
          </a:p>
        </p:txBody>
      </p:sp>
      <p:sp>
        <p:nvSpPr>
          <p:cNvPr id="459" name="Google Shape;459;h6b5b3f776f01fd4e_13_26"/>
          <p:cNvSpPr txBox="1"/>
          <p:nvPr/>
        </p:nvSpPr>
        <p:spPr>
          <a:xfrm>
            <a:off x="9918700" y="1625600"/>
            <a:ext cx="1650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Odpovídá</a:t>
            </a:r>
            <a:endParaRPr/>
          </a:p>
        </p:txBody>
      </p:sp>
      <p:cxnSp>
        <p:nvCxnSpPr>
          <p:cNvPr id="460" name="Google Shape;460;h6b5b3f776f01fd4e_13_26"/>
          <p:cNvCxnSpPr/>
          <p:nvPr/>
        </p:nvCxnSpPr>
        <p:spPr>
          <a:xfrm>
            <a:off x="622300" y="186690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h6b5b3f776f01fd4e_13_26"/>
          <p:cNvSpPr txBox="1"/>
          <p:nvPr/>
        </p:nvSpPr>
        <p:spPr>
          <a:xfrm>
            <a:off x="622300" y="1968500"/>
            <a:ext cx="149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CSD-20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Bezpečný vývoj</a:t>
            </a:r>
            <a:endParaRPr/>
          </a:p>
        </p:txBody>
      </p:sp>
      <p:sp>
        <p:nvSpPr>
          <p:cNvPr id="462" name="Google Shape;462;h6b5b3f776f01fd4e_13_26"/>
          <p:cNvSpPr txBox="1"/>
          <p:nvPr/>
        </p:nvSpPr>
        <p:spPr>
          <a:xfrm>
            <a:off x="2247900" y="1968500"/>
            <a:ext cx="294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Vše v Azure tenantu E.ON a v GitLabu E.ON; žádné secrets v commitech; princip čtyř očí; SAST, DAST, Wiz; threat model.</a:t>
            </a:r>
            <a:endParaRPr/>
          </a:p>
        </p:txBody>
      </p:sp>
      <p:sp>
        <p:nvSpPr>
          <p:cNvPr id="463" name="Google Shape;463;h6b5b3f776f01fd4e_13_26"/>
          <p:cNvSpPr txBox="1"/>
          <p:nvPr/>
        </p:nvSpPr>
        <p:spPr>
          <a:xfrm>
            <a:off x="5321300" y="1968500"/>
            <a:ext cx="4470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Kód výhradně v GitLabu E.ON, secrets jen v Azure Key Vault (pre-commit hook a secret scanner, nulová tolerance). Reviewer není autor, promoci do vyšších prostředí schvaluje E.ON IT. SAST, dependency scan a Wiz blokují build, OWASP ZAP běží před produkcí. Threat model (STRIDE) pro každou hlavní komponentu ve fázi návrhu.</a:t>
            </a:r>
            <a:endParaRPr/>
          </a:p>
        </p:txBody>
      </p:sp>
      <p:sp>
        <p:nvSpPr>
          <p:cNvPr id="464" name="Google Shape;464;h6b5b3f776f01fd4e_13_26"/>
          <p:cNvSpPr txBox="1"/>
          <p:nvPr/>
        </p:nvSpPr>
        <p:spPr>
          <a:xfrm>
            <a:off x="9918700" y="1968500"/>
            <a:ext cx="1650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/>
          </a:p>
        </p:txBody>
      </p:sp>
      <p:cxnSp>
        <p:nvCxnSpPr>
          <p:cNvPr id="465" name="Google Shape;465;h6b5b3f776f01fd4e_13_26"/>
          <p:cNvCxnSpPr/>
          <p:nvPr/>
        </p:nvCxnSpPr>
        <p:spPr>
          <a:xfrm>
            <a:off x="622300" y="2917825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h6b5b3f776f01fd4e_13_26"/>
          <p:cNvSpPr txBox="1"/>
          <p:nvPr/>
        </p:nvSpPr>
        <p:spPr>
          <a:xfrm>
            <a:off x="622300" y="2994025"/>
            <a:ext cx="149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CSD-22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API Security</a:t>
            </a:r>
            <a:endParaRPr/>
          </a:p>
        </p:txBody>
      </p:sp>
      <p:sp>
        <p:nvSpPr>
          <p:cNvPr id="467" name="Google Shape;467;h6b5b3f776f01fd4e_13_26"/>
          <p:cNvSpPr txBox="1"/>
          <p:nvPr/>
        </p:nvSpPr>
        <p:spPr>
          <a:xfrm>
            <a:off x="2247900" y="2994025"/>
            <a:ext cx="294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Specifikace OpenAPI 3.1; úrovně LoA podle typu endpointu vynucené v APIM; mTLS jen s CA akceptovanou E.ON; integrace přes privátní síť.</a:t>
            </a:r>
            <a:endParaRPr/>
          </a:p>
        </p:txBody>
      </p:sp>
      <p:sp>
        <p:nvSpPr>
          <p:cNvPr id="468" name="Google Shape;468;h6b5b3f776f01fd4e_13_26"/>
          <p:cNvSpPr txBox="1"/>
          <p:nvPr/>
        </p:nvSpPr>
        <p:spPr>
          <a:xfrm>
            <a:off x="5321300" y="2994025"/>
            <a:ext cx="447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Query, Calculation a Report API mají OpenAPI 3.1 od koncepční fáze (contract-first). Veřejné endpointy jsou read-only, admin endpointy s validací JWT; LoA jako policy v APIM, ne v kódu. Certifikáty jen od CA akceptované E.ON, napojení na DWH EG.D přes private endpoint.</a:t>
            </a:r>
            <a:endParaRPr/>
          </a:p>
        </p:txBody>
      </p:sp>
      <p:sp>
        <p:nvSpPr>
          <p:cNvPr id="469" name="Google Shape;469;h6b5b3f776f01fd4e_13_26"/>
          <p:cNvSpPr txBox="1"/>
          <p:nvPr/>
        </p:nvSpPr>
        <p:spPr>
          <a:xfrm>
            <a:off x="9918700" y="2994025"/>
            <a:ext cx="165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b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Certifikáty E.ON IT</a:t>
            </a:r>
            <a:endParaRPr/>
          </a:p>
        </p:txBody>
      </p:sp>
      <p:cxnSp>
        <p:nvCxnSpPr>
          <p:cNvPr id="470" name="Google Shape;470;h6b5b3f776f01fd4e_13_26"/>
          <p:cNvCxnSpPr/>
          <p:nvPr/>
        </p:nvCxnSpPr>
        <p:spPr>
          <a:xfrm>
            <a:off x="622300" y="394335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h6b5b3f776f01fd4e_13_26"/>
          <p:cNvSpPr txBox="1"/>
          <p:nvPr/>
        </p:nvSpPr>
        <p:spPr>
          <a:xfrm>
            <a:off x="622300" y="4019550"/>
            <a:ext cx="149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CSD-33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Životní cyklus</a:t>
            </a:r>
            <a:endParaRPr/>
          </a:p>
        </p:txBody>
      </p:sp>
      <p:sp>
        <p:nvSpPr>
          <p:cNvPr id="472" name="Google Shape;472;h6b5b3f776f01fd4e_13_26"/>
          <p:cNvSpPr txBox="1"/>
          <p:nvPr/>
        </p:nvSpPr>
        <p:spPr>
          <a:xfrm>
            <a:off x="2247900" y="4019550"/>
            <a:ext cx="294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Striktně oddělené dev, test a prod; QAS a RUN povinné; threat model v návrhu i před produkcí; trasovatelnost změn.</a:t>
            </a:r>
            <a:endParaRPr/>
          </a:p>
        </p:txBody>
      </p:sp>
      <p:sp>
        <p:nvSpPr>
          <p:cNvPr id="473" name="Google Shape;473;h6b5b3f776f01fd4e_13_26"/>
          <p:cNvSpPr txBox="1"/>
          <p:nvPr/>
        </p:nvSpPr>
        <p:spPr>
          <a:xfrm>
            <a:off x="5321300" y="4019550"/>
            <a:ext cx="4470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DEV běží v rámci QAS, RUN je infrastrukturně plně oddělený (Q&amp;A 82, 106). V DEV žádná produkční data. Každé nasazení je Git tag a záznam v deployment audit logu. Threat model revidujeme před go-live.</a:t>
            </a:r>
            <a:endParaRPr/>
          </a:p>
        </p:txBody>
      </p:sp>
      <p:sp>
        <p:nvSpPr>
          <p:cNvPr id="474" name="Google Shape;474;h6b5b3f776f01fd4e_13_26"/>
          <p:cNvSpPr txBox="1"/>
          <p:nvPr/>
        </p:nvSpPr>
        <p:spPr>
          <a:xfrm>
            <a:off x="9918700" y="4019550"/>
            <a:ext cx="165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b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E.ON IT</a:t>
            </a:r>
            <a:endParaRPr/>
          </a:p>
        </p:txBody>
      </p:sp>
      <p:cxnSp>
        <p:nvCxnSpPr>
          <p:cNvPr id="475" name="Google Shape;475;h6b5b3f776f01fd4e_13_26"/>
          <p:cNvCxnSpPr/>
          <p:nvPr/>
        </p:nvCxnSpPr>
        <p:spPr>
          <a:xfrm>
            <a:off x="622300" y="4968875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h6b5b3f776f01fd4e_13_26"/>
          <p:cNvSpPr txBox="1"/>
          <p:nvPr/>
        </p:nvSpPr>
        <p:spPr>
          <a:xfrm>
            <a:off x="622300" y="5045075"/>
            <a:ext cx="149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CSD-10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Zranitelnosti</a:t>
            </a:r>
            <a:endParaRPr/>
          </a:p>
        </p:txBody>
      </p:sp>
      <p:sp>
        <p:nvSpPr>
          <p:cNvPr id="477" name="Google Shape;477;h6b5b3f776f01fd4e_13_26"/>
          <p:cNvSpPr txBox="1"/>
          <p:nvPr/>
        </p:nvSpPr>
        <p:spPr>
          <a:xfrm>
            <a:off x="2247900" y="5045075"/>
            <a:ext cx="294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Automatizované skenování Wiz, SAST, DAST; náprava Critical do 14 dnů, High do 30 dnů; bezchybný stav pro produkci.</a:t>
            </a:r>
            <a:endParaRPr/>
          </a:p>
        </p:txBody>
      </p:sp>
      <p:sp>
        <p:nvSpPr>
          <p:cNvPr id="478" name="Google Shape;478;h6b5b3f776f01fd4e_13_26"/>
          <p:cNvSpPr txBox="1"/>
          <p:nvPr/>
        </p:nvSpPr>
        <p:spPr>
          <a:xfrm>
            <a:off x="5321300" y="5045075"/>
            <a:ext cx="4470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Skenování v každé pipeline i průběžně nad běžícím prostředím. Critical do 14 dnů s eskalací na E.ON CTI, High a nálezy knihoven do 30 dnů. Go-live jen bez Wiz findings Critical a bez Wiz issues Critical a High (Q&amp;A 66).</a:t>
            </a:r>
            <a:endParaRPr/>
          </a:p>
        </p:txBody>
      </p:sp>
      <p:sp>
        <p:nvSpPr>
          <p:cNvPr id="479" name="Google Shape;479;h6b5b3f776f01fd4e_13_26"/>
          <p:cNvSpPr txBox="1"/>
          <p:nvPr/>
        </p:nvSpPr>
        <p:spPr>
          <a:xfrm>
            <a:off x="9918700" y="5045075"/>
            <a:ext cx="1650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h6b5b3f776f01fd4e_13_57"/>
          <p:cNvSpPr txBox="1"/>
          <p:nvPr/>
        </p:nvSpPr>
        <p:spPr>
          <a:xfrm>
            <a:off x="621792" y="475488"/>
            <a:ext cx="10945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Soulad s CSD (2/3)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h6b5b3f776f01fd4e_13_57"/>
          <p:cNvSpPr txBox="1"/>
          <p:nvPr/>
        </p:nvSpPr>
        <p:spPr>
          <a:xfrm>
            <a:off x="621792" y="1133856"/>
            <a:ext cx="10945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Logování, přístupy, identita a CIS benchmarky — Příloha č. 1, kapitola 7.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h6b5b3f776f01fd4e_13_57"/>
          <p:cNvSpPr txBox="1"/>
          <p:nvPr/>
        </p:nvSpPr>
        <p:spPr>
          <a:xfrm>
            <a:off x="411480" y="6419088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h6b5b3f776f01fd4e_13_57"/>
          <p:cNvSpPr txBox="1"/>
          <p:nvPr/>
        </p:nvSpPr>
        <p:spPr>
          <a:xfrm>
            <a:off x="10863072" y="64190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h6b5b3f776f01fd4e_13_57"/>
          <p:cNvSpPr txBox="1"/>
          <p:nvPr/>
        </p:nvSpPr>
        <p:spPr>
          <a:xfrm>
            <a:off x="622300" y="1625600"/>
            <a:ext cx="14985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Direktiva</a:t>
            </a:r>
            <a:endParaRPr/>
          </a:p>
        </p:txBody>
      </p:sp>
      <p:sp>
        <p:nvSpPr>
          <p:cNvPr id="489" name="Google Shape;489;h6b5b3f776f01fd4e_13_57"/>
          <p:cNvSpPr txBox="1"/>
          <p:nvPr/>
        </p:nvSpPr>
        <p:spPr>
          <a:xfrm>
            <a:off x="2247900" y="1625600"/>
            <a:ext cx="294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Co zadání vyžaduje (MUSÍ)</a:t>
            </a:r>
            <a:endParaRPr/>
          </a:p>
        </p:txBody>
      </p:sp>
      <p:sp>
        <p:nvSpPr>
          <p:cNvPr id="490" name="Google Shape;490;h6b5b3f776f01fd4e_13_57"/>
          <p:cNvSpPr txBox="1"/>
          <p:nvPr/>
        </p:nvSpPr>
        <p:spPr>
          <a:xfrm>
            <a:off x="5321300" y="1625600"/>
            <a:ext cx="4470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Jak to splníme</a:t>
            </a:r>
            <a:endParaRPr/>
          </a:p>
        </p:txBody>
      </p:sp>
      <p:sp>
        <p:nvSpPr>
          <p:cNvPr id="491" name="Google Shape;491;h6b5b3f776f01fd4e_13_57"/>
          <p:cNvSpPr txBox="1"/>
          <p:nvPr/>
        </p:nvSpPr>
        <p:spPr>
          <a:xfrm>
            <a:off x="9918700" y="1625600"/>
            <a:ext cx="1650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Odpovídá</a:t>
            </a:r>
            <a:endParaRPr/>
          </a:p>
        </p:txBody>
      </p:sp>
      <p:cxnSp>
        <p:nvCxnSpPr>
          <p:cNvPr id="492" name="Google Shape;492;h6b5b3f776f01fd4e_13_57"/>
          <p:cNvCxnSpPr/>
          <p:nvPr/>
        </p:nvCxnSpPr>
        <p:spPr>
          <a:xfrm>
            <a:off x="622300" y="186690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h6b5b3f776f01fd4e_13_57"/>
          <p:cNvSpPr txBox="1"/>
          <p:nvPr/>
        </p:nvSpPr>
        <p:spPr>
          <a:xfrm>
            <a:off x="622300" y="1968500"/>
            <a:ext cx="149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CSD-08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Logování a monitoring</a:t>
            </a:r>
            <a:endParaRPr/>
          </a:p>
        </p:txBody>
      </p:sp>
      <p:sp>
        <p:nvSpPr>
          <p:cNvPr id="494" name="Google Shape;494;h6b5b3f776f01fd4e_13_57"/>
          <p:cNvSpPr txBox="1"/>
          <p:nvPr/>
        </p:nvSpPr>
        <p:spPr>
          <a:xfrm>
            <a:off x="2247900" y="1968500"/>
            <a:ext cx="294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Logování bezpečnostních událostí na všech komponentách; NTP; retence; alerting na definované prahy.</a:t>
            </a:r>
            <a:endParaRPr/>
          </a:p>
        </p:txBody>
      </p:sp>
      <p:sp>
        <p:nvSpPr>
          <p:cNvPr id="495" name="Google Shape;495;h6b5b3f776f01fd4e_13_57"/>
          <p:cNvSpPr txBox="1"/>
          <p:nvPr/>
        </p:nvSpPr>
        <p:spPr>
          <a:xfrm>
            <a:off x="5321300" y="1968500"/>
            <a:ext cx="447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Autentizace, změny oprávnění, neautorizované přístupy a audit trail ze všech komponent do Log Analytics a New Relic. NTP všude, retence podle politiky E.ON. Alerty: více než 5 neúspěšných přihlášení za 10 minut z jedné IP, každá admin akce, p95 nad 2 s nebo error rate nad 1 %.</a:t>
            </a:r>
            <a:endParaRPr/>
          </a:p>
        </p:txBody>
      </p:sp>
      <p:sp>
        <p:nvSpPr>
          <p:cNvPr id="496" name="Google Shape;496;h6b5b3f776f01fd4e_13_57"/>
          <p:cNvSpPr txBox="1"/>
          <p:nvPr/>
        </p:nvSpPr>
        <p:spPr>
          <a:xfrm>
            <a:off x="9918700" y="1968500"/>
            <a:ext cx="165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b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Monitoring RUN E.ON</a:t>
            </a:r>
            <a:endParaRPr/>
          </a:p>
        </p:txBody>
      </p:sp>
      <p:cxnSp>
        <p:nvCxnSpPr>
          <p:cNvPr id="497" name="Google Shape;497;h6b5b3f776f01fd4e_13_57"/>
          <p:cNvCxnSpPr/>
          <p:nvPr/>
        </p:nvCxnSpPr>
        <p:spPr>
          <a:xfrm>
            <a:off x="622300" y="2917825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h6b5b3f776f01fd4e_13_57"/>
          <p:cNvSpPr txBox="1"/>
          <p:nvPr/>
        </p:nvSpPr>
        <p:spPr>
          <a:xfrm>
            <a:off x="622300" y="2994025"/>
            <a:ext cx="149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CSD-28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Řízení přístupu</a:t>
            </a:r>
            <a:endParaRPr/>
          </a:p>
        </p:txBody>
      </p:sp>
      <p:sp>
        <p:nvSpPr>
          <p:cNvPr id="499" name="Google Shape;499;h6b5b3f776f01fd4e_13_57"/>
          <p:cNvSpPr txBox="1"/>
          <p:nvPr/>
        </p:nvSpPr>
        <p:spPr>
          <a:xfrm>
            <a:off x="2247900" y="2994025"/>
            <a:ext cx="294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Vývojář bez admin přístupu do produkce; least privilege; PIM just-in-time max. 8 h; kvartální access review.</a:t>
            </a:r>
            <a:endParaRPr/>
          </a:p>
        </p:txBody>
      </p:sp>
      <p:sp>
        <p:nvSpPr>
          <p:cNvPr id="500" name="Google Shape;500;h6b5b3f776f01fd4e_13_57"/>
          <p:cNvSpPr txBox="1"/>
          <p:nvPr/>
        </p:nvSpPr>
        <p:spPr>
          <a:xfrm>
            <a:off x="5321300" y="2994025"/>
            <a:ext cx="447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Vorian pracuje jen v DEV a QAS, do RUN nasazuje E.ON IT. Oprávnění přiděluje E.ON IT přes PIM, bez trvalých přístupů. Služby komunikují výhradně přes managed identity, žádná hesla. Pro kvartální access review připravujeme přehled rolí.</a:t>
            </a:r>
            <a:endParaRPr/>
          </a:p>
        </p:txBody>
      </p:sp>
      <p:sp>
        <p:nvSpPr>
          <p:cNvPr id="501" name="Google Shape;501;h6b5b3f776f01fd4e_13_57"/>
          <p:cNvSpPr txBox="1"/>
          <p:nvPr/>
        </p:nvSpPr>
        <p:spPr>
          <a:xfrm>
            <a:off x="9918700" y="2994025"/>
            <a:ext cx="165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E.ON IT</a:t>
            </a:r>
            <a:b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/>
          </a:p>
        </p:txBody>
      </p:sp>
      <p:cxnSp>
        <p:nvCxnSpPr>
          <p:cNvPr id="502" name="Google Shape;502;h6b5b3f776f01fd4e_13_57"/>
          <p:cNvCxnSpPr/>
          <p:nvPr/>
        </p:nvCxnSpPr>
        <p:spPr>
          <a:xfrm>
            <a:off x="622300" y="394335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h6b5b3f776f01fd4e_13_57"/>
          <p:cNvSpPr txBox="1"/>
          <p:nvPr/>
        </p:nvSpPr>
        <p:spPr>
          <a:xfrm>
            <a:off x="622300" y="4019550"/>
            <a:ext cx="149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CSD-23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Identita / Zero Trust</a:t>
            </a:r>
            <a:endParaRPr/>
          </a:p>
        </p:txBody>
      </p:sp>
      <p:sp>
        <p:nvSpPr>
          <p:cNvPr id="504" name="Google Shape;504;h6b5b3f776f01fd4e_13_57"/>
          <p:cNvSpPr txBox="1"/>
          <p:nvPr/>
        </p:nvSpPr>
        <p:spPr>
          <a:xfrm>
            <a:off x="2247900" y="4019550"/>
            <a:ext cx="294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Entra ID pro veškerý administrátorský přístup; Entra-only autentizace PaaS služeb, bez connection stringů a klíčů.</a:t>
            </a:r>
            <a:endParaRPr/>
          </a:p>
        </p:txBody>
      </p:sp>
      <p:sp>
        <p:nvSpPr>
          <p:cNvPr id="505" name="Google Shape;505;h6b5b3f776f01fd4e_13_57"/>
          <p:cNvSpPr txBox="1"/>
          <p:nvPr/>
        </p:nvSpPr>
        <p:spPr>
          <a:xfrm>
            <a:off x="5321300" y="4019550"/>
            <a:ext cx="4470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Žádné lokální účty. PostgreSQL s vypnutou autentizací heslem, ADLS Gen2 přes RBAC bez storage keys, Key Vault a Azure ML přes managed identity, Azure Container Registry s vypnutým admin userem.</a:t>
            </a:r>
            <a:endParaRPr/>
          </a:p>
        </p:txBody>
      </p:sp>
      <p:sp>
        <p:nvSpPr>
          <p:cNvPr id="506" name="Google Shape;506;h6b5b3f776f01fd4e_13_57"/>
          <p:cNvSpPr txBox="1"/>
          <p:nvPr/>
        </p:nvSpPr>
        <p:spPr>
          <a:xfrm>
            <a:off x="9918700" y="4019550"/>
            <a:ext cx="1650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/>
          </a:p>
        </p:txBody>
      </p:sp>
      <p:cxnSp>
        <p:nvCxnSpPr>
          <p:cNvPr id="507" name="Google Shape;507;h6b5b3f776f01fd4e_13_57"/>
          <p:cNvCxnSpPr/>
          <p:nvPr/>
        </p:nvCxnSpPr>
        <p:spPr>
          <a:xfrm>
            <a:off x="622300" y="4968875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h6b5b3f776f01fd4e_13_57"/>
          <p:cNvSpPr txBox="1"/>
          <p:nvPr/>
        </p:nvSpPr>
        <p:spPr>
          <a:xfrm>
            <a:off x="622300" y="5045075"/>
            <a:ext cx="149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CSD-17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CIS Benchmarks</a:t>
            </a:r>
            <a:endParaRPr/>
          </a:p>
        </p:txBody>
      </p:sp>
      <p:sp>
        <p:nvSpPr>
          <p:cNvPr id="509" name="Google Shape;509;h6b5b3f776f01fd4e_13_57"/>
          <p:cNvSpPr txBox="1"/>
          <p:nvPr/>
        </p:nvSpPr>
        <p:spPr>
          <a:xfrm>
            <a:off x="2247900" y="5045075"/>
            <a:ext cx="294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Relevantní CIS baseline pro použité technologie; odchylky evidované jako zranitelnost; CMK tam, kde to benchmark vyžaduje.</a:t>
            </a:r>
            <a:endParaRPr/>
          </a:p>
        </p:txBody>
      </p:sp>
      <p:sp>
        <p:nvSpPr>
          <p:cNvPr id="510" name="Google Shape;510;h6b5b3f776f01fd4e_13_57"/>
          <p:cNvSpPr txBox="1"/>
          <p:nvPr/>
        </p:nvSpPr>
        <p:spPr>
          <a:xfrm>
            <a:off x="5321300" y="5045075"/>
            <a:ext cx="447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Baseline CIS Azure Foundations 2.1.0, Docker 1.8.0 a GitLab 1.0.1; AKS v návrhu nepoužíváme. Kontroly převádíme na policy v IaC a CI/CD, aby byl soulad průkazný. Odchylky evidujeme podle CSD-10. CMK přes Key Vault u služeb, kde to benchmark vyžaduje.</a:t>
            </a:r>
            <a:endParaRPr/>
          </a:p>
        </p:txBody>
      </p:sp>
      <p:sp>
        <p:nvSpPr>
          <p:cNvPr id="511" name="Google Shape;511;h6b5b3f776f01fd4e_13_57"/>
          <p:cNvSpPr txBox="1"/>
          <p:nvPr/>
        </p:nvSpPr>
        <p:spPr>
          <a:xfrm>
            <a:off x="9918700" y="5045075"/>
            <a:ext cx="1650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h6b5b3f776f01fd4e_13_88"/>
          <p:cNvSpPr txBox="1"/>
          <p:nvPr/>
        </p:nvSpPr>
        <p:spPr>
          <a:xfrm>
            <a:off x="621792" y="475488"/>
            <a:ext cx="10945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Soulad s požadavky na administraci, síť a CI/CD (3/3)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h6b5b3f776f01fd4e_13_88"/>
          <p:cNvSpPr txBox="1"/>
          <p:nvPr/>
        </p:nvSpPr>
        <p:spPr>
          <a:xfrm>
            <a:off x="621792" y="1133856"/>
            <a:ext cx="10945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Příloha č. 1, kapitoly 9, 11 a 12.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h6b5b3f776f01fd4e_13_88"/>
          <p:cNvSpPr txBox="1"/>
          <p:nvPr/>
        </p:nvSpPr>
        <p:spPr>
          <a:xfrm>
            <a:off x="411480" y="6419088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h6b5b3f776f01fd4e_13_88"/>
          <p:cNvSpPr txBox="1"/>
          <p:nvPr/>
        </p:nvSpPr>
        <p:spPr>
          <a:xfrm>
            <a:off x="10863072" y="64190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h6b5b3f776f01fd4e_13_88"/>
          <p:cNvSpPr txBox="1"/>
          <p:nvPr/>
        </p:nvSpPr>
        <p:spPr>
          <a:xfrm>
            <a:off x="622300" y="1625600"/>
            <a:ext cx="14985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Oblast</a:t>
            </a:r>
            <a:endParaRPr/>
          </a:p>
        </p:txBody>
      </p:sp>
      <p:sp>
        <p:nvSpPr>
          <p:cNvPr id="521" name="Google Shape;521;h6b5b3f776f01fd4e_13_88"/>
          <p:cNvSpPr txBox="1"/>
          <p:nvPr/>
        </p:nvSpPr>
        <p:spPr>
          <a:xfrm>
            <a:off x="2247900" y="1625600"/>
            <a:ext cx="294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Co zadání vyžaduje (MUSÍ)</a:t>
            </a:r>
            <a:endParaRPr/>
          </a:p>
        </p:txBody>
      </p:sp>
      <p:sp>
        <p:nvSpPr>
          <p:cNvPr id="522" name="Google Shape;522;h6b5b3f776f01fd4e_13_88"/>
          <p:cNvSpPr txBox="1"/>
          <p:nvPr/>
        </p:nvSpPr>
        <p:spPr>
          <a:xfrm>
            <a:off x="5321300" y="1625600"/>
            <a:ext cx="4470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Jak to splníme</a:t>
            </a:r>
            <a:endParaRPr/>
          </a:p>
        </p:txBody>
      </p:sp>
      <p:sp>
        <p:nvSpPr>
          <p:cNvPr id="523" name="Google Shape;523;h6b5b3f776f01fd4e_13_88"/>
          <p:cNvSpPr txBox="1"/>
          <p:nvPr/>
        </p:nvSpPr>
        <p:spPr>
          <a:xfrm>
            <a:off x="9918700" y="1625600"/>
            <a:ext cx="1650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Odpovídá</a:t>
            </a:r>
            <a:endParaRPr/>
          </a:p>
        </p:txBody>
      </p:sp>
      <p:cxnSp>
        <p:nvCxnSpPr>
          <p:cNvPr id="524" name="Google Shape;524;h6b5b3f776f01fd4e_13_88"/>
          <p:cNvCxnSpPr/>
          <p:nvPr/>
        </p:nvCxnSpPr>
        <p:spPr>
          <a:xfrm>
            <a:off x="622300" y="186690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5" name="Google Shape;525;h6b5b3f776f01fd4e_13_88"/>
          <p:cNvSpPr txBox="1"/>
          <p:nvPr/>
        </p:nvSpPr>
        <p:spPr>
          <a:xfrm>
            <a:off x="622300" y="1968500"/>
            <a:ext cx="149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kapitola 9</a:t>
            </a:r>
            <a:endParaRPr/>
          </a:p>
        </p:txBody>
      </p:sp>
      <p:sp>
        <p:nvSpPr>
          <p:cNvPr id="526" name="Google Shape;526;h6b5b3f776f01fd4e_13_88"/>
          <p:cNvSpPr txBox="1"/>
          <p:nvPr/>
        </p:nvSpPr>
        <p:spPr>
          <a:xfrm>
            <a:off x="2247900" y="1968500"/>
            <a:ext cx="294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Přihlášení přes SaRA, žádné lokální účty; dvě oddělené role; report stahování dat a auditovaný ruční re-trigger.</a:t>
            </a:r>
            <a:endParaRPr/>
          </a:p>
        </p:txBody>
      </p:sp>
      <p:sp>
        <p:nvSpPr>
          <p:cNvPr id="527" name="Google Shape;527;h6b5b3f776f01fd4e_13_88"/>
          <p:cNvSpPr txBox="1"/>
          <p:nvPr/>
        </p:nvSpPr>
        <p:spPr>
          <a:xfrm>
            <a:off x="5321300" y="1968500"/>
            <a:ext cx="447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Admin portál je dostupný jen z interní sítě E.ON (Q&amp;A 3). OIDC Authorization Code + PKCE přes SaRA, uživatelé přes KID. Dvě role: E.ON IT a EG.D byznys. Každý ruční re-trigger je auditovaný (kdo, kdy, důvod, výsledek). Identifikátory od SaRA jen v Key Vault.</a:t>
            </a:r>
            <a:endParaRPr/>
          </a:p>
        </p:txBody>
      </p:sp>
      <p:sp>
        <p:nvSpPr>
          <p:cNvPr id="528" name="Google Shape;528;h6b5b3f776f01fd4e_13_88"/>
          <p:cNvSpPr txBox="1"/>
          <p:nvPr/>
        </p:nvSpPr>
        <p:spPr>
          <a:xfrm>
            <a:off x="9918700" y="1968500"/>
            <a:ext cx="165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b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Registrace v SaRA</a:t>
            </a:r>
            <a:endParaRPr/>
          </a:p>
        </p:txBody>
      </p:sp>
      <p:cxnSp>
        <p:nvCxnSpPr>
          <p:cNvPr id="529" name="Google Shape;529;h6b5b3f776f01fd4e_13_88"/>
          <p:cNvCxnSpPr/>
          <p:nvPr/>
        </p:nvCxnSpPr>
        <p:spPr>
          <a:xfrm>
            <a:off x="622300" y="2917825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0" name="Google Shape;530;h6b5b3f776f01fd4e_13_88"/>
          <p:cNvSpPr txBox="1"/>
          <p:nvPr/>
        </p:nvSpPr>
        <p:spPr>
          <a:xfrm>
            <a:off x="622300" y="2994025"/>
            <a:ext cx="149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Síť a perimetr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kapitola 11</a:t>
            </a:r>
            <a:endParaRPr/>
          </a:p>
        </p:txBody>
      </p:sp>
      <p:sp>
        <p:nvSpPr>
          <p:cNvPr id="531" name="Google Shape;531;h6b5b3f776f01fd4e_13_88"/>
          <p:cNvSpPr txBox="1"/>
          <p:nvPr/>
        </p:nvSpPr>
        <p:spPr>
          <a:xfrm>
            <a:off x="2247900" y="2994025"/>
            <a:ext cx="294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Private endpoints; privátní DNS E.ON; síť spravuje E.ON; Cloudflare jediný vstup; jen kontejnery na Azure PaaS.</a:t>
            </a:r>
            <a:endParaRPr/>
          </a:p>
        </p:txBody>
      </p:sp>
      <p:sp>
        <p:nvSpPr>
          <p:cNvPr id="532" name="Google Shape;532;h6b5b3f776f01fd4e_13_88"/>
          <p:cNvSpPr txBox="1"/>
          <p:nvPr/>
        </p:nvSpPr>
        <p:spPr>
          <a:xfrm>
            <a:off x="5321300" y="2994025"/>
            <a:ext cx="4470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Veřejný přístup PaaS služeb vypnutý, private endpoints u datových i platformních služeb. VNet, NSG a firewall spravuje E.ON, Vorian je nemění. Aplikace přijímá provoz jen z IP rozsahů Cloudflare. Žádné virtuální stroje.</a:t>
            </a:r>
            <a:endParaRPr/>
          </a:p>
        </p:txBody>
      </p:sp>
      <p:sp>
        <p:nvSpPr>
          <p:cNvPr id="533" name="Google Shape;533;h6b5b3f776f01fd4e_13_88"/>
          <p:cNvSpPr txBox="1"/>
          <p:nvPr/>
        </p:nvSpPr>
        <p:spPr>
          <a:xfrm>
            <a:off x="9918700" y="2994025"/>
            <a:ext cx="165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E.ON IT</a:t>
            </a:r>
            <a:b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/>
          </a:p>
        </p:txBody>
      </p:sp>
      <p:cxnSp>
        <p:nvCxnSpPr>
          <p:cNvPr id="534" name="Google Shape;534;h6b5b3f776f01fd4e_13_88"/>
          <p:cNvCxnSpPr/>
          <p:nvPr/>
        </p:nvCxnSpPr>
        <p:spPr>
          <a:xfrm>
            <a:off x="622300" y="394335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h6b5b3f776f01fd4e_13_88"/>
          <p:cNvSpPr txBox="1"/>
          <p:nvPr/>
        </p:nvSpPr>
        <p:spPr>
          <a:xfrm>
            <a:off x="622300" y="4019550"/>
            <a:ext cx="149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Ochrana dat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kapitola 11</a:t>
            </a:r>
            <a:endParaRPr/>
          </a:p>
        </p:txBody>
      </p:sp>
      <p:sp>
        <p:nvSpPr>
          <p:cNvPr id="536" name="Google Shape;536;h6b5b3f776f01fd4e_13_88"/>
          <p:cNvSpPr txBox="1"/>
          <p:nvPr/>
        </p:nvSpPr>
        <p:spPr>
          <a:xfrm>
            <a:off x="2247900" y="4019550"/>
            <a:ext cx="294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Žádná osobní data ve veřejném výstupu; jen anonymizované agregáty; souhlas GDPR přes Usercentrics.</a:t>
            </a:r>
            <a:endParaRPr/>
          </a:p>
        </p:txBody>
      </p:sp>
      <p:sp>
        <p:nvSpPr>
          <p:cNvPr id="537" name="Google Shape;537;h6b5b3f776f01fd4e_13_88"/>
          <p:cNvSpPr txBox="1"/>
          <p:nvPr/>
        </p:nvSpPr>
        <p:spPr>
          <a:xfrm>
            <a:off x="5321300" y="4019550"/>
            <a:ext cx="4470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Z DWH EG.D jdou na frontend jen agregované hodnoty za okres a vyšší celky. Veřejné API je read-only bez přístupu k interním systémům EG.D. Analytika a vložený obsah se načítají až po udělení souhlasu v Usercentrics.</a:t>
            </a:r>
            <a:endParaRPr/>
          </a:p>
        </p:txBody>
      </p:sp>
      <p:sp>
        <p:nvSpPr>
          <p:cNvPr id="538" name="Google Shape;538;h6b5b3f776f01fd4e_13_88"/>
          <p:cNvSpPr txBox="1"/>
          <p:nvPr/>
        </p:nvSpPr>
        <p:spPr>
          <a:xfrm>
            <a:off x="9918700" y="4019550"/>
            <a:ext cx="1650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/>
          </a:p>
        </p:txBody>
      </p:sp>
      <p:cxnSp>
        <p:nvCxnSpPr>
          <p:cNvPr id="539" name="Google Shape;539;h6b5b3f776f01fd4e_13_88"/>
          <p:cNvCxnSpPr/>
          <p:nvPr/>
        </p:nvCxnSpPr>
        <p:spPr>
          <a:xfrm>
            <a:off x="622300" y="4968875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0" name="Google Shape;540;h6b5b3f776f01fd4e_13_88"/>
          <p:cNvSpPr txBox="1"/>
          <p:nvPr/>
        </p:nvSpPr>
        <p:spPr>
          <a:xfrm>
            <a:off x="622300" y="5045075"/>
            <a:ext cx="149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CI/CD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kapitola 12</a:t>
            </a:r>
            <a:endParaRPr/>
          </a:p>
        </p:txBody>
      </p:sp>
      <p:sp>
        <p:nvSpPr>
          <p:cNvPr id="541" name="Google Shape;541;h6b5b3f776f01fd4e_13_88"/>
          <p:cNvSpPr txBox="1"/>
          <p:nvPr/>
        </p:nvSpPr>
        <p:spPr>
          <a:xfrm>
            <a:off x="2247900" y="5045075"/>
            <a:ext cx="294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GitLab jediný zdroj kódu; plná automatizace infrastruktury; quality gates před merge; image do registru až po skenu.</a:t>
            </a:r>
            <a:endParaRPr/>
          </a:p>
        </p:txBody>
      </p:sp>
      <p:sp>
        <p:nvSpPr>
          <p:cNvPr id="542" name="Google Shape;542;h6b5b3f776f01fd4e_13_88"/>
          <p:cNvSpPr txBox="1"/>
          <p:nvPr/>
        </p:nvSpPr>
        <p:spPr>
          <a:xfrm>
            <a:off x="5321300" y="5045075"/>
            <a:ext cx="4470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Terraform pro všechny projektové zdroje, ruční zásahy jen se schválením E.ON IT. Před merge do main musí projít testy s pokrytím nejméně 80 %, SAST, DAST, dependency scan a Wiz policy gates. Image jde do ACR až po úspěšném skenu.</a:t>
            </a:r>
            <a:endParaRPr/>
          </a:p>
        </p:txBody>
      </p:sp>
      <p:sp>
        <p:nvSpPr>
          <p:cNvPr id="543" name="Google Shape;543;h6b5b3f776f01fd4e_13_88"/>
          <p:cNvSpPr txBox="1"/>
          <p:nvPr/>
        </p:nvSpPr>
        <p:spPr>
          <a:xfrm>
            <a:off x="9918700" y="5045075"/>
            <a:ext cx="1650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h6b5b3f776f01fd4e_13_119"/>
          <p:cNvSpPr txBox="1"/>
          <p:nvPr/>
        </p:nvSpPr>
        <p:spPr>
          <a:xfrm>
            <a:off x="621792" y="475488"/>
            <a:ext cx="10945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Bezpečnostní architektura a protokoly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h6b5b3f776f01fd4e_13_119"/>
          <p:cNvSpPr txBox="1"/>
          <p:nvPr/>
        </p:nvSpPr>
        <p:spPr>
          <a:xfrm>
            <a:off x="621792" y="1133856"/>
            <a:ext cx="10945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Jediný veřejný vstup, žádné veřejné endpointy za ním, žádné klíče v aplikaci.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h6b5b3f776f01fd4e_13_119"/>
          <p:cNvSpPr txBox="1"/>
          <p:nvPr/>
        </p:nvSpPr>
        <p:spPr>
          <a:xfrm>
            <a:off x="411480" y="6419088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h6b5b3f776f01fd4e_13_119"/>
          <p:cNvSpPr txBox="1"/>
          <p:nvPr/>
        </p:nvSpPr>
        <p:spPr>
          <a:xfrm>
            <a:off x="10863072" y="64190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h6b5b3f776f01fd4e_13_119"/>
          <p:cNvSpPr/>
          <p:nvPr/>
        </p:nvSpPr>
        <p:spPr>
          <a:xfrm>
            <a:off x="622300" y="1625600"/>
            <a:ext cx="53340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h6b5b3f776f01fd4e_13_119"/>
          <p:cNvSpPr txBox="1"/>
          <p:nvPr/>
        </p:nvSpPr>
        <p:spPr>
          <a:xfrm>
            <a:off x="825500" y="1625600"/>
            <a:ext cx="30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54" name="Google Shape;554;h6b5b3f776f01fd4e_13_119"/>
          <p:cNvSpPr txBox="1"/>
          <p:nvPr/>
        </p:nvSpPr>
        <p:spPr>
          <a:xfrm>
            <a:off x="1206500" y="1625600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Perimetr — Cloudflare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DNS, CDN, WAF, bot management a rate limiting. Jediný veřejný vstup.</a:t>
            </a:r>
            <a:endParaRPr/>
          </a:p>
        </p:txBody>
      </p:sp>
      <p:sp>
        <p:nvSpPr>
          <p:cNvPr id="555" name="Google Shape;555;h6b5b3f776f01fd4e_13_119"/>
          <p:cNvSpPr/>
          <p:nvPr/>
        </p:nvSpPr>
        <p:spPr>
          <a:xfrm>
            <a:off x="622300" y="2489200"/>
            <a:ext cx="53340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h6b5b3f776f01fd4e_13_119"/>
          <p:cNvSpPr txBox="1"/>
          <p:nvPr/>
        </p:nvSpPr>
        <p:spPr>
          <a:xfrm>
            <a:off x="825500" y="2489200"/>
            <a:ext cx="30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57" name="Google Shape;557;h6b5b3f776f01fd4e_13_119"/>
          <p:cNvSpPr txBox="1"/>
          <p:nvPr/>
        </p:nvSpPr>
        <p:spPr>
          <a:xfrm>
            <a:off x="1206500" y="2489200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brána — Azure APIM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Verzování, throttling, validace JWT, úrovně LoA jako policy.</a:t>
            </a:r>
            <a:endParaRPr/>
          </a:p>
        </p:txBody>
      </p:sp>
      <p:sp>
        <p:nvSpPr>
          <p:cNvPr id="558" name="Google Shape;558;h6b5b3f776f01fd4e_13_119"/>
          <p:cNvSpPr/>
          <p:nvPr/>
        </p:nvSpPr>
        <p:spPr>
          <a:xfrm>
            <a:off x="622300" y="3352800"/>
            <a:ext cx="53340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h6b5b3f776f01fd4e_13_119"/>
          <p:cNvSpPr txBox="1"/>
          <p:nvPr/>
        </p:nvSpPr>
        <p:spPr>
          <a:xfrm>
            <a:off x="825500" y="3352800"/>
            <a:ext cx="30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60" name="Google Shape;560;h6b5b3f776f01fd4e_13_119"/>
          <p:cNvSpPr txBox="1"/>
          <p:nvPr/>
        </p:nvSpPr>
        <p:spPr>
          <a:xfrm>
            <a:off x="1206500" y="3352800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Aplikace — kontejnery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Frontend, Query, Calculation a Report API, admin portál. Managed identity.</a:t>
            </a:r>
            <a:endParaRPr/>
          </a:p>
        </p:txBody>
      </p:sp>
      <p:sp>
        <p:nvSpPr>
          <p:cNvPr id="561" name="Google Shape;561;h6b5b3f776f01fd4e_13_119"/>
          <p:cNvSpPr/>
          <p:nvPr/>
        </p:nvSpPr>
        <p:spPr>
          <a:xfrm>
            <a:off x="622300" y="4216400"/>
            <a:ext cx="53340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h6b5b3f776f01fd4e_13_119"/>
          <p:cNvSpPr txBox="1"/>
          <p:nvPr/>
        </p:nvSpPr>
        <p:spPr>
          <a:xfrm>
            <a:off x="825500" y="4216400"/>
            <a:ext cx="30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63" name="Google Shape;563;h6b5b3f776f01fd4e_13_119"/>
          <p:cNvSpPr txBox="1"/>
          <p:nvPr/>
        </p:nvSpPr>
        <p:spPr>
          <a:xfrm>
            <a:off x="1206500" y="4216400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ADLS Gen2, PostgreSQL, Azure ML. Private endpoints, jen Entra ID.</a:t>
            </a:r>
            <a:endParaRPr/>
          </a:p>
        </p:txBody>
      </p:sp>
      <p:sp>
        <p:nvSpPr>
          <p:cNvPr id="564" name="Google Shape;564;h6b5b3f776f01fd4e_13_119"/>
          <p:cNvSpPr/>
          <p:nvPr/>
        </p:nvSpPr>
        <p:spPr>
          <a:xfrm>
            <a:off x="622300" y="5080000"/>
            <a:ext cx="53340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h6b5b3f776f01fd4e_13_119"/>
          <p:cNvSpPr txBox="1"/>
          <p:nvPr/>
        </p:nvSpPr>
        <p:spPr>
          <a:xfrm>
            <a:off x="825500" y="5080000"/>
            <a:ext cx="30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66" name="Google Shape;566;h6b5b3f776f01fd4e_13_119"/>
          <p:cNvSpPr txBox="1"/>
          <p:nvPr/>
        </p:nvSpPr>
        <p:spPr>
          <a:xfrm>
            <a:off x="1206500" y="5080000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Bezpečnostní služby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Key Vault, Entra ID a PIM, SaRA, Log Analytics, New Relic, Wiz.</a:t>
            </a:r>
            <a:endParaRPr/>
          </a:p>
        </p:txBody>
      </p:sp>
      <p:sp>
        <p:nvSpPr>
          <p:cNvPr id="567" name="Google Shape;567;h6b5b3f776f01fd4e_13_119"/>
          <p:cNvSpPr txBox="1"/>
          <p:nvPr/>
        </p:nvSpPr>
        <p:spPr>
          <a:xfrm>
            <a:off x="6337300" y="1625600"/>
            <a:ext cx="1905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Kanál</a:t>
            </a:r>
            <a:endParaRPr/>
          </a:p>
        </p:txBody>
      </p:sp>
      <p:sp>
        <p:nvSpPr>
          <p:cNvPr id="568" name="Google Shape;568;h6b5b3f776f01fd4e_13_119"/>
          <p:cNvSpPr txBox="1"/>
          <p:nvPr/>
        </p:nvSpPr>
        <p:spPr>
          <a:xfrm>
            <a:off x="8369300" y="1625600"/>
            <a:ext cx="32004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Protokol a zabezpečení</a:t>
            </a:r>
            <a:endParaRPr/>
          </a:p>
        </p:txBody>
      </p:sp>
      <p:cxnSp>
        <p:nvCxnSpPr>
          <p:cNvPr id="569" name="Google Shape;569;h6b5b3f776f01fd4e_13_119"/>
          <p:cNvCxnSpPr/>
          <p:nvPr/>
        </p:nvCxnSpPr>
        <p:spPr>
          <a:xfrm>
            <a:off x="6337300" y="1866900"/>
            <a:ext cx="5232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h6b5b3f776f01fd4e_13_119"/>
          <p:cNvSpPr txBox="1"/>
          <p:nvPr/>
        </p:nvSpPr>
        <p:spPr>
          <a:xfrm>
            <a:off x="6337300" y="1955800"/>
            <a:ext cx="190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Veřejný web</a:t>
            </a:r>
            <a:endParaRPr/>
          </a:p>
        </p:txBody>
      </p:sp>
      <p:sp>
        <p:nvSpPr>
          <p:cNvPr id="571" name="Google Shape;571;h6b5b3f776f01fd4e_13_119"/>
          <p:cNvSpPr txBox="1"/>
          <p:nvPr/>
        </p:nvSpPr>
        <p:spPr>
          <a:xfrm>
            <a:off x="8369300" y="1955800"/>
            <a:ext cx="320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HTTPS, TLS 1.2 a vyšší, HSTS</a:t>
            </a:r>
            <a:endParaRPr/>
          </a:p>
        </p:txBody>
      </p:sp>
      <p:cxnSp>
        <p:nvCxnSpPr>
          <p:cNvPr id="572" name="Google Shape;572;h6b5b3f776f01fd4e_13_119"/>
          <p:cNvCxnSpPr/>
          <p:nvPr/>
        </p:nvCxnSpPr>
        <p:spPr>
          <a:xfrm>
            <a:off x="6337300" y="2393950"/>
            <a:ext cx="5232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3" name="Google Shape;573;h6b5b3f776f01fd4e_13_119"/>
          <p:cNvSpPr txBox="1"/>
          <p:nvPr/>
        </p:nvSpPr>
        <p:spPr>
          <a:xfrm>
            <a:off x="6337300" y="2457450"/>
            <a:ext cx="190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Cloudflare → APIM</a:t>
            </a:r>
            <a:endParaRPr/>
          </a:p>
        </p:txBody>
      </p:sp>
      <p:sp>
        <p:nvSpPr>
          <p:cNvPr id="574" name="Google Shape;574;h6b5b3f776f01fd4e_13_119"/>
          <p:cNvSpPr txBox="1"/>
          <p:nvPr/>
        </p:nvSpPr>
        <p:spPr>
          <a:xfrm>
            <a:off x="8369300" y="2457450"/>
            <a:ext cx="320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HTTPS, origin allow-listing na IP rozsahy Cloudflare</a:t>
            </a:r>
            <a:endParaRPr/>
          </a:p>
        </p:txBody>
      </p:sp>
      <p:cxnSp>
        <p:nvCxnSpPr>
          <p:cNvPr id="575" name="Google Shape;575;h6b5b3f776f01fd4e_13_119"/>
          <p:cNvCxnSpPr/>
          <p:nvPr/>
        </p:nvCxnSpPr>
        <p:spPr>
          <a:xfrm>
            <a:off x="6337300" y="2895600"/>
            <a:ext cx="5232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h6b5b3f776f01fd4e_13_119"/>
          <p:cNvSpPr txBox="1"/>
          <p:nvPr/>
        </p:nvSpPr>
        <p:spPr>
          <a:xfrm>
            <a:off x="6337300" y="2959100"/>
            <a:ext cx="190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 portál</a:t>
            </a:r>
            <a:endParaRPr/>
          </a:p>
        </p:txBody>
      </p:sp>
      <p:sp>
        <p:nvSpPr>
          <p:cNvPr id="577" name="Google Shape;577;h6b5b3f776f01fd4e_13_119"/>
          <p:cNvSpPr txBox="1"/>
          <p:nvPr/>
        </p:nvSpPr>
        <p:spPr>
          <a:xfrm>
            <a:off x="8369300" y="2959100"/>
            <a:ext cx="320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OIDC Authorization Code + PKCE přes SaRA (Apereo CAS), jen interní síť</a:t>
            </a:r>
            <a:endParaRPr/>
          </a:p>
        </p:txBody>
      </p:sp>
      <p:cxnSp>
        <p:nvCxnSpPr>
          <p:cNvPr id="578" name="Google Shape;578;h6b5b3f776f01fd4e_13_119"/>
          <p:cNvCxnSpPr/>
          <p:nvPr/>
        </p:nvCxnSpPr>
        <p:spPr>
          <a:xfrm>
            <a:off x="6337300" y="3397250"/>
            <a:ext cx="5232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9" name="Google Shape;579;h6b5b3f776f01fd4e_13_119"/>
          <p:cNvSpPr txBox="1"/>
          <p:nvPr/>
        </p:nvSpPr>
        <p:spPr>
          <a:xfrm>
            <a:off x="6337300" y="3460750"/>
            <a:ext cx="190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Služba ↔ služba</a:t>
            </a:r>
            <a:endParaRPr/>
          </a:p>
        </p:txBody>
      </p:sp>
      <p:sp>
        <p:nvSpPr>
          <p:cNvPr id="580" name="Google Shape;580;h6b5b3f776f01fd4e_13_119"/>
          <p:cNvSpPr txBox="1"/>
          <p:nvPr/>
        </p:nvSpPr>
        <p:spPr>
          <a:xfrm>
            <a:off x="8369300" y="3460750"/>
            <a:ext cx="320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OAuth 2.0 Client Credentials, managed identity v Entra ID</a:t>
            </a:r>
            <a:endParaRPr/>
          </a:p>
        </p:txBody>
      </p:sp>
      <p:cxnSp>
        <p:nvCxnSpPr>
          <p:cNvPr id="581" name="Google Shape;581;h6b5b3f776f01fd4e_13_119"/>
          <p:cNvCxnSpPr/>
          <p:nvPr/>
        </p:nvCxnSpPr>
        <p:spPr>
          <a:xfrm>
            <a:off x="6337300" y="3898900"/>
            <a:ext cx="5232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h6b5b3f776f01fd4e_13_119"/>
          <p:cNvSpPr txBox="1"/>
          <p:nvPr/>
        </p:nvSpPr>
        <p:spPr>
          <a:xfrm>
            <a:off x="6337300" y="3962400"/>
            <a:ext cx="190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Stahování z DWH EG.D</a:t>
            </a:r>
            <a:endParaRPr/>
          </a:p>
        </p:txBody>
      </p:sp>
      <p:sp>
        <p:nvSpPr>
          <p:cNvPr id="583" name="Google Shape;583;h6b5b3f776f01fd4e_13_119"/>
          <p:cNvSpPr txBox="1"/>
          <p:nvPr/>
        </p:nvSpPr>
        <p:spPr>
          <a:xfrm>
            <a:off x="8369300" y="3962400"/>
            <a:ext cx="320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OAuth 2.0 bearer token, private endpoint</a:t>
            </a:r>
            <a:endParaRPr/>
          </a:p>
        </p:txBody>
      </p:sp>
      <p:cxnSp>
        <p:nvCxnSpPr>
          <p:cNvPr id="584" name="Google Shape;584;h6b5b3f776f01fd4e_13_119"/>
          <p:cNvCxnSpPr/>
          <p:nvPr/>
        </p:nvCxnSpPr>
        <p:spPr>
          <a:xfrm>
            <a:off x="6337300" y="4400550"/>
            <a:ext cx="5232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5" name="Google Shape;585;h6b5b3f776f01fd4e_13_119"/>
          <p:cNvSpPr txBox="1"/>
          <p:nvPr/>
        </p:nvSpPr>
        <p:spPr>
          <a:xfrm>
            <a:off x="6337300" y="4464050"/>
            <a:ext cx="190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Integrace do systémů E.ON</a:t>
            </a:r>
            <a:endParaRPr/>
          </a:p>
        </p:txBody>
      </p:sp>
      <p:sp>
        <p:nvSpPr>
          <p:cNvPr id="586" name="Google Shape;586;h6b5b3f776f01fd4e_13_119"/>
          <p:cNvSpPr txBox="1"/>
          <p:nvPr/>
        </p:nvSpPr>
        <p:spPr>
          <a:xfrm>
            <a:off x="8369300" y="4464050"/>
            <a:ext cx="320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mTLS s certifikátem CA akceptované E.ON</a:t>
            </a:r>
            <a:endParaRPr/>
          </a:p>
        </p:txBody>
      </p:sp>
      <p:cxnSp>
        <p:nvCxnSpPr>
          <p:cNvPr id="587" name="Google Shape;587;h6b5b3f776f01fd4e_13_119"/>
          <p:cNvCxnSpPr/>
          <p:nvPr/>
        </p:nvCxnSpPr>
        <p:spPr>
          <a:xfrm>
            <a:off x="6337300" y="4902200"/>
            <a:ext cx="5232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8" name="Google Shape;588;h6b5b3f776f01fd4e_13_119"/>
          <p:cNvSpPr txBox="1"/>
          <p:nvPr/>
        </p:nvSpPr>
        <p:spPr>
          <a:xfrm>
            <a:off x="6337300" y="4965700"/>
            <a:ext cx="190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Přístup k PaaS službám</a:t>
            </a:r>
            <a:endParaRPr/>
          </a:p>
        </p:txBody>
      </p:sp>
      <p:sp>
        <p:nvSpPr>
          <p:cNvPr id="589" name="Google Shape;589;h6b5b3f776f01fd4e_13_119"/>
          <p:cNvSpPr txBox="1"/>
          <p:nvPr/>
        </p:nvSpPr>
        <p:spPr>
          <a:xfrm>
            <a:off x="8369300" y="4965700"/>
            <a:ext cx="320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Entra ID a RBAC, bez klíčů a connection stringů</a:t>
            </a:r>
            <a:endParaRPr/>
          </a:p>
        </p:txBody>
      </p:sp>
      <p:cxnSp>
        <p:nvCxnSpPr>
          <p:cNvPr id="590" name="Google Shape;590;h6b5b3f776f01fd4e_13_119"/>
          <p:cNvCxnSpPr/>
          <p:nvPr/>
        </p:nvCxnSpPr>
        <p:spPr>
          <a:xfrm>
            <a:off x="6337300" y="5403850"/>
            <a:ext cx="5232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1" name="Google Shape;591;h6b5b3f776f01fd4e_13_119"/>
          <p:cNvSpPr txBox="1"/>
          <p:nvPr/>
        </p:nvSpPr>
        <p:spPr>
          <a:xfrm>
            <a:off x="6337300" y="5467350"/>
            <a:ext cx="190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Tajemství a klíče</a:t>
            </a:r>
            <a:endParaRPr/>
          </a:p>
        </p:txBody>
      </p:sp>
      <p:sp>
        <p:nvSpPr>
          <p:cNvPr id="592" name="Google Shape;592;h6b5b3f776f01fd4e_13_119"/>
          <p:cNvSpPr txBox="1"/>
          <p:nvPr/>
        </p:nvSpPr>
        <p:spPr>
          <a:xfrm>
            <a:off x="8369300" y="5467350"/>
            <a:ext cx="320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Azure Key Vault; CMK tam, kde to vyžaduje benchmark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6b5b3f776f01fd4e_13_167"/>
          <p:cNvSpPr txBox="1"/>
          <p:nvPr/>
        </p:nvSpPr>
        <p:spPr>
          <a:xfrm>
            <a:off x="621792" y="475488"/>
            <a:ext cx="10945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Bezpečný vývoj a provoz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h6b5b3f776f01fd4e_13_167"/>
          <p:cNvSpPr txBox="1"/>
          <p:nvPr/>
        </p:nvSpPr>
        <p:spPr>
          <a:xfrm>
            <a:off x="621792" y="1133856"/>
            <a:ext cx="10945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Každá změna projde stejnými branami. Do produkce nasazuje výhradně E.ON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h6b5b3f776f01fd4e_13_167"/>
          <p:cNvSpPr txBox="1"/>
          <p:nvPr/>
        </p:nvSpPr>
        <p:spPr>
          <a:xfrm>
            <a:off x="411480" y="6419088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h6b5b3f776f01fd4e_13_167"/>
          <p:cNvSpPr txBox="1"/>
          <p:nvPr/>
        </p:nvSpPr>
        <p:spPr>
          <a:xfrm>
            <a:off x="10863072" y="64190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h6b5b3f776f01fd4e_13_167"/>
          <p:cNvSpPr/>
          <p:nvPr/>
        </p:nvSpPr>
        <p:spPr>
          <a:xfrm>
            <a:off x="622300" y="1625600"/>
            <a:ext cx="1676400" cy="1498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h6b5b3f776f01fd4e_13_167"/>
          <p:cNvSpPr txBox="1"/>
          <p:nvPr/>
        </p:nvSpPr>
        <p:spPr>
          <a:xfrm>
            <a:off x="774700" y="1778000"/>
            <a:ext cx="1371600" cy="9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Pre-commit hook a secret scanner, nulová tolerance</a:t>
            </a:r>
            <a:endParaRPr/>
          </a:p>
        </p:txBody>
      </p:sp>
      <p:sp>
        <p:nvSpPr>
          <p:cNvPr id="603" name="Google Shape;603;h6b5b3f776f01fd4e_13_167"/>
          <p:cNvSpPr/>
          <p:nvPr/>
        </p:nvSpPr>
        <p:spPr>
          <a:xfrm>
            <a:off x="2476500" y="1625600"/>
            <a:ext cx="1676400" cy="1498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h6b5b3f776f01fd4e_13_167"/>
          <p:cNvSpPr txBox="1"/>
          <p:nvPr/>
        </p:nvSpPr>
        <p:spPr>
          <a:xfrm>
            <a:off x="2628900" y="1778000"/>
            <a:ext cx="13716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 request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Code review, reviewer není autor změny</a:t>
            </a:r>
            <a:endParaRPr/>
          </a:p>
        </p:txBody>
      </p:sp>
      <p:sp>
        <p:nvSpPr>
          <p:cNvPr id="605" name="Google Shape;605;h6b5b3f776f01fd4e_13_167"/>
          <p:cNvSpPr/>
          <p:nvPr/>
        </p:nvSpPr>
        <p:spPr>
          <a:xfrm>
            <a:off x="4330700" y="1625600"/>
            <a:ext cx="1676400" cy="1498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h6b5b3f776f01fd4e_13_167"/>
          <p:cNvSpPr txBox="1"/>
          <p:nvPr/>
        </p:nvSpPr>
        <p:spPr>
          <a:xfrm>
            <a:off x="4483100" y="1778000"/>
            <a:ext cx="1371600" cy="9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 gates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Testy s pokrytím ≥ 80 %, SAST, dependency scan, Wiz</a:t>
            </a:r>
            <a:endParaRPr/>
          </a:p>
        </p:txBody>
      </p:sp>
      <p:sp>
        <p:nvSpPr>
          <p:cNvPr id="607" name="Google Shape;607;h6b5b3f776f01fd4e_13_167"/>
          <p:cNvSpPr/>
          <p:nvPr/>
        </p:nvSpPr>
        <p:spPr>
          <a:xfrm>
            <a:off x="6184900" y="1625600"/>
            <a:ext cx="1676400" cy="1498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h6b5b3f776f01fd4e_13_167"/>
          <p:cNvSpPr txBox="1"/>
          <p:nvPr/>
        </p:nvSpPr>
        <p:spPr>
          <a:xfrm>
            <a:off x="6337300" y="1778000"/>
            <a:ext cx="1371600" cy="9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Sken Wiz, push do ACR jen po úspěšném výsledku</a:t>
            </a:r>
            <a:endParaRPr/>
          </a:p>
        </p:txBody>
      </p:sp>
      <p:sp>
        <p:nvSpPr>
          <p:cNvPr id="609" name="Google Shape;609;h6b5b3f776f01fd4e_13_167"/>
          <p:cNvSpPr/>
          <p:nvPr/>
        </p:nvSpPr>
        <p:spPr>
          <a:xfrm>
            <a:off x="8039100" y="1625600"/>
            <a:ext cx="1676400" cy="1498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h6b5b3f776f01fd4e_13_167"/>
          <p:cNvSpPr txBox="1"/>
          <p:nvPr/>
        </p:nvSpPr>
        <p:spPr>
          <a:xfrm>
            <a:off x="8191500" y="1778000"/>
            <a:ext cx="1371600" cy="9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 / QAS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Nasazuje Vorian, DAST OWASP ZAP před promocí</a:t>
            </a:r>
            <a:endParaRPr/>
          </a:p>
        </p:txBody>
      </p:sp>
      <p:sp>
        <p:nvSpPr>
          <p:cNvPr id="611" name="Google Shape;611;h6b5b3f776f01fd4e_13_167"/>
          <p:cNvSpPr/>
          <p:nvPr/>
        </p:nvSpPr>
        <p:spPr>
          <a:xfrm>
            <a:off x="9893300" y="1625600"/>
            <a:ext cx="1676400" cy="1498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h6b5b3f776f01fd4e_13_167"/>
          <p:cNvSpPr txBox="1"/>
          <p:nvPr/>
        </p:nvSpPr>
        <p:spPr>
          <a:xfrm>
            <a:off x="10045700" y="1778000"/>
            <a:ext cx="13716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Review a nasazení E.ON IT po schválení EG.D</a:t>
            </a:r>
            <a:endParaRPr/>
          </a:p>
        </p:txBody>
      </p:sp>
      <p:sp>
        <p:nvSpPr>
          <p:cNvPr id="613" name="Google Shape;613;h6b5b3f776f01fd4e_13_167"/>
          <p:cNvSpPr txBox="1"/>
          <p:nvPr/>
        </p:nvSpPr>
        <p:spPr>
          <a:xfrm>
            <a:off x="622300" y="3454400"/>
            <a:ext cx="5346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Řízení zranitelností</a:t>
            </a:r>
            <a:endParaRPr/>
          </a:p>
        </p:txBody>
      </p:sp>
      <p:sp>
        <p:nvSpPr>
          <p:cNvPr id="614" name="Google Shape;614;h6b5b3f776f01fd4e_13_167"/>
          <p:cNvSpPr txBox="1"/>
          <p:nvPr/>
        </p:nvSpPr>
        <p:spPr>
          <a:xfrm>
            <a:off x="622300" y="3810000"/>
            <a:ext cx="177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15" name="Google Shape;615;h6b5b3f776f01fd4e_13_167"/>
          <p:cNvSpPr txBox="1"/>
          <p:nvPr/>
        </p:nvSpPr>
        <p:spPr>
          <a:xfrm>
            <a:off x="876300" y="3810000"/>
            <a:ext cx="507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Critical: náprava do 14 dnů, eskalace na E.ON CTI</a:t>
            </a:r>
            <a:endParaRPr/>
          </a:p>
        </p:txBody>
      </p:sp>
      <p:sp>
        <p:nvSpPr>
          <p:cNvPr id="616" name="Google Shape;616;h6b5b3f776f01fd4e_13_167"/>
          <p:cNvSpPr txBox="1"/>
          <p:nvPr/>
        </p:nvSpPr>
        <p:spPr>
          <a:xfrm>
            <a:off x="622300" y="4241800"/>
            <a:ext cx="177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17" name="Google Shape;617;h6b5b3f776f01fd4e_13_167"/>
          <p:cNvSpPr txBox="1"/>
          <p:nvPr/>
        </p:nvSpPr>
        <p:spPr>
          <a:xfrm>
            <a:off x="876300" y="4241800"/>
            <a:ext cx="507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High a nálezy knihoven: náprava do 30 dnů</a:t>
            </a:r>
            <a:endParaRPr/>
          </a:p>
        </p:txBody>
      </p:sp>
      <p:sp>
        <p:nvSpPr>
          <p:cNvPr id="618" name="Google Shape;618;h6b5b3f776f01fd4e_13_167"/>
          <p:cNvSpPr txBox="1"/>
          <p:nvPr/>
        </p:nvSpPr>
        <p:spPr>
          <a:xfrm>
            <a:off x="622300" y="4673600"/>
            <a:ext cx="177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19" name="Google Shape;619;h6b5b3f776f01fd4e_13_167"/>
          <p:cNvSpPr txBox="1"/>
          <p:nvPr/>
        </p:nvSpPr>
        <p:spPr>
          <a:xfrm>
            <a:off x="876300" y="4673600"/>
            <a:ext cx="507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Go-live: bez Wiz findings Critical a issues Critical a High</a:t>
            </a:r>
            <a:endParaRPr/>
          </a:p>
        </p:txBody>
      </p:sp>
      <p:sp>
        <p:nvSpPr>
          <p:cNvPr id="620" name="Google Shape;620;h6b5b3f776f01fd4e_13_167"/>
          <p:cNvSpPr txBox="1"/>
          <p:nvPr/>
        </p:nvSpPr>
        <p:spPr>
          <a:xfrm>
            <a:off x="622300" y="5105400"/>
            <a:ext cx="177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21" name="Google Shape;621;h6b5b3f776f01fd4e_13_167"/>
          <p:cNvSpPr txBox="1"/>
          <p:nvPr/>
        </p:nvSpPr>
        <p:spPr>
          <a:xfrm>
            <a:off x="876300" y="5105400"/>
            <a:ext cx="507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Nová knihovna jen po čistém skenu Wiz (Q&amp;A 185)</a:t>
            </a:r>
            <a:endParaRPr/>
          </a:p>
        </p:txBody>
      </p:sp>
      <p:sp>
        <p:nvSpPr>
          <p:cNvPr id="622" name="Google Shape;622;h6b5b3f776f01fd4e_13_167"/>
          <p:cNvSpPr txBox="1"/>
          <p:nvPr/>
        </p:nvSpPr>
        <p:spPr>
          <a:xfrm>
            <a:off x="6223000" y="3454400"/>
            <a:ext cx="5346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Monitoring a alerting</a:t>
            </a:r>
            <a:endParaRPr/>
          </a:p>
        </p:txBody>
      </p:sp>
      <p:sp>
        <p:nvSpPr>
          <p:cNvPr id="623" name="Google Shape;623;h6b5b3f776f01fd4e_13_167"/>
          <p:cNvSpPr txBox="1"/>
          <p:nvPr/>
        </p:nvSpPr>
        <p:spPr>
          <a:xfrm>
            <a:off x="6223000" y="3810000"/>
            <a:ext cx="177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24" name="Google Shape;624;h6b5b3f776f01fd4e_13_167"/>
          <p:cNvSpPr txBox="1"/>
          <p:nvPr/>
        </p:nvSpPr>
        <p:spPr>
          <a:xfrm>
            <a:off x="6477000" y="3810000"/>
            <a:ext cx="507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Více než 5 neúspěšných přihlášení za 10 minut z jedné IP</a:t>
            </a:r>
            <a:endParaRPr/>
          </a:p>
        </p:txBody>
      </p:sp>
      <p:sp>
        <p:nvSpPr>
          <p:cNvPr id="625" name="Google Shape;625;h6b5b3f776f01fd4e_13_167"/>
          <p:cNvSpPr txBox="1"/>
          <p:nvPr/>
        </p:nvSpPr>
        <p:spPr>
          <a:xfrm>
            <a:off x="6223000" y="4241800"/>
            <a:ext cx="177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26" name="Google Shape;626;h6b5b3f776f01fd4e_13_167"/>
          <p:cNvSpPr txBox="1"/>
          <p:nvPr/>
        </p:nvSpPr>
        <p:spPr>
          <a:xfrm>
            <a:off x="6477000" y="4241800"/>
            <a:ext cx="507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Každá admin akce a každá eskalace oprávnění</a:t>
            </a:r>
            <a:endParaRPr/>
          </a:p>
        </p:txBody>
      </p:sp>
      <p:sp>
        <p:nvSpPr>
          <p:cNvPr id="627" name="Google Shape;627;h6b5b3f776f01fd4e_13_167"/>
          <p:cNvSpPr txBox="1"/>
          <p:nvPr/>
        </p:nvSpPr>
        <p:spPr>
          <a:xfrm>
            <a:off x="6223000" y="4673600"/>
            <a:ext cx="177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28" name="Google Shape;628;h6b5b3f776f01fd4e_13_167"/>
          <p:cNvSpPr txBox="1"/>
          <p:nvPr/>
        </p:nvSpPr>
        <p:spPr>
          <a:xfrm>
            <a:off x="6477000" y="4673600"/>
            <a:ext cx="507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Latence p95 nad 2 s nebo error rate nad 1 %</a:t>
            </a:r>
            <a:endParaRPr/>
          </a:p>
        </p:txBody>
      </p:sp>
      <p:sp>
        <p:nvSpPr>
          <p:cNvPr id="629" name="Google Shape;629;h6b5b3f776f01fd4e_13_167"/>
          <p:cNvSpPr txBox="1"/>
          <p:nvPr/>
        </p:nvSpPr>
        <p:spPr>
          <a:xfrm>
            <a:off x="6223000" y="5105400"/>
            <a:ext cx="177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30" name="Google Shape;630;h6b5b3f776f01fd4e_13_167"/>
          <p:cNvSpPr txBox="1"/>
          <p:nvPr/>
        </p:nvSpPr>
        <p:spPr>
          <a:xfrm>
            <a:off x="6477000" y="5105400"/>
            <a:ext cx="507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Azure Monitor a New Relic; alerty přes Azure a SaRA (Q&amp;A 32)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h6b5b3f776f01fd4e_13_204"/>
          <p:cNvSpPr txBox="1"/>
          <p:nvPr/>
        </p:nvSpPr>
        <p:spPr>
          <a:xfrm>
            <a:off x="621792" y="475488"/>
            <a:ext cx="10945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Vymezení odpovědnosti za bezpečnost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h6b5b3f776f01fd4e_13_204"/>
          <p:cNvSpPr txBox="1"/>
          <p:nvPr/>
        </p:nvSpPr>
        <p:spPr>
          <a:xfrm>
            <a:off x="621792" y="1133856"/>
            <a:ext cx="10945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Kdo co dělá — podle odpovědí zadavatele na dotazy 1, 75, 76, 179, 189 a 191.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h6b5b3f776f01fd4e_13_204"/>
          <p:cNvSpPr txBox="1"/>
          <p:nvPr/>
        </p:nvSpPr>
        <p:spPr>
          <a:xfrm>
            <a:off x="411480" y="6419088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h6b5b3f776f01fd4e_13_204"/>
          <p:cNvSpPr txBox="1"/>
          <p:nvPr/>
        </p:nvSpPr>
        <p:spPr>
          <a:xfrm>
            <a:off x="10863072" y="64190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h6b5b3f776f01fd4e_13_204"/>
          <p:cNvSpPr/>
          <p:nvPr/>
        </p:nvSpPr>
        <p:spPr>
          <a:xfrm>
            <a:off x="622300" y="1625600"/>
            <a:ext cx="3479700" cy="4317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h6b5b3f776f01fd4e_13_204"/>
          <p:cNvSpPr txBox="1"/>
          <p:nvPr/>
        </p:nvSpPr>
        <p:spPr>
          <a:xfrm>
            <a:off x="850900" y="1854200"/>
            <a:ext cx="302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E.ON IT</a:t>
            </a:r>
            <a:endParaRPr/>
          </a:p>
        </p:txBody>
      </p:sp>
      <p:sp>
        <p:nvSpPr>
          <p:cNvPr id="641" name="Google Shape;641;h6b5b3f776f01fd4e_13_204"/>
          <p:cNvSpPr txBox="1"/>
          <p:nvPr/>
        </p:nvSpPr>
        <p:spPr>
          <a:xfrm>
            <a:off x="850900" y="23368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42" name="Google Shape;642;h6b5b3f776f01fd4e_13_204"/>
          <p:cNvSpPr txBox="1"/>
          <p:nvPr/>
        </p:nvSpPr>
        <p:spPr>
          <a:xfrm>
            <a:off x="1054100" y="2336800"/>
            <a:ext cx="281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Subskripce, resource groups, VNet a síťové prvky</a:t>
            </a:r>
            <a:endParaRPr/>
          </a:p>
        </p:txBody>
      </p:sp>
      <p:sp>
        <p:nvSpPr>
          <p:cNvPr id="643" name="Google Shape;643;h6b5b3f776f01fd4e_13_204"/>
          <p:cNvSpPr txBox="1"/>
          <p:nvPr/>
        </p:nvSpPr>
        <p:spPr>
          <a:xfrm>
            <a:off x="850900" y="28956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44" name="Google Shape;644;h6b5b3f776f01fd4e_13_204"/>
          <p:cNvSpPr txBox="1"/>
          <p:nvPr/>
        </p:nvSpPr>
        <p:spPr>
          <a:xfrm>
            <a:off x="1054100" y="2895600"/>
            <a:ext cx="28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Konfigurace Cloudflare, WAF a limitů v APIM</a:t>
            </a:r>
            <a:endParaRPr/>
          </a:p>
        </p:txBody>
      </p:sp>
      <p:sp>
        <p:nvSpPr>
          <p:cNvPr id="645" name="Google Shape;645;h6b5b3f776f01fd4e_13_204"/>
          <p:cNvSpPr txBox="1"/>
          <p:nvPr/>
        </p:nvSpPr>
        <p:spPr>
          <a:xfrm>
            <a:off x="850900" y="34544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46" name="Google Shape;646;h6b5b3f776f01fd4e_13_204"/>
          <p:cNvSpPr txBox="1"/>
          <p:nvPr/>
        </p:nvSpPr>
        <p:spPr>
          <a:xfrm>
            <a:off x="1054100" y="3454400"/>
            <a:ext cx="28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Správa certifikátů</a:t>
            </a:r>
            <a:endParaRPr/>
          </a:p>
        </p:txBody>
      </p:sp>
      <p:sp>
        <p:nvSpPr>
          <p:cNvPr id="647" name="Google Shape;647;h6b5b3f776f01fd4e_13_204"/>
          <p:cNvSpPr txBox="1"/>
          <p:nvPr/>
        </p:nvSpPr>
        <p:spPr>
          <a:xfrm>
            <a:off x="850900" y="40132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48" name="Google Shape;648;h6b5b3f776f01fd4e_13_204"/>
          <p:cNvSpPr txBox="1"/>
          <p:nvPr/>
        </p:nvSpPr>
        <p:spPr>
          <a:xfrm>
            <a:off x="1054100" y="4013200"/>
            <a:ext cx="28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Přidělování oprávnění přes PIM</a:t>
            </a:r>
            <a:endParaRPr/>
          </a:p>
        </p:txBody>
      </p:sp>
      <p:sp>
        <p:nvSpPr>
          <p:cNvPr id="649" name="Google Shape;649;h6b5b3f776f01fd4e_13_204"/>
          <p:cNvSpPr txBox="1"/>
          <p:nvPr/>
        </p:nvSpPr>
        <p:spPr>
          <a:xfrm>
            <a:off x="850900" y="45720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50" name="Google Shape;650;h6b5b3f776f01fd4e_13_204"/>
          <p:cNvSpPr txBox="1"/>
          <p:nvPr/>
        </p:nvSpPr>
        <p:spPr>
          <a:xfrm>
            <a:off x="1054100" y="4572000"/>
            <a:ext cx="28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Review při promoci a nasazení do RUN</a:t>
            </a:r>
            <a:endParaRPr/>
          </a:p>
        </p:txBody>
      </p:sp>
      <p:sp>
        <p:nvSpPr>
          <p:cNvPr id="651" name="Google Shape;651;h6b5b3f776f01fd4e_13_204"/>
          <p:cNvSpPr txBox="1"/>
          <p:nvPr/>
        </p:nvSpPr>
        <p:spPr>
          <a:xfrm>
            <a:off x="850900" y="51308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52" name="Google Shape;652;h6b5b3f776f01fd4e_13_204"/>
          <p:cNvSpPr txBox="1"/>
          <p:nvPr/>
        </p:nvSpPr>
        <p:spPr>
          <a:xfrm>
            <a:off x="1054100" y="5130800"/>
            <a:ext cx="28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Monitoring produkčního provozu</a:t>
            </a:r>
            <a:endParaRPr/>
          </a:p>
        </p:txBody>
      </p:sp>
      <p:sp>
        <p:nvSpPr>
          <p:cNvPr id="653" name="Google Shape;653;h6b5b3f776f01fd4e_13_204"/>
          <p:cNvSpPr/>
          <p:nvPr/>
        </p:nvSpPr>
        <p:spPr>
          <a:xfrm>
            <a:off x="4356100" y="1625600"/>
            <a:ext cx="3479700" cy="4317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h6b5b3f776f01fd4e_13_204"/>
          <p:cNvSpPr txBox="1"/>
          <p:nvPr/>
        </p:nvSpPr>
        <p:spPr>
          <a:xfrm>
            <a:off x="4584700" y="1854200"/>
            <a:ext cx="302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/>
          </a:p>
        </p:txBody>
      </p:sp>
      <p:sp>
        <p:nvSpPr>
          <p:cNvPr id="655" name="Google Shape;655;h6b5b3f776f01fd4e_13_204"/>
          <p:cNvSpPr txBox="1"/>
          <p:nvPr/>
        </p:nvSpPr>
        <p:spPr>
          <a:xfrm>
            <a:off x="4584700" y="23368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56" name="Google Shape;656;h6b5b3f776f01fd4e_13_204"/>
          <p:cNvSpPr txBox="1"/>
          <p:nvPr/>
        </p:nvSpPr>
        <p:spPr>
          <a:xfrm>
            <a:off x="4787900" y="2336800"/>
            <a:ext cx="281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Terraform pro ostatní projektové zdroje, vždy po schválení E.ON IT</a:t>
            </a:r>
            <a:endParaRPr/>
          </a:p>
        </p:txBody>
      </p:sp>
      <p:sp>
        <p:nvSpPr>
          <p:cNvPr id="657" name="Google Shape;657;h6b5b3f776f01fd4e_13_204"/>
          <p:cNvSpPr txBox="1"/>
          <p:nvPr/>
        </p:nvSpPr>
        <p:spPr>
          <a:xfrm>
            <a:off x="4584700" y="28956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58" name="Google Shape;658;h6b5b3f776f01fd4e_13_204"/>
          <p:cNvSpPr txBox="1"/>
          <p:nvPr/>
        </p:nvSpPr>
        <p:spPr>
          <a:xfrm>
            <a:off x="4787900" y="2895600"/>
            <a:ext cx="28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Bezpečná pipeline a quality gates</a:t>
            </a:r>
            <a:endParaRPr/>
          </a:p>
        </p:txBody>
      </p:sp>
      <p:sp>
        <p:nvSpPr>
          <p:cNvPr id="659" name="Google Shape;659;h6b5b3f776f01fd4e_13_204"/>
          <p:cNvSpPr txBox="1"/>
          <p:nvPr/>
        </p:nvSpPr>
        <p:spPr>
          <a:xfrm>
            <a:off x="4584700" y="34544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60" name="Google Shape;660;h6b5b3f776f01fd4e_13_204"/>
          <p:cNvSpPr txBox="1"/>
          <p:nvPr/>
        </p:nvSpPr>
        <p:spPr>
          <a:xfrm>
            <a:off x="4787900" y="3454400"/>
            <a:ext cx="28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Threat modely komponent</a:t>
            </a:r>
            <a:endParaRPr/>
          </a:p>
        </p:txBody>
      </p:sp>
      <p:sp>
        <p:nvSpPr>
          <p:cNvPr id="661" name="Google Shape;661;h6b5b3f776f01fd4e_13_204"/>
          <p:cNvSpPr txBox="1"/>
          <p:nvPr/>
        </p:nvSpPr>
        <p:spPr>
          <a:xfrm>
            <a:off x="4584700" y="40132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62" name="Google Shape;662;h6b5b3f776f01fd4e_13_204"/>
          <p:cNvSpPr txBox="1"/>
          <p:nvPr/>
        </p:nvSpPr>
        <p:spPr>
          <a:xfrm>
            <a:off x="4787900" y="4013200"/>
            <a:ext cx="28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Náprava zranitelností v lhůtách CSD-10</a:t>
            </a:r>
            <a:endParaRPr/>
          </a:p>
        </p:txBody>
      </p:sp>
      <p:sp>
        <p:nvSpPr>
          <p:cNvPr id="663" name="Google Shape;663;h6b5b3f776f01fd4e_13_204"/>
          <p:cNvSpPr txBox="1"/>
          <p:nvPr/>
        </p:nvSpPr>
        <p:spPr>
          <a:xfrm>
            <a:off x="4584700" y="45720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64" name="Google Shape;664;h6b5b3f776f01fd4e_13_204"/>
          <p:cNvSpPr txBox="1"/>
          <p:nvPr/>
        </p:nvSpPr>
        <p:spPr>
          <a:xfrm>
            <a:off x="4787900" y="4572000"/>
            <a:ext cx="28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Podklady pro pravidla WAF a Cloudflare</a:t>
            </a:r>
            <a:endParaRPr/>
          </a:p>
        </p:txBody>
      </p:sp>
      <p:sp>
        <p:nvSpPr>
          <p:cNvPr id="665" name="Google Shape;665;h6b5b3f776f01fd4e_13_204"/>
          <p:cNvSpPr txBox="1"/>
          <p:nvPr/>
        </p:nvSpPr>
        <p:spPr>
          <a:xfrm>
            <a:off x="4584700" y="51308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66" name="Google Shape;666;h6b5b3f776f01fd4e_13_204"/>
          <p:cNvSpPr txBox="1"/>
          <p:nvPr/>
        </p:nvSpPr>
        <p:spPr>
          <a:xfrm>
            <a:off x="4787900" y="5130800"/>
            <a:ext cx="28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Nastavení logování a alertů, dokumentace</a:t>
            </a:r>
            <a:endParaRPr/>
          </a:p>
        </p:txBody>
      </p:sp>
      <p:sp>
        <p:nvSpPr>
          <p:cNvPr id="667" name="Google Shape;667;h6b5b3f776f01fd4e_13_204"/>
          <p:cNvSpPr/>
          <p:nvPr/>
        </p:nvSpPr>
        <p:spPr>
          <a:xfrm>
            <a:off x="8089900" y="1625600"/>
            <a:ext cx="3479700" cy="4317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h6b5b3f776f01fd4e_13_204"/>
          <p:cNvSpPr txBox="1"/>
          <p:nvPr/>
        </p:nvSpPr>
        <p:spPr>
          <a:xfrm>
            <a:off x="8318500" y="1854200"/>
            <a:ext cx="302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Společně</a:t>
            </a:r>
            <a:endParaRPr/>
          </a:p>
        </p:txBody>
      </p:sp>
      <p:sp>
        <p:nvSpPr>
          <p:cNvPr id="669" name="Google Shape;669;h6b5b3f776f01fd4e_13_204"/>
          <p:cNvSpPr txBox="1"/>
          <p:nvPr/>
        </p:nvSpPr>
        <p:spPr>
          <a:xfrm>
            <a:off x="8318500" y="23368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70" name="Google Shape;670;h6b5b3f776f01fd4e_13_204"/>
          <p:cNvSpPr txBox="1"/>
          <p:nvPr/>
        </p:nvSpPr>
        <p:spPr>
          <a:xfrm>
            <a:off x="8521700" y="2336800"/>
            <a:ext cx="281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Registrace aplikace v SaRA a role pro admin portál</a:t>
            </a:r>
            <a:endParaRPr/>
          </a:p>
        </p:txBody>
      </p:sp>
      <p:sp>
        <p:nvSpPr>
          <p:cNvPr id="671" name="Google Shape;671;h6b5b3f776f01fd4e_13_204"/>
          <p:cNvSpPr txBox="1"/>
          <p:nvPr/>
        </p:nvSpPr>
        <p:spPr>
          <a:xfrm>
            <a:off x="8318500" y="28956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72" name="Google Shape;672;h6b5b3f776f01fd4e_13_204"/>
          <p:cNvSpPr txBox="1"/>
          <p:nvPr/>
        </p:nvSpPr>
        <p:spPr>
          <a:xfrm>
            <a:off x="8521700" y="2895600"/>
            <a:ext cx="28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Diagnostika a řešení bezpečnostních incidentů</a:t>
            </a:r>
            <a:endParaRPr/>
          </a:p>
        </p:txBody>
      </p:sp>
      <p:sp>
        <p:nvSpPr>
          <p:cNvPr id="673" name="Google Shape;673;h6b5b3f776f01fd4e_13_204"/>
          <p:cNvSpPr txBox="1"/>
          <p:nvPr/>
        </p:nvSpPr>
        <p:spPr>
          <a:xfrm>
            <a:off x="8318500" y="34544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74" name="Google Shape;674;h6b5b3f776f01fd4e_13_204"/>
          <p:cNvSpPr txBox="1"/>
          <p:nvPr/>
        </p:nvSpPr>
        <p:spPr>
          <a:xfrm>
            <a:off x="8521700" y="3454400"/>
            <a:ext cx="28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Kvartální access review</a:t>
            </a:r>
            <a:endParaRPr/>
          </a:p>
        </p:txBody>
      </p:sp>
      <p:sp>
        <p:nvSpPr>
          <p:cNvPr id="675" name="Google Shape;675;h6b5b3f776f01fd4e_13_204"/>
          <p:cNvSpPr txBox="1"/>
          <p:nvPr/>
        </p:nvSpPr>
        <p:spPr>
          <a:xfrm>
            <a:off x="8318500" y="40132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76" name="Google Shape;676;h6b5b3f776f01fd4e_13_204"/>
          <p:cNvSpPr txBox="1"/>
          <p:nvPr/>
        </p:nvSpPr>
        <p:spPr>
          <a:xfrm>
            <a:off x="8521700" y="4013200"/>
            <a:ext cx="281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Ověření ročních dat na QAS a jejich povýšení do RUN</a:t>
            </a:r>
            <a:endParaRPr/>
          </a:p>
        </p:txBody>
      </p:sp>
      <p:sp>
        <p:nvSpPr>
          <p:cNvPr id="677" name="Google Shape;677;h6b5b3f776f01fd4e_13_204"/>
          <p:cNvSpPr txBox="1"/>
          <p:nvPr/>
        </p:nvSpPr>
        <p:spPr>
          <a:xfrm>
            <a:off x="8318500" y="4572000"/>
            <a:ext cx="15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678" name="Google Shape;678;h6b5b3f776f01fd4e_13_204"/>
          <p:cNvSpPr txBox="1"/>
          <p:nvPr/>
        </p:nvSpPr>
        <p:spPr>
          <a:xfrm>
            <a:off x="8521700" y="4572000"/>
            <a:ext cx="28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Bezpečnostní akceptace před go-live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h56367c99c7dc0982_0_0"/>
          <p:cNvSpPr txBox="1"/>
          <p:nvPr/>
        </p:nvSpPr>
        <p:spPr>
          <a:xfrm>
            <a:off x="621792" y="475488"/>
            <a:ext cx="10945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a oprávnění v administraci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h56367c99c7dc0982_0_0"/>
          <p:cNvSpPr txBox="1"/>
          <p:nvPr/>
        </p:nvSpPr>
        <p:spPr>
          <a:xfrm>
            <a:off x="621792" y="1133856"/>
            <a:ext cx="10945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Veřejný web je anonymní. Role existují jen v interním admin portálu, přihlášení výhradně přes SaRA.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h56367c99c7dc0982_0_0"/>
          <p:cNvSpPr txBox="1"/>
          <p:nvPr/>
        </p:nvSpPr>
        <p:spPr>
          <a:xfrm>
            <a:off x="411480" y="6419088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h56367c99c7dc0982_0_0"/>
          <p:cNvSpPr txBox="1"/>
          <p:nvPr/>
        </p:nvSpPr>
        <p:spPr>
          <a:xfrm>
            <a:off x="10863072" y="64190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h56367c99c7dc0982_0_0"/>
          <p:cNvSpPr/>
          <p:nvPr/>
        </p:nvSpPr>
        <p:spPr>
          <a:xfrm>
            <a:off x="622300" y="1625600"/>
            <a:ext cx="3479700" cy="939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h56367c99c7dc0982_0_0"/>
          <p:cNvSpPr txBox="1"/>
          <p:nvPr/>
        </p:nvSpPr>
        <p:spPr>
          <a:xfrm>
            <a:off x="825500" y="1625600"/>
            <a:ext cx="30735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  </a:t>
            </a:r>
            <a:r>
              <a:rPr b="1" i="0" lang="en-US" sz="10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Tým Vorian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DEV naplno, QAS omezeně, do RUN nikdy</a:t>
            </a:r>
            <a:endParaRPr/>
          </a:p>
        </p:txBody>
      </p:sp>
      <p:sp>
        <p:nvSpPr>
          <p:cNvPr id="689" name="Google Shape;689;h56367c99c7dc0982_0_0"/>
          <p:cNvSpPr/>
          <p:nvPr/>
        </p:nvSpPr>
        <p:spPr>
          <a:xfrm>
            <a:off x="4356100" y="1625600"/>
            <a:ext cx="3479700" cy="939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h56367c99c7dc0982_0_0"/>
          <p:cNvSpPr txBox="1"/>
          <p:nvPr/>
        </p:nvSpPr>
        <p:spPr>
          <a:xfrm>
            <a:off x="4559300" y="1625600"/>
            <a:ext cx="30735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  </a:t>
            </a:r>
            <a:r>
              <a:rPr b="1" i="0" lang="en-US" sz="10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EG.D byznys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Reporty, roční data, žádost o převod do RUN</a:t>
            </a:r>
            <a:endParaRPr/>
          </a:p>
        </p:txBody>
      </p:sp>
      <p:sp>
        <p:nvSpPr>
          <p:cNvPr id="691" name="Google Shape;691;h56367c99c7dc0982_0_0"/>
          <p:cNvSpPr/>
          <p:nvPr/>
        </p:nvSpPr>
        <p:spPr>
          <a:xfrm>
            <a:off x="8089900" y="1625600"/>
            <a:ext cx="3479700" cy="939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h56367c99c7dc0982_0_0"/>
          <p:cNvSpPr txBox="1"/>
          <p:nvPr/>
        </p:nvSpPr>
        <p:spPr>
          <a:xfrm>
            <a:off x="8293100" y="1625600"/>
            <a:ext cx="30735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 admin  </a:t>
            </a:r>
            <a:r>
              <a:rPr b="1" i="0" lang="en-US" sz="10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E.ON 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Provoz, re-trigger jobů, převod dat a nasazení do RUN</a:t>
            </a:r>
            <a:endParaRPr/>
          </a:p>
        </p:txBody>
      </p:sp>
      <p:sp>
        <p:nvSpPr>
          <p:cNvPr id="693" name="Google Shape;693;h56367c99c7dc0982_0_0"/>
          <p:cNvSpPr txBox="1"/>
          <p:nvPr/>
        </p:nvSpPr>
        <p:spPr>
          <a:xfrm>
            <a:off x="622300" y="2768600"/>
            <a:ext cx="4089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Funkce</a:t>
            </a:r>
            <a:endParaRPr/>
          </a:p>
        </p:txBody>
      </p:sp>
      <p:sp>
        <p:nvSpPr>
          <p:cNvPr id="694" name="Google Shape;694;h56367c99c7dc0982_0_0"/>
          <p:cNvSpPr txBox="1"/>
          <p:nvPr/>
        </p:nvSpPr>
        <p:spPr>
          <a:xfrm>
            <a:off x="4838700" y="2768600"/>
            <a:ext cx="2159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/>
          </a:p>
        </p:txBody>
      </p:sp>
      <p:sp>
        <p:nvSpPr>
          <p:cNvPr id="695" name="Google Shape;695;h56367c99c7dc0982_0_0"/>
          <p:cNvSpPr txBox="1"/>
          <p:nvPr/>
        </p:nvSpPr>
        <p:spPr>
          <a:xfrm>
            <a:off x="7124700" y="2768600"/>
            <a:ext cx="2159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696" name="Google Shape;696;h56367c99c7dc0982_0_0"/>
          <p:cNvSpPr txBox="1"/>
          <p:nvPr/>
        </p:nvSpPr>
        <p:spPr>
          <a:xfrm>
            <a:off x="9410700" y="2768600"/>
            <a:ext cx="2159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Super admin</a:t>
            </a:r>
            <a:endParaRPr/>
          </a:p>
        </p:txBody>
      </p:sp>
      <p:cxnSp>
        <p:nvCxnSpPr>
          <p:cNvPr id="697" name="Google Shape;697;h56367c99c7dc0982_0_0"/>
          <p:cNvCxnSpPr/>
          <p:nvPr/>
        </p:nvCxnSpPr>
        <p:spPr>
          <a:xfrm>
            <a:off x="622300" y="300990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8" name="Google Shape;698;h56367c99c7dc0982_0_0"/>
          <p:cNvSpPr txBox="1"/>
          <p:nvPr/>
        </p:nvSpPr>
        <p:spPr>
          <a:xfrm>
            <a:off x="622300" y="3086100"/>
            <a:ext cx="4089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Přehled stavu stahování dat</a:t>
            </a:r>
            <a:endParaRPr/>
          </a:p>
        </p:txBody>
      </p:sp>
      <p:sp>
        <p:nvSpPr>
          <p:cNvPr id="699" name="Google Shape;699;h56367c99c7dc0982_0_0"/>
          <p:cNvSpPr txBox="1"/>
          <p:nvPr/>
        </p:nvSpPr>
        <p:spPr>
          <a:xfrm>
            <a:off x="4838700" y="30861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jen DEV / QAS</a:t>
            </a:r>
            <a:endParaRPr/>
          </a:p>
        </p:txBody>
      </p:sp>
      <p:sp>
        <p:nvSpPr>
          <p:cNvPr id="700" name="Google Shape;700;h56367c99c7dc0982_0_0"/>
          <p:cNvSpPr txBox="1"/>
          <p:nvPr/>
        </p:nvSpPr>
        <p:spPr>
          <a:xfrm>
            <a:off x="7124700" y="30861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01" name="Google Shape;701;h56367c99c7dc0982_0_0"/>
          <p:cNvSpPr txBox="1"/>
          <p:nvPr/>
        </p:nvSpPr>
        <p:spPr>
          <a:xfrm>
            <a:off x="9410700" y="30861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cxnSp>
        <p:nvCxnSpPr>
          <p:cNvPr id="702" name="Google Shape;702;h56367c99c7dc0982_0_0"/>
          <p:cNvCxnSpPr/>
          <p:nvPr/>
        </p:nvCxnSpPr>
        <p:spPr>
          <a:xfrm>
            <a:off x="622300" y="343535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3" name="Google Shape;703;h56367c99c7dc0982_0_0"/>
          <p:cNvSpPr txBox="1"/>
          <p:nvPr/>
        </p:nvSpPr>
        <p:spPr>
          <a:xfrm>
            <a:off x="622300" y="3454400"/>
            <a:ext cx="4089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Ruční re-trigger neúspěšného jobu</a:t>
            </a:r>
            <a:endParaRPr/>
          </a:p>
        </p:txBody>
      </p:sp>
      <p:sp>
        <p:nvSpPr>
          <p:cNvPr id="704" name="Google Shape;704;h56367c99c7dc0982_0_0"/>
          <p:cNvSpPr txBox="1"/>
          <p:nvPr/>
        </p:nvSpPr>
        <p:spPr>
          <a:xfrm>
            <a:off x="4838700" y="34544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jen DEV / QAS</a:t>
            </a:r>
            <a:endParaRPr/>
          </a:p>
        </p:txBody>
      </p:sp>
      <p:sp>
        <p:nvSpPr>
          <p:cNvPr id="705" name="Google Shape;705;h56367c99c7dc0982_0_0"/>
          <p:cNvSpPr txBox="1"/>
          <p:nvPr/>
        </p:nvSpPr>
        <p:spPr>
          <a:xfrm>
            <a:off x="7124700" y="34544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/>
          </a:p>
        </p:txBody>
      </p:sp>
      <p:sp>
        <p:nvSpPr>
          <p:cNvPr id="706" name="Google Shape;706;h56367c99c7dc0982_0_0"/>
          <p:cNvSpPr txBox="1"/>
          <p:nvPr/>
        </p:nvSpPr>
        <p:spPr>
          <a:xfrm>
            <a:off x="9410700" y="34544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✓ s důvodem</a:t>
            </a:r>
            <a:endParaRPr/>
          </a:p>
        </p:txBody>
      </p:sp>
      <p:cxnSp>
        <p:nvCxnSpPr>
          <p:cNvPr id="707" name="Google Shape;707;h56367c99c7dc0982_0_0"/>
          <p:cNvCxnSpPr/>
          <p:nvPr/>
        </p:nvCxnSpPr>
        <p:spPr>
          <a:xfrm>
            <a:off x="622300" y="380365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8" name="Google Shape;708;h56367c99c7dc0982_0_0"/>
          <p:cNvSpPr txBox="1"/>
          <p:nvPr/>
        </p:nvSpPr>
        <p:spPr>
          <a:xfrm>
            <a:off x="622300" y="3822700"/>
            <a:ext cx="4089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Nahrání ročních dat MPO, ČSÚ, ERÚ</a:t>
            </a:r>
            <a:endParaRPr/>
          </a:p>
        </p:txBody>
      </p:sp>
      <p:sp>
        <p:nvSpPr>
          <p:cNvPr id="709" name="Google Shape;709;h56367c99c7dc0982_0_0"/>
          <p:cNvSpPr txBox="1"/>
          <p:nvPr/>
        </p:nvSpPr>
        <p:spPr>
          <a:xfrm>
            <a:off x="4838700" y="38227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jen DEV / QAS</a:t>
            </a:r>
            <a:endParaRPr/>
          </a:p>
        </p:txBody>
      </p:sp>
      <p:sp>
        <p:nvSpPr>
          <p:cNvPr id="710" name="Google Shape;710;h56367c99c7dc0982_0_0"/>
          <p:cNvSpPr txBox="1"/>
          <p:nvPr/>
        </p:nvSpPr>
        <p:spPr>
          <a:xfrm>
            <a:off x="7124700" y="38227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✓ do QAS</a:t>
            </a:r>
            <a:endParaRPr/>
          </a:p>
        </p:txBody>
      </p:sp>
      <p:sp>
        <p:nvSpPr>
          <p:cNvPr id="711" name="Google Shape;711;h56367c99c7dc0982_0_0"/>
          <p:cNvSpPr txBox="1"/>
          <p:nvPr/>
        </p:nvSpPr>
        <p:spPr>
          <a:xfrm>
            <a:off x="9410700" y="38227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✓ do QAS</a:t>
            </a:r>
            <a:endParaRPr/>
          </a:p>
        </p:txBody>
      </p:sp>
      <p:cxnSp>
        <p:nvCxnSpPr>
          <p:cNvPr id="712" name="Google Shape;712;h56367c99c7dc0982_0_0"/>
          <p:cNvCxnSpPr/>
          <p:nvPr/>
        </p:nvCxnSpPr>
        <p:spPr>
          <a:xfrm>
            <a:off x="622300" y="417195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3" name="Google Shape;713;h56367c99c7dc0982_0_0"/>
          <p:cNvSpPr txBox="1"/>
          <p:nvPr/>
        </p:nvSpPr>
        <p:spPr>
          <a:xfrm>
            <a:off x="622300" y="4191000"/>
            <a:ext cx="4089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Převod ročních dat z QAS do RUN</a:t>
            </a:r>
            <a:endParaRPr/>
          </a:p>
        </p:txBody>
      </p:sp>
      <p:sp>
        <p:nvSpPr>
          <p:cNvPr id="714" name="Google Shape;714;h56367c99c7dc0982_0_0"/>
          <p:cNvSpPr txBox="1"/>
          <p:nvPr/>
        </p:nvSpPr>
        <p:spPr>
          <a:xfrm>
            <a:off x="4838700" y="41910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/>
          </a:p>
        </p:txBody>
      </p:sp>
      <p:sp>
        <p:nvSpPr>
          <p:cNvPr id="715" name="Google Shape;715;h56367c99c7dc0982_0_0"/>
          <p:cNvSpPr txBox="1"/>
          <p:nvPr/>
        </p:nvSpPr>
        <p:spPr>
          <a:xfrm>
            <a:off x="7124700" y="41910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žádost</a:t>
            </a:r>
            <a:endParaRPr/>
          </a:p>
        </p:txBody>
      </p:sp>
      <p:sp>
        <p:nvSpPr>
          <p:cNvPr id="716" name="Google Shape;716;h56367c99c7dc0982_0_0"/>
          <p:cNvSpPr txBox="1"/>
          <p:nvPr/>
        </p:nvSpPr>
        <p:spPr>
          <a:xfrm>
            <a:off x="9410700" y="41910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provedení (jiná osoba)</a:t>
            </a:r>
            <a:endParaRPr/>
          </a:p>
        </p:txBody>
      </p:sp>
      <p:cxnSp>
        <p:nvCxnSpPr>
          <p:cNvPr id="717" name="Google Shape;717;h56367c99c7dc0982_0_0"/>
          <p:cNvCxnSpPr/>
          <p:nvPr/>
        </p:nvCxnSpPr>
        <p:spPr>
          <a:xfrm>
            <a:off x="622300" y="454025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8" name="Google Shape;718;h56367c99c7dc0982_0_0"/>
          <p:cNvSpPr txBox="1"/>
          <p:nvPr/>
        </p:nvSpPr>
        <p:spPr>
          <a:xfrm>
            <a:off x="622300" y="4559300"/>
            <a:ext cx="4089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Audit log manuálních akcí</a:t>
            </a:r>
            <a:endParaRPr/>
          </a:p>
        </p:txBody>
      </p:sp>
      <p:sp>
        <p:nvSpPr>
          <p:cNvPr id="719" name="Google Shape;719;h56367c99c7dc0982_0_0"/>
          <p:cNvSpPr txBox="1"/>
          <p:nvPr/>
        </p:nvSpPr>
        <p:spPr>
          <a:xfrm>
            <a:off x="4838700" y="45593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čtení DEV / QAS</a:t>
            </a:r>
            <a:endParaRPr/>
          </a:p>
        </p:txBody>
      </p:sp>
      <p:sp>
        <p:nvSpPr>
          <p:cNvPr id="720" name="Google Shape;720;h56367c99c7dc0982_0_0"/>
          <p:cNvSpPr txBox="1"/>
          <p:nvPr/>
        </p:nvSpPr>
        <p:spPr>
          <a:xfrm>
            <a:off x="7124700" y="45593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čtení</a:t>
            </a:r>
            <a:endParaRPr/>
          </a:p>
        </p:txBody>
      </p:sp>
      <p:sp>
        <p:nvSpPr>
          <p:cNvPr id="721" name="Google Shape;721;h56367c99c7dc0982_0_0"/>
          <p:cNvSpPr txBox="1"/>
          <p:nvPr/>
        </p:nvSpPr>
        <p:spPr>
          <a:xfrm>
            <a:off x="9410700" y="45593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čtení (úpravy nikdo)</a:t>
            </a:r>
            <a:endParaRPr/>
          </a:p>
        </p:txBody>
      </p:sp>
      <p:cxnSp>
        <p:nvCxnSpPr>
          <p:cNvPr id="722" name="Google Shape;722;h56367c99c7dc0982_0_0"/>
          <p:cNvCxnSpPr/>
          <p:nvPr/>
        </p:nvCxnSpPr>
        <p:spPr>
          <a:xfrm>
            <a:off x="622300" y="490855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3" name="Google Shape;723;h56367c99c7dc0982_0_0"/>
          <p:cNvSpPr txBox="1"/>
          <p:nvPr/>
        </p:nvSpPr>
        <p:spPr>
          <a:xfrm>
            <a:off x="622300" y="4927600"/>
            <a:ext cx="4089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Přidělení a odebrání rolí</a:t>
            </a:r>
            <a:endParaRPr/>
          </a:p>
        </p:txBody>
      </p:sp>
      <p:sp>
        <p:nvSpPr>
          <p:cNvPr id="724" name="Google Shape;724;h56367c99c7dc0982_0_0"/>
          <p:cNvSpPr txBox="1"/>
          <p:nvPr/>
        </p:nvSpPr>
        <p:spPr>
          <a:xfrm>
            <a:off x="4838700" y="49276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/>
          </a:p>
        </p:txBody>
      </p:sp>
      <p:sp>
        <p:nvSpPr>
          <p:cNvPr id="725" name="Google Shape;725;h56367c99c7dc0982_0_0"/>
          <p:cNvSpPr txBox="1"/>
          <p:nvPr/>
        </p:nvSpPr>
        <p:spPr>
          <a:xfrm>
            <a:off x="7124700" y="49276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/>
          </a:p>
        </p:txBody>
      </p:sp>
      <p:sp>
        <p:nvSpPr>
          <p:cNvPr id="726" name="Google Shape;726;h56367c99c7dc0982_0_0"/>
          <p:cNvSpPr txBox="1"/>
          <p:nvPr/>
        </p:nvSpPr>
        <p:spPr>
          <a:xfrm>
            <a:off x="9410700" y="49276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 SaRA, ne v aplikaci</a:t>
            </a:r>
            <a:endParaRPr/>
          </a:p>
        </p:txBody>
      </p:sp>
      <p:cxnSp>
        <p:nvCxnSpPr>
          <p:cNvPr id="727" name="Google Shape;727;h56367c99c7dc0982_0_0"/>
          <p:cNvCxnSpPr/>
          <p:nvPr/>
        </p:nvCxnSpPr>
        <p:spPr>
          <a:xfrm>
            <a:off x="622300" y="527685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8" name="Google Shape;728;h56367c99c7dc0982_0_0"/>
          <p:cNvSpPr txBox="1"/>
          <p:nvPr/>
        </p:nvSpPr>
        <p:spPr>
          <a:xfrm>
            <a:off x="622300" y="5295900"/>
            <a:ext cx="4089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Technická konfigurace</a:t>
            </a:r>
            <a:endParaRPr/>
          </a:p>
        </p:txBody>
      </p:sp>
      <p:sp>
        <p:nvSpPr>
          <p:cNvPr id="729" name="Google Shape;729;h56367c99c7dc0982_0_0"/>
          <p:cNvSpPr txBox="1"/>
          <p:nvPr/>
        </p:nvSpPr>
        <p:spPr>
          <a:xfrm>
            <a:off x="4838700" y="52959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jen DEV</a:t>
            </a:r>
            <a:endParaRPr/>
          </a:p>
        </p:txBody>
      </p:sp>
      <p:sp>
        <p:nvSpPr>
          <p:cNvPr id="730" name="Google Shape;730;h56367c99c7dc0982_0_0"/>
          <p:cNvSpPr txBox="1"/>
          <p:nvPr/>
        </p:nvSpPr>
        <p:spPr>
          <a:xfrm>
            <a:off x="7124700" y="52959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/>
          </a:p>
        </p:txBody>
      </p:sp>
      <p:sp>
        <p:nvSpPr>
          <p:cNvPr id="731" name="Google Shape;731;h56367c99c7dc0982_0_0"/>
          <p:cNvSpPr txBox="1"/>
          <p:nvPr/>
        </p:nvSpPr>
        <p:spPr>
          <a:xfrm>
            <a:off x="9410700" y="52959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cxnSp>
        <p:nvCxnSpPr>
          <p:cNvPr id="732" name="Google Shape;732;h56367c99c7dc0982_0_0"/>
          <p:cNvCxnSpPr/>
          <p:nvPr/>
        </p:nvCxnSpPr>
        <p:spPr>
          <a:xfrm>
            <a:off x="622300" y="564515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3" name="Google Shape;733;h56367c99c7dc0982_0_0"/>
          <p:cNvSpPr txBox="1"/>
          <p:nvPr/>
        </p:nvSpPr>
        <p:spPr>
          <a:xfrm>
            <a:off x="622300" y="5664200"/>
            <a:ext cx="4089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Nasazení nové verze do RUN</a:t>
            </a:r>
            <a:endParaRPr/>
          </a:p>
        </p:txBody>
      </p:sp>
      <p:sp>
        <p:nvSpPr>
          <p:cNvPr id="734" name="Google Shape;734;h56367c99c7dc0982_0_0"/>
          <p:cNvSpPr txBox="1"/>
          <p:nvPr/>
        </p:nvSpPr>
        <p:spPr>
          <a:xfrm>
            <a:off x="4838700" y="56642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/>
          </a:p>
        </p:txBody>
      </p:sp>
      <p:sp>
        <p:nvSpPr>
          <p:cNvPr id="735" name="Google Shape;735;h56367c99c7dc0982_0_0"/>
          <p:cNvSpPr txBox="1"/>
          <p:nvPr/>
        </p:nvSpPr>
        <p:spPr>
          <a:xfrm>
            <a:off x="7124700" y="56642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schvaluje</a:t>
            </a:r>
            <a:endParaRPr/>
          </a:p>
        </p:txBody>
      </p:sp>
      <p:sp>
        <p:nvSpPr>
          <p:cNvPr id="736" name="Google Shape;736;h56367c99c7dc0982_0_0"/>
          <p:cNvSpPr txBox="1"/>
          <p:nvPr/>
        </p:nvSpPr>
        <p:spPr>
          <a:xfrm>
            <a:off x="9410700" y="5664200"/>
            <a:ext cx="215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h56367c99c7dc0982_0_57"/>
          <p:cNvSpPr txBox="1"/>
          <p:nvPr/>
        </p:nvSpPr>
        <p:spPr>
          <a:xfrm>
            <a:off x="621792" y="475488"/>
            <a:ext cx="10945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Rozdělení na prostředí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h56367c99c7dc0982_0_57"/>
          <p:cNvSpPr txBox="1"/>
          <p:nvPr/>
        </p:nvSpPr>
        <p:spPr>
          <a:xfrm>
            <a:off x="621792" y="1133856"/>
            <a:ext cx="10945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RUN a QAS jsou infrastrukturně oddělené, DEV běží uvnitř QAS. Do RUN nasazuje a zasahuje výhradně E.ON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h56367c99c7dc0982_0_57"/>
          <p:cNvSpPr txBox="1"/>
          <p:nvPr/>
        </p:nvSpPr>
        <p:spPr>
          <a:xfrm>
            <a:off x="411480" y="6419088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h56367c99c7dc0982_0_57"/>
          <p:cNvSpPr txBox="1"/>
          <p:nvPr/>
        </p:nvSpPr>
        <p:spPr>
          <a:xfrm>
            <a:off x="10863072" y="64190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h56367c99c7dc0982_0_57"/>
          <p:cNvSpPr txBox="1"/>
          <p:nvPr/>
        </p:nvSpPr>
        <p:spPr>
          <a:xfrm>
            <a:off x="622300" y="1625600"/>
            <a:ext cx="190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h56367c99c7dc0982_0_57"/>
          <p:cNvSpPr txBox="1"/>
          <p:nvPr/>
        </p:nvSpPr>
        <p:spPr>
          <a:xfrm>
            <a:off x="2654300" y="1625600"/>
            <a:ext cx="284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</a:t>
            </a:r>
            <a:endParaRPr/>
          </a:p>
        </p:txBody>
      </p:sp>
      <p:sp>
        <p:nvSpPr>
          <p:cNvPr id="747" name="Google Shape;747;h56367c99c7dc0982_0_57"/>
          <p:cNvSpPr txBox="1"/>
          <p:nvPr/>
        </p:nvSpPr>
        <p:spPr>
          <a:xfrm>
            <a:off x="5626100" y="1625600"/>
            <a:ext cx="284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QAS</a:t>
            </a:r>
            <a:endParaRPr/>
          </a:p>
        </p:txBody>
      </p:sp>
      <p:sp>
        <p:nvSpPr>
          <p:cNvPr id="748" name="Google Shape;748;h56367c99c7dc0982_0_57"/>
          <p:cNvSpPr txBox="1"/>
          <p:nvPr/>
        </p:nvSpPr>
        <p:spPr>
          <a:xfrm>
            <a:off x="8597900" y="1625600"/>
            <a:ext cx="2971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endParaRPr/>
          </a:p>
        </p:txBody>
      </p:sp>
      <p:cxnSp>
        <p:nvCxnSpPr>
          <p:cNvPr id="749" name="Google Shape;749;h56367c99c7dc0982_0_57"/>
          <p:cNvCxnSpPr/>
          <p:nvPr/>
        </p:nvCxnSpPr>
        <p:spPr>
          <a:xfrm>
            <a:off x="622300" y="190500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0" name="Google Shape;750;h56367c99c7dc0982_0_57"/>
          <p:cNvSpPr txBox="1"/>
          <p:nvPr/>
        </p:nvSpPr>
        <p:spPr>
          <a:xfrm>
            <a:off x="622300" y="199390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Účel</a:t>
            </a:r>
            <a:endParaRPr/>
          </a:p>
        </p:txBody>
      </p:sp>
      <p:sp>
        <p:nvSpPr>
          <p:cNvPr id="751" name="Google Shape;751;h56367c99c7dc0982_0_57"/>
          <p:cNvSpPr txBox="1"/>
          <p:nvPr/>
        </p:nvSpPr>
        <p:spPr>
          <a:xfrm>
            <a:off x="2654300" y="1993900"/>
            <a:ext cx="284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Vývoj a vývojářské testy</a:t>
            </a:r>
            <a:endParaRPr/>
          </a:p>
        </p:txBody>
      </p:sp>
      <p:sp>
        <p:nvSpPr>
          <p:cNvPr id="752" name="Google Shape;752;h56367c99c7dc0982_0_57"/>
          <p:cNvSpPr txBox="1"/>
          <p:nvPr/>
        </p:nvSpPr>
        <p:spPr>
          <a:xfrm>
            <a:off x="5626100" y="1993900"/>
            <a:ext cx="284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Integrační, zátěžové a akceptační testy; ověření ročních dat</a:t>
            </a:r>
            <a:endParaRPr/>
          </a:p>
        </p:txBody>
      </p:sp>
      <p:sp>
        <p:nvSpPr>
          <p:cNvPr id="753" name="Google Shape;753;h56367c99c7dc0982_0_57"/>
          <p:cNvSpPr txBox="1"/>
          <p:nvPr/>
        </p:nvSpPr>
        <p:spPr>
          <a:xfrm>
            <a:off x="8597900" y="1993900"/>
            <a:ext cx="297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Veřejný provoz</a:t>
            </a:r>
            <a:endParaRPr/>
          </a:p>
        </p:txBody>
      </p:sp>
      <p:cxnSp>
        <p:nvCxnSpPr>
          <p:cNvPr id="754" name="Google Shape;754;h56367c99c7dc0982_0_57"/>
          <p:cNvCxnSpPr/>
          <p:nvPr/>
        </p:nvCxnSpPr>
        <p:spPr>
          <a:xfrm>
            <a:off x="622300" y="246380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5" name="Google Shape;755;h56367c99c7dc0982_0_57"/>
          <p:cNvSpPr txBox="1"/>
          <p:nvPr/>
        </p:nvSpPr>
        <p:spPr>
          <a:xfrm>
            <a:off x="622300" y="250190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756" name="Google Shape;756;h56367c99c7dc0982_0_57"/>
          <p:cNvSpPr txBox="1"/>
          <p:nvPr/>
        </p:nvSpPr>
        <p:spPr>
          <a:xfrm>
            <a:off x="2654300" y="2501900"/>
            <a:ext cx="284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Testovací a anonymizovaná</a:t>
            </a:r>
            <a:endParaRPr/>
          </a:p>
        </p:txBody>
      </p:sp>
      <p:sp>
        <p:nvSpPr>
          <p:cNvPr id="757" name="Google Shape;757;h56367c99c7dc0982_0_57"/>
          <p:cNvSpPr txBox="1"/>
          <p:nvPr/>
        </p:nvSpPr>
        <p:spPr>
          <a:xfrm>
            <a:off x="5626100" y="2501900"/>
            <a:ext cx="284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Testovací; produkční zdroje jen po schválení E.ON</a:t>
            </a:r>
            <a:endParaRPr/>
          </a:p>
        </p:txBody>
      </p:sp>
      <p:sp>
        <p:nvSpPr>
          <p:cNvPr id="758" name="Google Shape;758;h56367c99c7dc0982_0_57"/>
          <p:cNvSpPr txBox="1"/>
          <p:nvPr/>
        </p:nvSpPr>
        <p:spPr>
          <a:xfrm>
            <a:off x="8597900" y="2501900"/>
            <a:ext cx="297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Produkční</a:t>
            </a:r>
            <a:endParaRPr/>
          </a:p>
        </p:txBody>
      </p:sp>
      <p:cxnSp>
        <p:nvCxnSpPr>
          <p:cNvPr id="759" name="Google Shape;759;h56367c99c7dc0982_0_57"/>
          <p:cNvCxnSpPr/>
          <p:nvPr/>
        </p:nvCxnSpPr>
        <p:spPr>
          <a:xfrm>
            <a:off x="622300" y="297180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0" name="Google Shape;760;h56367c99c7dc0982_0_57"/>
          <p:cNvSpPr txBox="1"/>
          <p:nvPr/>
        </p:nvSpPr>
        <p:spPr>
          <a:xfrm>
            <a:off x="622300" y="300990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Kdo nasazuje</a:t>
            </a:r>
            <a:endParaRPr/>
          </a:p>
        </p:txBody>
      </p:sp>
      <p:sp>
        <p:nvSpPr>
          <p:cNvPr id="761" name="Google Shape;761;h56367c99c7dc0982_0_57"/>
          <p:cNvSpPr txBox="1"/>
          <p:nvPr/>
        </p:nvSpPr>
        <p:spPr>
          <a:xfrm>
            <a:off x="2654300" y="3009900"/>
            <a:ext cx="284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Developer sám z GitLabu</a:t>
            </a:r>
            <a:endParaRPr/>
          </a:p>
        </p:txBody>
      </p:sp>
      <p:sp>
        <p:nvSpPr>
          <p:cNvPr id="762" name="Google Shape;762;h56367c99c7dc0982_0_57"/>
          <p:cNvSpPr txBox="1"/>
          <p:nvPr/>
        </p:nvSpPr>
        <p:spPr>
          <a:xfrm>
            <a:off x="5626100" y="3009900"/>
            <a:ext cx="284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GitLab pipeline po review a quality gates</a:t>
            </a:r>
            <a:endParaRPr/>
          </a:p>
        </p:txBody>
      </p:sp>
      <p:sp>
        <p:nvSpPr>
          <p:cNvPr id="763" name="Google Shape;763;h56367c99c7dc0982_0_57"/>
          <p:cNvSpPr txBox="1"/>
          <p:nvPr/>
        </p:nvSpPr>
        <p:spPr>
          <a:xfrm>
            <a:off x="8597900" y="3009900"/>
            <a:ext cx="297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E.ON IT po schválení EG.D</a:t>
            </a:r>
            <a:endParaRPr/>
          </a:p>
        </p:txBody>
      </p:sp>
      <p:cxnSp>
        <p:nvCxnSpPr>
          <p:cNvPr id="764" name="Google Shape;764;h56367c99c7dc0982_0_57"/>
          <p:cNvCxnSpPr/>
          <p:nvPr/>
        </p:nvCxnSpPr>
        <p:spPr>
          <a:xfrm>
            <a:off x="622300" y="347980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5" name="Google Shape;765;h56367c99c7dc0982_0_57"/>
          <p:cNvSpPr txBox="1"/>
          <p:nvPr/>
        </p:nvSpPr>
        <p:spPr>
          <a:xfrm>
            <a:off x="622300" y="351790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/>
          </a:p>
        </p:txBody>
      </p:sp>
      <p:sp>
        <p:nvSpPr>
          <p:cNvPr id="766" name="Google Shape;766;h56367c99c7dc0982_0_57"/>
          <p:cNvSpPr txBox="1"/>
          <p:nvPr/>
        </p:nvSpPr>
        <p:spPr>
          <a:xfrm>
            <a:off x="2654300" y="3517900"/>
            <a:ext cx="284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Contributor přes PIM</a:t>
            </a:r>
            <a:endParaRPr/>
          </a:p>
        </p:txBody>
      </p:sp>
      <p:sp>
        <p:nvSpPr>
          <p:cNvPr id="767" name="Google Shape;767;h56367c99c7dc0982_0_57"/>
          <p:cNvSpPr txBox="1"/>
          <p:nvPr/>
        </p:nvSpPr>
        <p:spPr>
          <a:xfrm>
            <a:off x="5626100" y="3517900"/>
            <a:ext cx="284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Reader, spouštění pipeline</a:t>
            </a:r>
            <a:endParaRPr/>
          </a:p>
        </p:txBody>
      </p:sp>
      <p:sp>
        <p:nvSpPr>
          <p:cNvPr id="768" name="Google Shape;768;h56367c99c7dc0982_0_57"/>
          <p:cNvSpPr txBox="1"/>
          <p:nvPr/>
        </p:nvSpPr>
        <p:spPr>
          <a:xfrm>
            <a:off x="8597900" y="3517900"/>
            <a:ext cx="297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Žádný; logy jen read-only na vyžádání</a:t>
            </a:r>
            <a:endParaRPr/>
          </a:p>
        </p:txBody>
      </p:sp>
      <p:cxnSp>
        <p:nvCxnSpPr>
          <p:cNvPr id="769" name="Google Shape;769;h56367c99c7dc0982_0_57"/>
          <p:cNvCxnSpPr/>
          <p:nvPr/>
        </p:nvCxnSpPr>
        <p:spPr>
          <a:xfrm>
            <a:off x="622300" y="398780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0" name="Google Shape;770;h56367c99c7dc0982_0_57"/>
          <p:cNvSpPr txBox="1"/>
          <p:nvPr/>
        </p:nvSpPr>
        <p:spPr>
          <a:xfrm>
            <a:off x="622300" y="402590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 (EG.D)</a:t>
            </a:r>
            <a:endParaRPr/>
          </a:p>
        </p:txBody>
      </p:sp>
      <p:sp>
        <p:nvSpPr>
          <p:cNvPr id="771" name="Google Shape;771;h56367c99c7dc0982_0_57"/>
          <p:cNvSpPr txBox="1"/>
          <p:nvPr/>
        </p:nvSpPr>
        <p:spPr>
          <a:xfrm>
            <a:off x="2654300" y="4025900"/>
            <a:ext cx="284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/>
          </a:p>
        </p:txBody>
      </p:sp>
      <p:sp>
        <p:nvSpPr>
          <p:cNvPr id="772" name="Google Shape;772;h56367c99c7dc0982_0_57"/>
          <p:cNvSpPr txBox="1"/>
          <p:nvPr/>
        </p:nvSpPr>
        <p:spPr>
          <a:xfrm>
            <a:off x="5626100" y="4025900"/>
            <a:ext cx="284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Admin portál, ověření dat</a:t>
            </a:r>
            <a:endParaRPr/>
          </a:p>
        </p:txBody>
      </p:sp>
      <p:sp>
        <p:nvSpPr>
          <p:cNvPr id="773" name="Google Shape;773;h56367c99c7dc0982_0_57"/>
          <p:cNvSpPr txBox="1"/>
          <p:nvPr/>
        </p:nvSpPr>
        <p:spPr>
          <a:xfrm>
            <a:off x="8597900" y="4025900"/>
            <a:ext cx="297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Admin portál</a:t>
            </a:r>
            <a:endParaRPr/>
          </a:p>
        </p:txBody>
      </p:sp>
      <p:cxnSp>
        <p:nvCxnSpPr>
          <p:cNvPr id="774" name="Google Shape;774;h56367c99c7dc0982_0_57"/>
          <p:cNvCxnSpPr/>
          <p:nvPr/>
        </p:nvCxnSpPr>
        <p:spPr>
          <a:xfrm>
            <a:off x="622300" y="449580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5" name="Google Shape;775;h56367c99c7dc0982_0_57"/>
          <p:cNvSpPr txBox="1"/>
          <p:nvPr/>
        </p:nvSpPr>
        <p:spPr>
          <a:xfrm>
            <a:off x="622300" y="453390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 admin (E.ON IT)</a:t>
            </a:r>
            <a:endParaRPr/>
          </a:p>
        </p:txBody>
      </p:sp>
      <p:sp>
        <p:nvSpPr>
          <p:cNvPr id="776" name="Google Shape;776;h56367c99c7dc0982_0_57"/>
          <p:cNvSpPr txBox="1"/>
          <p:nvPr/>
        </p:nvSpPr>
        <p:spPr>
          <a:xfrm>
            <a:off x="2654300" y="4533900"/>
            <a:ext cx="284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Síť, subskripce, dohled</a:t>
            </a:r>
            <a:endParaRPr/>
          </a:p>
        </p:txBody>
      </p:sp>
      <p:sp>
        <p:nvSpPr>
          <p:cNvPr id="777" name="Google Shape;777;h56367c99c7dc0982_0_57"/>
          <p:cNvSpPr txBox="1"/>
          <p:nvPr/>
        </p:nvSpPr>
        <p:spPr>
          <a:xfrm>
            <a:off x="5626100" y="4533900"/>
            <a:ext cx="284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Plný přístup přes PIM</a:t>
            </a:r>
            <a:endParaRPr/>
          </a:p>
        </p:txBody>
      </p:sp>
      <p:sp>
        <p:nvSpPr>
          <p:cNvPr id="778" name="Google Shape;778;h56367c99c7dc0982_0_57"/>
          <p:cNvSpPr txBox="1"/>
          <p:nvPr/>
        </p:nvSpPr>
        <p:spPr>
          <a:xfrm>
            <a:off x="8597900" y="4533900"/>
            <a:ext cx="297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Plný přístup přes PIM</a:t>
            </a:r>
            <a:endParaRPr/>
          </a:p>
        </p:txBody>
      </p:sp>
      <p:sp>
        <p:nvSpPr>
          <p:cNvPr id="779" name="Google Shape;779;h56367c99c7dc0982_0_57"/>
          <p:cNvSpPr/>
          <p:nvPr/>
        </p:nvSpPr>
        <p:spPr>
          <a:xfrm>
            <a:off x="622300" y="5130800"/>
            <a:ext cx="10947300" cy="812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h56367c99c7dc0982_0_57"/>
          <p:cNvSpPr txBox="1"/>
          <p:nvPr/>
        </p:nvSpPr>
        <p:spPr>
          <a:xfrm>
            <a:off x="876300" y="5130800"/>
            <a:ext cx="1043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Platí všude  </a:t>
            </a: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Přihlášení jen přes SaRA (KID), žádné lokální účty · přístupy do Azure jen přes PIM na max. 8 h · převod dat a nasazení vždy dvě různé osoby · neměnný audit a alert na každou admin akci · kvartální revize přístupů · roční data vždy nejdřív do QAS.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h6b5b3f776f01fd4e_13_251"/>
          <p:cNvSpPr txBox="1"/>
          <p:nvPr/>
        </p:nvSpPr>
        <p:spPr>
          <a:xfrm>
            <a:off x="621792" y="475488"/>
            <a:ext cx="10945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Odchylky od referenční architektury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h6b5b3f776f01fd4e_13_251"/>
          <p:cNvSpPr txBox="1"/>
          <p:nvPr/>
        </p:nvSpPr>
        <p:spPr>
          <a:xfrm>
            <a:off x="621792" y="1133856"/>
            <a:ext cx="10945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Zadavatel architekturu předkládá jako návrh k připomínkám. Tady jsou všechna místa, kde navrhujeme jinak.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h6b5b3f776f01fd4e_13_251"/>
          <p:cNvSpPr txBox="1"/>
          <p:nvPr/>
        </p:nvSpPr>
        <p:spPr>
          <a:xfrm>
            <a:off x="411480" y="6419088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h6b5b3f776f01fd4e_13_251"/>
          <p:cNvSpPr txBox="1"/>
          <p:nvPr/>
        </p:nvSpPr>
        <p:spPr>
          <a:xfrm>
            <a:off x="10863072" y="64190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h6b5b3f776f01fd4e_13_251"/>
          <p:cNvSpPr txBox="1"/>
          <p:nvPr/>
        </p:nvSpPr>
        <p:spPr>
          <a:xfrm>
            <a:off x="622300" y="1625600"/>
            <a:ext cx="14985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Oblast</a:t>
            </a:r>
            <a:endParaRPr/>
          </a:p>
        </p:txBody>
      </p:sp>
      <p:sp>
        <p:nvSpPr>
          <p:cNvPr id="790" name="Google Shape;790;h6b5b3f776f01fd4e_13_251"/>
          <p:cNvSpPr txBox="1"/>
          <p:nvPr/>
        </p:nvSpPr>
        <p:spPr>
          <a:xfrm>
            <a:off x="2247900" y="1625600"/>
            <a:ext cx="294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Referenční návrh zadavatele</a:t>
            </a:r>
            <a:endParaRPr/>
          </a:p>
        </p:txBody>
      </p:sp>
      <p:sp>
        <p:nvSpPr>
          <p:cNvPr id="791" name="Google Shape;791;h6b5b3f776f01fd4e_13_251"/>
          <p:cNvSpPr txBox="1"/>
          <p:nvPr/>
        </p:nvSpPr>
        <p:spPr>
          <a:xfrm>
            <a:off x="5321300" y="1625600"/>
            <a:ext cx="4470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Náš návrh</a:t>
            </a:r>
            <a:endParaRPr/>
          </a:p>
        </p:txBody>
      </p:sp>
      <p:sp>
        <p:nvSpPr>
          <p:cNvPr id="792" name="Google Shape;792;h6b5b3f776f01fd4e_13_251"/>
          <p:cNvSpPr txBox="1"/>
          <p:nvPr/>
        </p:nvSpPr>
        <p:spPr>
          <a:xfrm>
            <a:off x="9918700" y="1625600"/>
            <a:ext cx="1650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Stav</a:t>
            </a:r>
            <a:endParaRPr/>
          </a:p>
        </p:txBody>
      </p:sp>
      <p:cxnSp>
        <p:nvCxnSpPr>
          <p:cNvPr id="793" name="Google Shape;793;h6b5b3f776f01fd4e_13_251"/>
          <p:cNvCxnSpPr/>
          <p:nvPr/>
        </p:nvCxnSpPr>
        <p:spPr>
          <a:xfrm>
            <a:off x="622300" y="186690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4" name="Google Shape;794;h6b5b3f776f01fd4e_13_251"/>
          <p:cNvSpPr txBox="1"/>
          <p:nvPr/>
        </p:nvSpPr>
        <p:spPr>
          <a:xfrm>
            <a:off x="622300" y="1968500"/>
            <a:ext cx="14985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Běhové prostředí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h6b5b3f776f01fd4e_13_251"/>
          <p:cNvSpPr txBox="1"/>
          <p:nvPr/>
        </p:nvSpPr>
        <p:spPr>
          <a:xfrm>
            <a:off x="2247900" y="1968500"/>
            <a:ext cx="2946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Azure Web App for Containers.</a:t>
            </a:r>
            <a:endParaRPr/>
          </a:p>
        </p:txBody>
      </p:sp>
      <p:sp>
        <p:nvSpPr>
          <p:cNvPr id="796" name="Google Shape;796;h6b5b3f776f01fd4e_13_251"/>
          <p:cNvSpPr txBox="1"/>
          <p:nvPr/>
        </p:nvSpPr>
        <p:spPr>
          <a:xfrm>
            <a:off x="5321300" y="1968500"/>
            <a:ext cx="44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Azure Container Apps. Zachováváme kontejnery na PaaS, private endpoints i managed identity; nižší provozní náklady při malém objemu provozu.</a:t>
            </a:r>
            <a:endParaRPr/>
          </a:p>
        </p:txBody>
      </p:sp>
      <p:sp>
        <p:nvSpPr>
          <p:cNvPr id="797" name="Google Shape;797;h6b5b3f776f01fd4e_13_251"/>
          <p:cNvSpPr txBox="1"/>
          <p:nvPr/>
        </p:nvSpPr>
        <p:spPr>
          <a:xfrm>
            <a:off x="9918700" y="1968500"/>
            <a:ext cx="165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 potvrzení v analytické fázi (Q&amp;A 184)</a:t>
            </a:r>
            <a:endParaRPr/>
          </a:p>
        </p:txBody>
      </p:sp>
      <p:cxnSp>
        <p:nvCxnSpPr>
          <p:cNvPr id="798" name="Google Shape;798;h6b5b3f776f01fd4e_13_251"/>
          <p:cNvCxnSpPr/>
          <p:nvPr/>
        </p:nvCxnSpPr>
        <p:spPr>
          <a:xfrm>
            <a:off x="622300" y="271272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9" name="Google Shape;799;h6b5b3f776f01fd4e_13_251"/>
          <p:cNvSpPr txBox="1"/>
          <p:nvPr/>
        </p:nvSpPr>
        <p:spPr>
          <a:xfrm>
            <a:off x="622300" y="2788920"/>
            <a:ext cx="14985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Databáze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h6b5b3f776f01fd4e_13_251"/>
          <p:cNvSpPr txBox="1"/>
          <p:nvPr/>
        </p:nvSpPr>
        <p:spPr>
          <a:xfrm>
            <a:off x="2247900" y="2788920"/>
            <a:ext cx="2946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Azure SQL DB s vypnutou SQL autentizací.</a:t>
            </a:r>
            <a:endParaRPr/>
          </a:p>
        </p:txBody>
      </p:sp>
      <p:sp>
        <p:nvSpPr>
          <p:cNvPr id="801" name="Google Shape;801;h6b5b3f776f01fd4e_13_251"/>
          <p:cNvSpPr txBox="1"/>
          <p:nvPr/>
        </p:nvSpPr>
        <p:spPr>
          <a:xfrm>
            <a:off x="5321300" y="2788920"/>
            <a:ext cx="44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Azure Database for PostgreSQL — Flexible Server s vypnutou autentizací heslem, jen Entra ID.</a:t>
            </a:r>
            <a:endParaRPr/>
          </a:p>
        </p:txBody>
      </p:sp>
      <p:sp>
        <p:nvSpPr>
          <p:cNvPr id="802" name="Google Shape;802;h6b5b3f776f01fd4e_13_251"/>
          <p:cNvSpPr txBox="1"/>
          <p:nvPr/>
        </p:nvSpPr>
        <p:spPr>
          <a:xfrm>
            <a:off x="9918700" y="2788920"/>
            <a:ext cx="1650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Potvrzeno (Q&amp;A 2)</a:t>
            </a:r>
            <a:endParaRPr/>
          </a:p>
        </p:txBody>
      </p:sp>
      <p:cxnSp>
        <p:nvCxnSpPr>
          <p:cNvPr id="803" name="Google Shape;803;h6b5b3f776f01fd4e_13_251"/>
          <p:cNvCxnSpPr/>
          <p:nvPr/>
        </p:nvCxnSpPr>
        <p:spPr>
          <a:xfrm>
            <a:off x="622300" y="353314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4" name="Google Shape;804;h6b5b3f776f01fd4e_13_251"/>
          <p:cNvSpPr txBox="1"/>
          <p:nvPr/>
        </p:nvSpPr>
        <p:spPr>
          <a:xfrm>
            <a:off x="622300" y="3609340"/>
            <a:ext cx="14985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Servírovací vrstva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h6b5b3f776f01fd4e_13_251"/>
          <p:cNvSpPr txBox="1"/>
          <p:nvPr/>
        </p:nvSpPr>
        <p:spPr>
          <a:xfrm>
            <a:off x="2247900" y="3609340"/>
            <a:ext cx="2946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Azure Data Explorer pro časové řady.</a:t>
            </a:r>
            <a:endParaRPr/>
          </a:p>
        </p:txBody>
      </p:sp>
      <p:sp>
        <p:nvSpPr>
          <p:cNvPr id="806" name="Google Shape;806;h6b5b3f776f01fd4e_13_251"/>
          <p:cNvSpPr txBox="1"/>
          <p:nvPr/>
        </p:nvSpPr>
        <p:spPr>
          <a:xfrm>
            <a:off x="5321300" y="3609340"/>
            <a:ext cx="44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ADX nepoužíváme — objem kolem 20 tisíc hodnot denně spolehlivě obslouží PostgreSQL.</a:t>
            </a:r>
            <a:endParaRPr/>
          </a:p>
        </p:txBody>
      </p:sp>
      <p:sp>
        <p:nvSpPr>
          <p:cNvPr id="807" name="Google Shape;807;h6b5b3f776f01fd4e_13_251"/>
          <p:cNvSpPr txBox="1"/>
          <p:nvPr/>
        </p:nvSpPr>
        <p:spPr>
          <a:xfrm>
            <a:off x="9918700" y="3609340"/>
            <a:ext cx="1650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Návrh dodavatele</a:t>
            </a:r>
            <a:endParaRPr/>
          </a:p>
        </p:txBody>
      </p:sp>
      <p:cxnSp>
        <p:nvCxnSpPr>
          <p:cNvPr id="808" name="Google Shape;808;h6b5b3f776f01fd4e_13_251"/>
          <p:cNvCxnSpPr/>
          <p:nvPr/>
        </p:nvCxnSpPr>
        <p:spPr>
          <a:xfrm>
            <a:off x="622300" y="4353559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9" name="Google Shape;809;h6b5b3f776f01fd4e_13_251"/>
          <p:cNvSpPr txBox="1"/>
          <p:nvPr/>
        </p:nvSpPr>
        <p:spPr>
          <a:xfrm>
            <a:off x="622300" y="4429759"/>
            <a:ext cx="14985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Prostředí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h6b5b3f776f01fd4e_13_251"/>
          <p:cNvSpPr txBox="1"/>
          <p:nvPr/>
        </p:nvSpPr>
        <p:spPr>
          <a:xfrm>
            <a:off x="2247900" y="4429759"/>
            <a:ext cx="294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Povinné QAS a RUN; zjednodušený model test + produkce jen po schválení.</a:t>
            </a:r>
            <a:endParaRPr/>
          </a:p>
        </p:txBody>
      </p:sp>
      <p:sp>
        <p:nvSpPr>
          <p:cNvPr id="811" name="Google Shape;811;h6b5b3f776f01fd4e_13_251"/>
          <p:cNvSpPr txBox="1"/>
          <p:nvPr/>
        </p:nvSpPr>
        <p:spPr>
          <a:xfrm>
            <a:off x="5321300" y="4429759"/>
            <a:ext cx="44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Výchozí stav: RUN a QAS plně oddělené. Zjednodušený model nabízíme jen jako možnost, pokud ho E.ON schválí.</a:t>
            </a:r>
            <a:endParaRPr/>
          </a:p>
        </p:txBody>
      </p:sp>
      <p:sp>
        <p:nvSpPr>
          <p:cNvPr id="812" name="Google Shape;812;h6b5b3f776f01fd4e_13_251"/>
          <p:cNvSpPr txBox="1"/>
          <p:nvPr/>
        </p:nvSpPr>
        <p:spPr>
          <a:xfrm>
            <a:off x="9918700" y="4429759"/>
            <a:ext cx="1650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Dle zadání</a:t>
            </a:r>
            <a:endParaRPr/>
          </a:p>
        </p:txBody>
      </p:sp>
      <p:cxnSp>
        <p:nvCxnSpPr>
          <p:cNvPr id="813" name="Google Shape;813;h6b5b3f776f01fd4e_13_251"/>
          <p:cNvCxnSpPr/>
          <p:nvPr/>
        </p:nvCxnSpPr>
        <p:spPr>
          <a:xfrm>
            <a:off x="622300" y="5173980"/>
            <a:ext cx="109473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4" name="Google Shape;814;h6b5b3f776f01fd4e_13_251"/>
          <p:cNvSpPr txBox="1"/>
          <p:nvPr/>
        </p:nvSpPr>
        <p:spPr>
          <a:xfrm>
            <a:off x="622300" y="5250180"/>
            <a:ext cx="14985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Predikce a AI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h6b5b3f776f01fd4e_13_251"/>
          <p:cNvSpPr txBox="1"/>
          <p:nvPr/>
        </p:nvSpPr>
        <p:spPr>
          <a:xfrm>
            <a:off x="2247900" y="5250180"/>
            <a:ext cx="294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Podobu predikčního modelu nechává zadání na dodavateli.</a:t>
            </a:r>
            <a:endParaRPr/>
          </a:p>
        </p:txBody>
      </p:sp>
      <p:sp>
        <p:nvSpPr>
          <p:cNvPr id="816" name="Google Shape;816;h6b5b3f776f01fd4e_13_251"/>
          <p:cNvSpPr txBox="1"/>
          <p:nvPr/>
        </p:nvSpPr>
        <p:spPr>
          <a:xfrm>
            <a:off x="5321300" y="5250180"/>
            <a:ext cx="44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Statistický profilový model v Azure ML, bez AI komponenty v běžícím řešení. AI nástroje používáme jen při vývoji.</a:t>
            </a:r>
            <a:endParaRPr/>
          </a:p>
        </p:txBody>
      </p:sp>
      <p:sp>
        <p:nvSpPr>
          <p:cNvPr id="817" name="Google Shape;817;h6b5b3f776f01fd4e_13_251"/>
          <p:cNvSpPr txBox="1"/>
          <p:nvPr/>
        </p:nvSpPr>
        <p:spPr>
          <a:xfrm>
            <a:off x="9918700" y="5250180"/>
            <a:ext cx="1650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souladu s Q&amp;A 166 a 192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h6b5b3f776f01fd4e_13_287"/>
          <p:cNvSpPr txBox="1"/>
          <p:nvPr/>
        </p:nvSpPr>
        <p:spPr>
          <a:xfrm>
            <a:off x="621792" y="475488"/>
            <a:ext cx="10945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Bezpečnost na straně Vorianu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h6b5b3f776f01fd4e_13_287"/>
          <p:cNvSpPr txBox="1"/>
          <p:nvPr/>
        </p:nvSpPr>
        <p:spPr>
          <a:xfrm>
            <a:off x="621792" y="1133856"/>
            <a:ext cx="10945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Opatření, kterými chráníme přístupy do prostředí E.ON a data zadavatele.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h6b5b3f776f01fd4e_13_287"/>
          <p:cNvSpPr txBox="1"/>
          <p:nvPr/>
        </p:nvSpPr>
        <p:spPr>
          <a:xfrm>
            <a:off x="411480" y="6419088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h6b5b3f776f01fd4e_13_287"/>
          <p:cNvSpPr txBox="1"/>
          <p:nvPr/>
        </p:nvSpPr>
        <p:spPr>
          <a:xfrm>
            <a:off x="10863072" y="64190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h6b5b3f776f01fd4e_13_287"/>
          <p:cNvSpPr txBox="1"/>
          <p:nvPr/>
        </p:nvSpPr>
        <p:spPr>
          <a:xfrm>
            <a:off x="622300" y="1625600"/>
            <a:ext cx="1905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Oblast</a:t>
            </a:r>
            <a:endParaRPr/>
          </a:p>
        </p:txBody>
      </p:sp>
      <p:sp>
        <p:nvSpPr>
          <p:cNvPr id="827" name="Google Shape;827;h6b5b3f776f01fd4e_13_287"/>
          <p:cNvSpPr txBox="1"/>
          <p:nvPr/>
        </p:nvSpPr>
        <p:spPr>
          <a:xfrm>
            <a:off x="2654300" y="1625600"/>
            <a:ext cx="4191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Opatření</a:t>
            </a:r>
            <a:endParaRPr/>
          </a:p>
        </p:txBody>
      </p:sp>
      <p:cxnSp>
        <p:nvCxnSpPr>
          <p:cNvPr id="828" name="Google Shape;828;h6b5b3f776f01fd4e_13_287"/>
          <p:cNvCxnSpPr/>
          <p:nvPr/>
        </p:nvCxnSpPr>
        <p:spPr>
          <a:xfrm>
            <a:off x="622300" y="1866900"/>
            <a:ext cx="6222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9" name="Google Shape;829;h6b5b3f776f01fd4e_13_287"/>
          <p:cNvSpPr txBox="1"/>
          <p:nvPr/>
        </p:nvSpPr>
        <p:spPr>
          <a:xfrm>
            <a:off x="622300" y="196850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Identita a přístup</a:t>
            </a:r>
            <a:endParaRPr/>
          </a:p>
        </p:txBody>
      </p:sp>
      <p:sp>
        <p:nvSpPr>
          <p:cNvPr id="830" name="Google Shape;830;h6b5b3f776f01fd4e_13_287"/>
          <p:cNvSpPr txBox="1"/>
          <p:nvPr/>
        </p:nvSpPr>
        <p:spPr>
          <a:xfrm>
            <a:off x="2654300" y="1968500"/>
            <a:ext cx="419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SSO a MFA přes Okta; automatizovaný onboarding a offboarding s okamžitým odebráním přístupů</a:t>
            </a:r>
            <a:endParaRPr/>
          </a:p>
        </p:txBody>
      </p:sp>
      <p:cxnSp>
        <p:nvCxnSpPr>
          <p:cNvPr id="831" name="Google Shape;831;h6b5b3f776f01fd4e_13_287"/>
          <p:cNvCxnSpPr/>
          <p:nvPr/>
        </p:nvCxnSpPr>
        <p:spPr>
          <a:xfrm>
            <a:off x="622300" y="2552700"/>
            <a:ext cx="6222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2" name="Google Shape;832;h6b5b3f776f01fd4e_13_287"/>
          <p:cNvSpPr txBox="1"/>
          <p:nvPr/>
        </p:nvSpPr>
        <p:spPr>
          <a:xfrm>
            <a:off x="622300" y="262890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Koncová zařízení</a:t>
            </a:r>
            <a:endParaRPr/>
          </a:p>
        </p:txBody>
      </p:sp>
      <p:sp>
        <p:nvSpPr>
          <p:cNvPr id="833" name="Google Shape;833;h6b5b3f776f01fd4e_13_287"/>
          <p:cNvSpPr txBox="1"/>
          <p:nvPr/>
        </p:nvSpPr>
        <p:spPr>
          <a:xfrm>
            <a:off x="2654300" y="2628900"/>
            <a:ext cx="419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Šifrované disky, dvoufaktorové přihlášení; data se neukládají lokálně, jen v cloudu</a:t>
            </a:r>
            <a:endParaRPr/>
          </a:p>
        </p:txBody>
      </p:sp>
      <p:cxnSp>
        <p:nvCxnSpPr>
          <p:cNvPr id="834" name="Google Shape;834;h6b5b3f776f01fd4e_13_287"/>
          <p:cNvCxnSpPr/>
          <p:nvPr/>
        </p:nvCxnSpPr>
        <p:spPr>
          <a:xfrm>
            <a:off x="622300" y="3213100"/>
            <a:ext cx="6222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5" name="Google Shape;835;h6b5b3f776f01fd4e_13_287"/>
          <p:cNvSpPr txBox="1"/>
          <p:nvPr/>
        </p:nvSpPr>
        <p:spPr>
          <a:xfrm>
            <a:off x="622300" y="328930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Ochrana dat</a:t>
            </a:r>
            <a:endParaRPr/>
          </a:p>
        </p:txBody>
      </p:sp>
      <p:sp>
        <p:nvSpPr>
          <p:cNvPr id="836" name="Google Shape;836;h6b5b3f776f01fd4e_13_287"/>
          <p:cNvSpPr txBox="1"/>
          <p:nvPr/>
        </p:nvSpPr>
        <p:spPr>
          <a:xfrm>
            <a:off x="2654300" y="3289300"/>
            <a:ext cx="4191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DLP řešení; všichni konzultanti mají NDA s Vorianem i se zákazníkem</a:t>
            </a:r>
            <a:endParaRPr/>
          </a:p>
        </p:txBody>
      </p:sp>
      <p:cxnSp>
        <p:nvCxnSpPr>
          <p:cNvPr id="837" name="Google Shape;837;h6b5b3f776f01fd4e_13_287"/>
          <p:cNvCxnSpPr/>
          <p:nvPr/>
        </p:nvCxnSpPr>
        <p:spPr>
          <a:xfrm>
            <a:off x="622300" y="3873500"/>
            <a:ext cx="6222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8" name="Google Shape;838;h6b5b3f776f01fd4e_13_287"/>
          <p:cNvSpPr txBox="1"/>
          <p:nvPr/>
        </p:nvSpPr>
        <p:spPr>
          <a:xfrm>
            <a:off x="622300" y="394970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Lidé</a:t>
            </a:r>
            <a:endParaRPr/>
          </a:p>
        </p:txBody>
      </p:sp>
      <p:sp>
        <p:nvSpPr>
          <p:cNvPr id="839" name="Google Shape;839;h6b5b3f776f01fd4e_13_287"/>
          <p:cNvSpPr txBox="1"/>
          <p:nvPr/>
        </p:nvSpPr>
        <p:spPr>
          <a:xfrm>
            <a:off x="2654300" y="3949700"/>
            <a:ext cx="419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Pravidelná školení kybernetické bezpečnosti a kvartální simulované phishingové kampaně</a:t>
            </a:r>
            <a:endParaRPr/>
          </a:p>
        </p:txBody>
      </p:sp>
      <p:cxnSp>
        <p:nvCxnSpPr>
          <p:cNvPr id="840" name="Google Shape;840;h6b5b3f776f01fd4e_13_287"/>
          <p:cNvCxnSpPr/>
          <p:nvPr/>
        </p:nvCxnSpPr>
        <p:spPr>
          <a:xfrm>
            <a:off x="622300" y="4533900"/>
            <a:ext cx="6222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1" name="Google Shape;841;h6b5b3f776f01fd4e_13_287"/>
          <p:cNvSpPr txBox="1"/>
          <p:nvPr/>
        </p:nvSpPr>
        <p:spPr>
          <a:xfrm>
            <a:off x="622300" y="461010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Práce u zadavatele</a:t>
            </a:r>
            <a:endParaRPr/>
          </a:p>
        </p:txBody>
      </p:sp>
      <p:sp>
        <p:nvSpPr>
          <p:cNvPr id="842" name="Google Shape;842;h6b5b3f776f01fd4e_13_287"/>
          <p:cNvSpPr txBox="1"/>
          <p:nvPr/>
        </p:nvSpPr>
        <p:spPr>
          <a:xfrm>
            <a:off x="2654300" y="4610100"/>
            <a:ext cx="419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Konzultanti pracují jen v DEV a QAS E.ON pod firemními účty KID, bez přístupu do RUN</a:t>
            </a:r>
            <a:endParaRPr/>
          </a:p>
        </p:txBody>
      </p:sp>
      <p:cxnSp>
        <p:nvCxnSpPr>
          <p:cNvPr id="843" name="Google Shape;843;h6b5b3f776f01fd4e_13_287"/>
          <p:cNvCxnSpPr/>
          <p:nvPr/>
        </p:nvCxnSpPr>
        <p:spPr>
          <a:xfrm>
            <a:off x="622300" y="5194300"/>
            <a:ext cx="62229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4" name="Google Shape;844;h6b5b3f776f01fd4e_13_287"/>
          <p:cNvSpPr txBox="1"/>
          <p:nvPr/>
        </p:nvSpPr>
        <p:spPr>
          <a:xfrm>
            <a:off x="622300" y="527050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Ochrana osobních údajů</a:t>
            </a:r>
            <a:endParaRPr/>
          </a:p>
        </p:txBody>
      </p:sp>
      <p:sp>
        <p:nvSpPr>
          <p:cNvPr id="845" name="Google Shape;845;h6b5b3f776f01fd4e_13_287"/>
          <p:cNvSpPr txBox="1"/>
          <p:nvPr/>
        </p:nvSpPr>
        <p:spPr>
          <a:xfrm>
            <a:off x="2654300" y="5270500"/>
            <a:ext cx="419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Pověřenec pro ochranu osobních údajů: Tereza Čechová, tereza.cechova@vorian.cz</a:t>
            </a:r>
            <a:endParaRPr/>
          </a:p>
        </p:txBody>
      </p:sp>
      <p:sp>
        <p:nvSpPr>
          <p:cNvPr id="846" name="Google Shape;846;h6b5b3f776f01fd4e_13_287"/>
          <p:cNvSpPr/>
          <p:nvPr/>
        </p:nvSpPr>
        <p:spPr>
          <a:xfrm>
            <a:off x="7226300" y="1625600"/>
            <a:ext cx="4343400" cy="4317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h6b5b3f776f01fd4e_13_287"/>
          <p:cNvSpPr txBox="1"/>
          <p:nvPr/>
        </p:nvSpPr>
        <p:spPr>
          <a:xfrm>
            <a:off x="7480300" y="1854200"/>
            <a:ext cx="38355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Certifikace ISO/IEC 27001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Certifikační proces zahajujeme na začátku roku 2027. Do jeho dokončení žádáme o výjimku podle odpovědi zadavatele na dotaz 200 a dokládáme opatření v rozsahu požadovaných norem.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Služby, na kterých stojí naše vlastní provozní prostředí (Google Workspace, Okta), jsou certifikované podle ISO/IEC 27001 a SOC 2 Type II.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6"/>
          <p:cNvSpPr txBox="1"/>
          <p:nvPr/>
        </p:nvSpPr>
        <p:spPr>
          <a:xfrm>
            <a:off x="914400" y="23957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SEKCE 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6"/>
          <p:cNvSpPr txBox="1"/>
          <p:nvPr/>
        </p:nvSpPr>
        <p:spPr>
          <a:xfrm>
            <a:off x="914400" y="283464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Realizace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6"/>
          <p:cNvSpPr txBox="1"/>
          <p:nvPr/>
        </p:nvSpPr>
        <p:spPr>
          <a:xfrm>
            <a:off x="914400" y="39319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Fázování, milníky, tým a součinnost — kapitoly 8.4, 8.6 a 8.8.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6" name="Google Shape;85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4120" y="4709160"/>
            <a:ext cx="1364127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16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6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7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Fázování projektu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17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Členění navazuje na strukturu cenové tabulky a na povinné brány CSD.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17"/>
          <p:cNvSpPr/>
          <p:nvPr/>
        </p:nvSpPr>
        <p:spPr>
          <a:xfrm>
            <a:off x="621792" y="169164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7"/>
          <p:cNvSpPr txBox="1"/>
          <p:nvPr/>
        </p:nvSpPr>
        <p:spPr>
          <a:xfrm>
            <a:off x="621792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7"/>
          <p:cNvSpPr txBox="1"/>
          <p:nvPr/>
        </p:nvSpPr>
        <p:spPr>
          <a:xfrm>
            <a:off x="621792" y="2331720"/>
            <a:ext cx="15956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Koncepční fáze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7"/>
          <p:cNvSpPr txBox="1"/>
          <p:nvPr/>
        </p:nvSpPr>
        <p:spPr>
          <a:xfrm>
            <a:off x="621792" y="2880360"/>
            <a:ext cx="15956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Analýza zdrojů, kanonický model, cílová architektura, UX koncept, backlog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17"/>
          <p:cNvSpPr/>
          <p:nvPr/>
        </p:nvSpPr>
        <p:spPr>
          <a:xfrm>
            <a:off x="2491740" y="169164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17"/>
          <p:cNvSpPr txBox="1"/>
          <p:nvPr/>
        </p:nvSpPr>
        <p:spPr>
          <a:xfrm>
            <a:off x="249174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7"/>
          <p:cNvSpPr txBox="1"/>
          <p:nvPr/>
        </p:nvSpPr>
        <p:spPr>
          <a:xfrm>
            <a:off x="2491740" y="2331720"/>
            <a:ext cx="15956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Infrastruktura a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7"/>
          <p:cNvSpPr txBox="1"/>
          <p:nvPr/>
        </p:nvSpPr>
        <p:spPr>
          <a:xfrm>
            <a:off x="2491740" y="2880360"/>
            <a:ext cx="15956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Azure prostředí, CI/CD, datová platforma, integrace, backfill historie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7"/>
          <p:cNvSpPr/>
          <p:nvPr/>
        </p:nvSpPr>
        <p:spPr>
          <a:xfrm>
            <a:off x="4361688" y="169164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7"/>
          <p:cNvSpPr txBox="1"/>
          <p:nvPr/>
        </p:nvSpPr>
        <p:spPr>
          <a:xfrm>
            <a:off x="4361688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7"/>
          <p:cNvSpPr txBox="1"/>
          <p:nvPr/>
        </p:nvSpPr>
        <p:spPr>
          <a:xfrm>
            <a:off x="4361688" y="2331720"/>
            <a:ext cx="15956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Výpočty a predikce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7"/>
          <p:cNvSpPr txBox="1"/>
          <p:nvPr/>
        </p:nvSpPr>
        <p:spPr>
          <a:xfrm>
            <a:off x="4361688" y="2880360"/>
            <a:ext cx="15956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Emisní intenzita, EKO-index, predikční model, validace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7"/>
          <p:cNvSpPr/>
          <p:nvPr/>
        </p:nvSpPr>
        <p:spPr>
          <a:xfrm>
            <a:off x="6231636" y="169164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7"/>
          <p:cNvSpPr txBox="1"/>
          <p:nvPr/>
        </p:nvSpPr>
        <p:spPr>
          <a:xfrm>
            <a:off x="6231636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7"/>
          <p:cNvSpPr txBox="1"/>
          <p:nvPr/>
        </p:nvSpPr>
        <p:spPr>
          <a:xfrm>
            <a:off x="6231636" y="2331720"/>
            <a:ext cx="15956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7"/>
          <p:cNvSpPr txBox="1"/>
          <p:nvPr/>
        </p:nvSpPr>
        <p:spPr>
          <a:xfrm>
            <a:off x="6231636" y="2880360"/>
            <a:ext cx="15956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UC01–UC04, grafy, mapa, žebříček, export, vysvětlivky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7"/>
          <p:cNvSpPr/>
          <p:nvPr/>
        </p:nvSpPr>
        <p:spPr>
          <a:xfrm>
            <a:off x="8101584" y="169164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7"/>
          <p:cNvSpPr txBox="1"/>
          <p:nvPr/>
        </p:nvSpPr>
        <p:spPr>
          <a:xfrm>
            <a:off x="8101584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7"/>
          <p:cNvSpPr txBox="1"/>
          <p:nvPr/>
        </p:nvSpPr>
        <p:spPr>
          <a:xfrm>
            <a:off x="8101584" y="2331720"/>
            <a:ext cx="15956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Integrace a akceptace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7"/>
          <p:cNvSpPr txBox="1"/>
          <p:nvPr/>
        </p:nvSpPr>
        <p:spPr>
          <a:xfrm>
            <a:off x="8101584" y="2880360"/>
            <a:ext cx="15956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E2E testy, bezpečnostní brány, výkonové testy, nulové kritické nálezy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7"/>
          <p:cNvSpPr/>
          <p:nvPr/>
        </p:nvSpPr>
        <p:spPr>
          <a:xfrm>
            <a:off x="9971532" y="169164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7"/>
          <p:cNvSpPr txBox="1"/>
          <p:nvPr/>
        </p:nvSpPr>
        <p:spPr>
          <a:xfrm>
            <a:off x="9971532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17"/>
          <p:cNvSpPr txBox="1"/>
          <p:nvPr/>
        </p:nvSpPr>
        <p:spPr>
          <a:xfrm>
            <a:off x="9971532" y="2331720"/>
            <a:ext cx="15956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Pilot a předání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7"/>
          <p:cNvSpPr txBox="1"/>
          <p:nvPr/>
        </p:nvSpPr>
        <p:spPr>
          <a:xfrm>
            <a:off x="9971532" y="2880360"/>
            <a:ext cx="15956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Pilotní provoz, dokumentace, zaškolení, přechod do podpory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7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7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h6b5b3f776f01fd4e_5_0"/>
          <p:cNvSpPr txBox="1"/>
          <p:nvPr/>
        </p:nvSpPr>
        <p:spPr>
          <a:xfrm>
            <a:off x="621792" y="475488"/>
            <a:ext cx="109453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Harmonogram a milníky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h6b5b3f776f01fd4e_5_0"/>
          <p:cNvSpPr txBox="1"/>
          <p:nvPr/>
        </p:nvSpPr>
        <p:spPr>
          <a:xfrm>
            <a:off x="621792" y="1097280"/>
            <a:ext cx="109453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Zahájení 23. 11. 2026, předání do 31. 12. 2027, podpora od 1. 1. 2028. Dva platební milníky podle smlouvy.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h6b5b3f776f01fd4e_5_0"/>
          <p:cNvSpPr txBox="1"/>
          <p:nvPr/>
        </p:nvSpPr>
        <p:spPr>
          <a:xfrm>
            <a:off x="41148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h6b5b3f776f01fd4e_5_0"/>
          <p:cNvSpPr txBox="1"/>
          <p:nvPr/>
        </p:nvSpPr>
        <p:spPr>
          <a:xfrm>
            <a:off x="10863072" y="64190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h6b5b3f776f01fd4e_5_0"/>
          <p:cNvSpPr txBox="1"/>
          <p:nvPr/>
        </p:nvSpPr>
        <p:spPr>
          <a:xfrm>
            <a:off x="324612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XI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2" name="Google Shape;902;h6b5b3f776f01fd4e_5_0"/>
          <p:cNvCxnSpPr/>
          <p:nvPr/>
        </p:nvCxnSpPr>
        <p:spPr>
          <a:xfrm>
            <a:off x="324612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3" name="Google Shape;903;h6b5b3f776f01fd4e_5_0"/>
          <p:cNvSpPr txBox="1"/>
          <p:nvPr/>
        </p:nvSpPr>
        <p:spPr>
          <a:xfrm>
            <a:off x="384048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XII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4" name="Google Shape;904;h6b5b3f776f01fd4e_5_0"/>
          <p:cNvCxnSpPr/>
          <p:nvPr/>
        </p:nvCxnSpPr>
        <p:spPr>
          <a:xfrm>
            <a:off x="384048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5" name="Google Shape;905;h6b5b3f776f01fd4e_5_0"/>
          <p:cNvSpPr txBox="1"/>
          <p:nvPr/>
        </p:nvSpPr>
        <p:spPr>
          <a:xfrm>
            <a:off x="443484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I 2027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6" name="Google Shape;906;h6b5b3f776f01fd4e_5_0"/>
          <p:cNvCxnSpPr/>
          <p:nvPr/>
        </p:nvCxnSpPr>
        <p:spPr>
          <a:xfrm>
            <a:off x="443484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7" name="Google Shape;907;h6b5b3f776f01fd4e_5_0"/>
          <p:cNvSpPr txBox="1"/>
          <p:nvPr/>
        </p:nvSpPr>
        <p:spPr>
          <a:xfrm>
            <a:off x="502920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II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8" name="Google Shape;908;h6b5b3f776f01fd4e_5_0"/>
          <p:cNvCxnSpPr/>
          <p:nvPr/>
        </p:nvCxnSpPr>
        <p:spPr>
          <a:xfrm>
            <a:off x="502920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9" name="Google Shape;909;h6b5b3f776f01fd4e_5_0"/>
          <p:cNvSpPr txBox="1"/>
          <p:nvPr/>
        </p:nvSpPr>
        <p:spPr>
          <a:xfrm>
            <a:off x="562356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III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0" name="Google Shape;910;h6b5b3f776f01fd4e_5_0"/>
          <p:cNvCxnSpPr/>
          <p:nvPr/>
        </p:nvCxnSpPr>
        <p:spPr>
          <a:xfrm>
            <a:off x="562356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1" name="Google Shape;911;h6b5b3f776f01fd4e_5_0"/>
          <p:cNvSpPr txBox="1"/>
          <p:nvPr/>
        </p:nvSpPr>
        <p:spPr>
          <a:xfrm>
            <a:off x="621792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IV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2" name="Google Shape;912;h6b5b3f776f01fd4e_5_0"/>
          <p:cNvCxnSpPr/>
          <p:nvPr/>
        </p:nvCxnSpPr>
        <p:spPr>
          <a:xfrm>
            <a:off x="621792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3" name="Google Shape;913;h6b5b3f776f01fd4e_5_0"/>
          <p:cNvSpPr txBox="1"/>
          <p:nvPr/>
        </p:nvSpPr>
        <p:spPr>
          <a:xfrm>
            <a:off x="681228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4" name="Google Shape;914;h6b5b3f776f01fd4e_5_0"/>
          <p:cNvCxnSpPr/>
          <p:nvPr/>
        </p:nvCxnSpPr>
        <p:spPr>
          <a:xfrm>
            <a:off x="681228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5" name="Google Shape;915;h6b5b3f776f01fd4e_5_0"/>
          <p:cNvSpPr txBox="1"/>
          <p:nvPr/>
        </p:nvSpPr>
        <p:spPr>
          <a:xfrm>
            <a:off x="740664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VI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6" name="Google Shape;916;h6b5b3f776f01fd4e_5_0"/>
          <p:cNvCxnSpPr/>
          <p:nvPr/>
        </p:nvCxnSpPr>
        <p:spPr>
          <a:xfrm>
            <a:off x="740664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7" name="Google Shape;917;h6b5b3f776f01fd4e_5_0"/>
          <p:cNvSpPr txBox="1"/>
          <p:nvPr/>
        </p:nvSpPr>
        <p:spPr>
          <a:xfrm>
            <a:off x="800100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VII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8" name="Google Shape;918;h6b5b3f776f01fd4e_5_0"/>
          <p:cNvCxnSpPr/>
          <p:nvPr/>
        </p:nvCxnSpPr>
        <p:spPr>
          <a:xfrm>
            <a:off x="800100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9" name="Google Shape;919;h6b5b3f776f01fd4e_5_0"/>
          <p:cNvSpPr txBox="1"/>
          <p:nvPr/>
        </p:nvSpPr>
        <p:spPr>
          <a:xfrm>
            <a:off x="859536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VIII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0" name="Google Shape;920;h6b5b3f776f01fd4e_5_0"/>
          <p:cNvCxnSpPr/>
          <p:nvPr/>
        </p:nvCxnSpPr>
        <p:spPr>
          <a:xfrm>
            <a:off x="859536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1" name="Google Shape;921;h6b5b3f776f01fd4e_5_0"/>
          <p:cNvSpPr txBox="1"/>
          <p:nvPr/>
        </p:nvSpPr>
        <p:spPr>
          <a:xfrm>
            <a:off x="918972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IX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2" name="Google Shape;922;h6b5b3f776f01fd4e_5_0"/>
          <p:cNvCxnSpPr/>
          <p:nvPr/>
        </p:nvCxnSpPr>
        <p:spPr>
          <a:xfrm>
            <a:off x="918972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3" name="Google Shape;923;h6b5b3f776f01fd4e_5_0"/>
          <p:cNvSpPr txBox="1"/>
          <p:nvPr/>
        </p:nvSpPr>
        <p:spPr>
          <a:xfrm>
            <a:off x="978408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4" name="Google Shape;924;h6b5b3f776f01fd4e_5_0"/>
          <p:cNvCxnSpPr/>
          <p:nvPr/>
        </p:nvCxnSpPr>
        <p:spPr>
          <a:xfrm>
            <a:off x="978408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5" name="Google Shape;925;h6b5b3f776f01fd4e_5_0"/>
          <p:cNvSpPr txBox="1"/>
          <p:nvPr/>
        </p:nvSpPr>
        <p:spPr>
          <a:xfrm>
            <a:off x="1037844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XI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6" name="Google Shape;926;h6b5b3f776f01fd4e_5_0"/>
          <p:cNvCxnSpPr/>
          <p:nvPr/>
        </p:nvCxnSpPr>
        <p:spPr>
          <a:xfrm>
            <a:off x="1037844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7" name="Google Shape;927;h6b5b3f776f01fd4e_5_0"/>
          <p:cNvSpPr txBox="1"/>
          <p:nvPr/>
        </p:nvSpPr>
        <p:spPr>
          <a:xfrm>
            <a:off x="10972800" y="14904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XII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h6b5b3f776f01fd4e_5_0"/>
          <p:cNvCxnSpPr/>
          <p:nvPr/>
        </p:nvCxnSpPr>
        <p:spPr>
          <a:xfrm>
            <a:off x="1097280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9" name="Google Shape;929;h6b5b3f776f01fd4e_5_0"/>
          <p:cNvCxnSpPr/>
          <p:nvPr/>
        </p:nvCxnSpPr>
        <p:spPr>
          <a:xfrm>
            <a:off x="11567160" y="1709928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0" name="Google Shape;930;h6b5b3f776f01fd4e_5_0"/>
          <p:cNvCxnSpPr/>
          <p:nvPr/>
        </p:nvCxnSpPr>
        <p:spPr>
          <a:xfrm>
            <a:off x="621792" y="1709928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1" name="Google Shape;931;h6b5b3f776f01fd4e_5_0"/>
          <p:cNvSpPr txBox="1"/>
          <p:nvPr/>
        </p:nvSpPr>
        <p:spPr>
          <a:xfrm>
            <a:off x="621792" y="180136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E.ON IT — prostředí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h6b5b3f776f01fd4e_5_0"/>
          <p:cNvSpPr txBox="1"/>
          <p:nvPr/>
        </p:nvSpPr>
        <p:spPr>
          <a:xfrm>
            <a:off x="621792" y="1965960"/>
            <a:ext cx="2606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subskripce, GitLab, SaRA, Cloudflare/APIM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h6b5b3f776f01fd4e_5_0"/>
          <p:cNvSpPr/>
          <p:nvPr/>
        </p:nvSpPr>
        <p:spPr>
          <a:xfrm>
            <a:off x="3681984" y="1847088"/>
            <a:ext cx="1347216" cy="219456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4" name="Google Shape;934;h6b5b3f776f01fd4e_5_0"/>
          <p:cNvCxnSpPr/>
          <p:nvPr/>
        </p:nvCxnSpPr>
        <p:spPr>
          <a:xfrm>
            <a:off x="621792" y="2148840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5" name="Google Shape;935;h6b5b3f776f01fd4e_5_0"/>
          <p:cNvSpPr txBox="1"/>
          <p:nvPr/>
        </p:nvSpPr>
        <p:spPr>
          <a:xfrm>
            <a:off x="621792" y="21671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F0  Koncepční fáze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h6b5b3f776f01fd4e_5_0"/>
          <p:cNvSpPr txBox="1"/>
          <p:nvPr/>
        </p:nvSpPr>
        <p:spPr>
          <a:xfrm>
            <a:off x="621792" y="2331720"/>
            <a:ext cx="2606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zdroje, kanonický model, architektura, UX, backlog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h6b5b3f776f01fd4e_5_0"/>
          <p:cNvSpPr/>
          <p:nvPr/>
        </p:nvSpPr>
        <p:spPr>
          <a:xfrm>
            <a:off x="3681984" y="2212848"/>
            <a:ext cx="130887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8" name="Google Shape;938;h6b5b3f776f01fd4e_5_0"/>
          <p:cNvCxnSpPr/>
          <p:nvPr/>
        </p:nvCxnSpPr>
        <p:spPr>
          <a:xfrm>
            <a:off x="621792" y="2514600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9" name="Google Shape;939;h6b5b3f776f01fd4e_5_0"/>
          <p:cNvSpPr txBox="1"/>
          <p:nvPr/>
        </p:nvSpPr>
        <p:spPr>
          <a:xfrm>
            <a:off x="621792" y="253288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  Infrastruktura a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h6b5b3f776f01fd4e_5_0"/>
          <p:cNvSpPr txBox="1"/>
          <p:nvPr/>
        </p:nvSpPr>
        <p:spPr>
          <a:xfrm>
            <a:off x="621792" y="2697480"/>
            <a:ext cx="2606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Terraform QAS, CI/CD brány, ingest 7 zdrojů, backfill 2020+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h6b5b3f776f01fd4e_5_0"/>
          <p:cNvSpPr/>
          <p:nvPr/>
        </p:nvSpPr>
        <p:spPr>
          <a:xfrm>
            <a:off x="5029200" y="2578608"/>
            <a:ext cx="178308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2" name="Google Shape;942;h6b5b3f776f01fd4e_5_0"/>
          <p:cNvCxnSpPr/>
          <p:nvPr/>
        </p:nvCxnSpPr>
        <p:spPr>
          <a:xfrm>
            <a:off x="621792" y="2880360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3" name="Google Shape;943;h6b5b3f776f01fd4e_5_0"/>
          <p:cNvSpPr txBox="1"/>
          <p:nvPr/>
        </p:nvSpPr>
        <p:spPr>
          <a:xfrm>
            <a:off x="621792" y="289864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F2  Výpočty a predikce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h6b5b3f776f01fd4e_5_0"/>
          <p:cNvSpPr txBox="1"/>
          <p:nvPr/>
        </p:nvSpPr>
        <p:spPr>
          <a:xfrm>
            <a:off x="621792" y="3063240"/>
            <a:ext cx="2606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emisní intenzita, EKO-index, profilový model, validace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h6b5b3f776f01fd4e_5_0"/>
          <p:cNvSpPr/>
          <p:nvPr/>
        </p:nvSpPr>
        <p:spPr>
          <a:xfrm>
            <a:off x="5623560" y="2944368"/>
            <a:ext cx="237744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6" name="Google Shape;946;h6b5b3f776f01fd4e_5_0"/>
          <p:cNvCxnSpPr/>
          <p:nvPr/>
        </p:nvCxnSpPr>
        <p:spPr>
          <a:xfrm>
            <a:off x="621792" y="3246120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7" name="Google Shape;947;h6b5b3f776f01fd4e_5_0"/>
          <p:cNvSpPr txBox="1"/>
          <p:nvPr/>
        </p:nvSpPr>
        <p:spPr>
          <a:xfrm>
            <a:off x="621792" y="326440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F3  Frontend a admin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h6b5b3f776f01fd4e_5_0"/>
          <p:cNvSpPr txBox="1"/>
          <p:nvPr/>
        </p:nvSpPr>
        <p:spPr>
          <a:xfrm>
            <a:off x="621792" y="3429000"/>
            <a:ext cx="2606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UC01–UC04, mapa, grafy, žebříček, admin portál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h6b5b3f776f01fd4e_5_0"/>
          <p:cNvSpPr/>
          <p:nvPr/>
        </p:nvSpPr>
        <p:spPr>
          <a:xfrm>
            <a:off x="6217920" y="3310128"/>
            <a:ext cx="2377440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0" name="Google Shape;950;h6b5b3f776f01fd4e_5_0"/>
          <p:cNvCxnSpPr/>
          <p:nvPr/>
        </p:nvCxnSpPr>
        <p:spPr>
          <a:xfrm>
            <a:off x="621792" y="3611880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1" name="Google Shape;951;h6b5b3f776f01fd4e_5_0"/>
          <p:cNvSpPr txBox="1"/>
          <p:nvPr/>
        </p:nvSpPr>
        <p:spPr>
          <a:xfrm>
            <a:off x="621792" y="363016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F4  Integrace a akceptace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h6b5b3f776f01fd4e_5_0"/>
          <p:cNvSpPr txBox="1"/>
          <p:nvPr/>
        </p:nvSpPr>
        <p:spPr>
          <a:xfrm>
            <a:off x="621792" y="3794760"/>
            <a:ext cx="2606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E2E, DAST, Wiz, výkon, UAT s product ownerem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h6b5b3f776f01fd4e_5_0"/>
          <p:cNvSpPr/>
          <p:nvPr/>
        </p:nvSpPr>
        <p:spPr>
          <a:xfrm>
            <a:off x="8595360" y="3675888"/>
            <a:ext cx="1476314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4" name="Google Shape;954;h6b5b3f776f01fd4e_5_0"/>
          <p:cNvCxnSpPr/>
          <p:nvPr/>
        </p:nvCxnSpPr>
        <p:spPr>
          <a:xfrm>
            <a:off x="621792" y="3977640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5" name="Google Shape;955;h6b5b3f776f01fd4e_5_0"/>
          <p:cNvSpPr txBox="1"/>
          <p:nvPr/>
        </p:nvSpPr>
        <p:spPr>
          <a:xfrm>
            <a:off x="621792" y="39959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E.ON IT — nasazení do RUN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h6b5b3f776f01fd4e_5_0"/>
          <p:cNvSpPr txBox="1"/>
          <p:nvPr/>
        </p:nvSpPr>
        <p:spPr>
          <a:xfrm>
            <a:off x="621792" y="4160520"/>
            <a:ext cx="2606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review a promoce, konfigurace Cloudflare/APIM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h6b5b3f776f01fd4e_5_0"/>
          <p:cNvSpPr/>
          <p:nvPr/>
        </p:nvSpPr>
        <p:spPr>
          <a:xfrm>
            <a:off x="10071674" y="4041648"/>
            <a:ext cx="306766" cy="219456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8" name="Google Shape;958;h6b5b3f776f01fd4e_5_0"/>
          <p:cNvCxnSpPr/>
          <p:nvPr/>
        </p:nvCxnSpPr>
        <p:spPr>
          <a:xfrm>
            <a:off x="621792" y="4343400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9" name="Google Shape;959;h6b5b3f776f01fd4e_5_0"/>
          <p:cNvSpPr txBox="1"/>
          <p:nvPr/>
        </p:nvSpPr>
        <p:spPr>
          <a:xfrm>
            <a:off x="621792" y="436168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F5  Pilot a předání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h6b5b3f776f01fd4e_5_0"/>
          <p:cNvSpPr txBox="1"/>
          <p:nvPr/>
        </p:nvSpPr>
        <p:spPr>
          <a:xfrm>
            <a:off x="621792" y="4526280"/>
            <a:ext cx="2606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pilotní provoz v RUN, dokumentace, zaškolení, hypercare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h6b5b3f776f01fd4e_5_0"/>
          <p:cNvSpPr/>
          <p:nvPr/>
        </p:nvSpPr>
        <p:spPr>
          <a:xfrm>
            <a:off x="10378440" y="4407408"/>
            <a:ext cx="920299" cy="21945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2" name="Google Shape;962;h6b5b3f776f01fd4e_5_0"/>
          <p:cNvCxnSpPr/>
          <p:nvPr/>
        </p:nvCxnSpPr>
        <p:spPr>
          <a:xfrm>
            <a:off x="621792" y="4709160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h6b5b3f776f01fd4e_5_0"/>
          <p:cNvSpPr txBox="1"/>
          <p:nvPr/>
        </p:nvSpPr>
        <p:spPr>
          <a:xfrm>
            <a:off x="621792" y="472744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Rezerva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h6b5b3f776f01fd4e_5_0"/>
          <p:cNvSpPr txBox="1"/>
          <p:nvPr/>
        </p:nvSpPr>
        <p:spPr>
          <a:xfrm>
            <a:off x="621792" y="4892040"/>
            <a:ext cx="2606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pevný termín 31. 12. 2027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h6b5b3f776f01fd4e_5_0"/>
          <p:cNvSpPr/>
          <p:nvPr/>
        </p:nvSpPr>
        <p:spPr>
          <a:xfrm>
            <a:off x="11298739" y="4773168"/>
            <a:ext cx="268421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6" name="Google Shape;966;h6b5b3f776f01fd4e_5_0"/>
          <p:cNvCxnSpPr/>
          <p:nvPr/>
        </p:nvCxnSpPr>
        <p:spPr>
          <a:xfrm>
            <a:off x="621792" y="5074920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7" name="Google Shape;967;h6b5b3f776f01fd4e_5_0"/>
          <p:cNvCxnSpPr/>
          <p:nvPr/>
        </p:nvCxnSpPr>
        <p:spPr>
          <a:xfrm>
            <a:off x="4971681" y="1709928"/>
            <a:ext cx="0" cy="49377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68" name="Google Shape;968;h6b5b3f776f01fd4e_5_0"/>
          <p:cNvSpPr/>
          <p:nvPr/>
        </p:nvSpPr>
        <p:spPr>
          <a:xfrm>
            <a:off x="4852809" y="2203704"/>
            <a:ext cx="237744" cy="237744"/>
          </a:xfrm>
          <a:prstGeom prst="diamond">
            <a:avLst/>
          </a:prstGeom>
          <a:solidFill>
            <a:srgbClr val="0000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h6b5b3f776f01fd4e_5_0"/>
          <p:cNvSpPr txBox="1"/>
          <p:nvPr/>
        </p:nvSpPr>
        <p:spPr>
          <a:xfrm>
            <a:off x="4697361" y="2020824"/>
            <a:ext cx="5486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0" name="Google Shape;970;h6b5b3f776f01fd4e_5_0"/>
          <p:cNvCxnSpPr/>
          <p:nvPr/>
        </p:nvCxnSpPr>
        <p:spPr>
          <a:xfrm>
            <a:off x="6792468" y="1709928"/>
            <a:ext cx="0" cy="85953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71" name="Google Shape;971;h6b5b3f776f01fd4e_5_0"/>
          <p:cNvSpPr/>
          <p:nvPr/>
        </p:nvSpPr>
        <p:spPr>
          <a:xfrm>
            <a:off x="6673596" y="2569464"/>
            <a:ext cx="237744" cy="237744"/>
          </a:xfrm>
          <a:prstGeom prst="diamond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h6b5b3f776f01fd4e_5_0"/>
          <p:cNvSpPr txBox="1"/>
          <p:nvPr/>
        </p:nvSpPr>
        <p:spPr>
          <a:xfrm>
            <a:off x="6518148" y="2386584"/>
            <a:ext cx="5486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3" name="Google Shape;973;h6b5b3f776f01fd4e_5_0"/>
          <p:cNvCxnSpPr/>
          <p:nvPr/>
        </p:nvCxnSpPr>
        <p:spPr>
          <a:xfrm>
            <a:off x="7981188" y="1709928"/>
            <a:ext cx="0" cy="122529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74" name="Google Shape;974;h6b5b3f776f01fd4e_5_0"/>
          <p:cNvSpPr/>
          <p:nvPr/>
        </p:nvSpPr>
        <p:spPr>
          <a:xfrm>
            <a:off x="7862316" y="2935224"/>
            <a:ext cx="237744" cy="237744"/>
          </a:xfrm>
          <a:prstGeom prst="diamond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h6b5b3f776f01fd4e_5_0"/>
          <p:cNvSpPr txBox="1"/>
          <p:nvPr/>
        </p:nvSpPr>
        <p:spPr>
          <a:xfrm>
            <a:off x="7706868" y="2752344"/>
            <a:ext cx="5486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6" name="Google Shape;976;h6b5b3f776f01fd4e_5_0"/>
          <p:cNvCxnSpPr/>
          <p:nvPr/>
        </p:nvCxnSpPr>
        <p:spPr>
          <a:xfrm>
            <a:off x="8576187" y="1709928"/>
            <a:ext cx="0" cy="159105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77" name="Google Shape;977;h6b5b3f776f01fd4e_5_0"/>
          <p:cNvSpPr/>
          <p:nvPr/>
        </p:nvSpPr>
        <p:spPr>
          <a:xfrm>
            <a:off x="8457315" y="3300984"/>
            <a:ext cx="237744" cy="237744"/>
          </a:xfrm>
          <a:prstGeom prst="diamond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h6b5b3f776f01fd4e_5_0"/>
          <p:cNvSpPr txBox="1"/>
          <p:nvPr/>
        </p:nvSpPr>
        <p:spPr>
          <a:xfrm>
            <a:off x="8301867" y="3118104"/>
            <a:ext cx="5486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9" name="Google Shape;979;h6b5b3f776f01fd4e_5_0"/>
          <p:cNvCxnSpPr/>
          <p:nvPr/>
        </p:nvCxnSpPr>
        <p:spPr>
          <a:xfrm>
            <a:off x="10052501" y="1709928"/>
            <a:ext cx="0" cy="19568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80" name="Google Shape;980;h6b5b3f776f01fd4e_5_0"/>
          <p:cNvSpPr/>
          <p:nvPr/>
        </p:nvSpPr>
        <p:spPr>
          <a:xfrm>
            <a:off x="9933629" y="3666744"/>
            <a:ext cx="237744" cy="237744"/>
          </a:xfrm>
          <a:prstGeom prst="diamond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h6b5b3f776f01fd4e_5_0"/>
          <p:cNvSpPr txBox="1"/>
          <p:nvPr/>
        </p:nvSpPr>
        <p:spPr>
          <a:xfrm>
            <a:off x="9778181" y="3483864"/>
            <a:ext cx="5486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2" name="Google Shape;982;h6b5b3f776f01fd4e_5_0"/>
          <p:cNvCxnSpPr/>
          <p:nvPr/>
        </p:nvCxnSpPr>
        <p:spPr>
          <a:xfrm>
            <a:off x="11279566" y="1709928"/>
            <a:ext cx="0" cy="268833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83" name="Google Shape;983;h6b5b3f776f01fd4e_5_0"/>
          <p:cNvSpPr/>
          <p:nvPr/>
        </p:nvSpPr>
        <p:spPr>
          <a:xfrm>
            <a:off x="11160694" y="4398264"/>
            <a:ext cx="237744" cy="237744"/>
          </a:xfrm>
          <a:prstGeom prst="diamond">
            <a:avLst/>
          </a:prstGeom>
          <a:solidFill>
            <a:srgbClr val="0000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h6b5b3f776f01fd4e_5_0"/>
          <p:cNvSpPr txBox="1"/>
          <p:nvPr/>
        </p:nvSpPr>
        <p:spPr>
          <a:xfrm>
            <a:off x="11005246" y="4215384"/>
            <a:ext cx="5486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h6b5b3f776f01fd4e_5_0"/>
          <p:cNvSpPr txBox="1"/>
          <p:nvPr/>
        </p:nvSpPr>
        <p:spPr>
          <a:xfrm>
            <a:off x="621792" y="527608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MILNÍKY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h6b5b3f776f01fd4e_5_0"/>
          <p:cNvSpPr/>
          <p:nvPr/>
        </p:nvSpPr>
        <p:spPr>
          <a:xfrm>
            <a:off x="621792" y="5559552"/>
            <a:ext cx="128016" cy="128016"/>
          </a:xfrm>
          <a:prstGeom prst="diamond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h6b5b3f776f01fd4e_5_0"/>
          <p:cNvSpPr txBox="1"/>
          <p:nvPr/>
        </p:nvSpPr>
        <p:spPr>
          <a:xfrm>
            <a:off x="822960" y="5532120"/>
            <a:ext cx="32826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M1  29. 1. 2027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h6b5b3f776f01fd4e_5_0"/>
          <p:cNvSpPr txBox="1"/>
          <p:nvPr/>
        </p:nvSpPr>
        <p:spPr>
          <a:xfrm>
            <a:off x="822960" y="5715000"/>
            <a:ext cx="3282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Akceptace cílového konceptu — 1. platební milník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h6b5b3f776f01fd4e_5_0"/>
          <p:cNvSpPr/>
          <p:nvPr/>
        </p:nvSpPr>
        <p:spPr>
          <a:xfrm>
            <a:off x="4270248" y="5559552"/>
            <a:ext cx="128016" cy="128016"/>
          </a:xfrm>
          <a:prstGeom prst="diamond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h6b5b3f776f01fd4e_5_0"/>
          <p:cNvSpPr txBox="1"/>
          <p:nvPr/>
        </p:nvSpPr>
        <p:spPr>
          <a:xfrm>
            <a:off x="4471416" y="5532120"/>
            <a:ext cx="32826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M2  30. 4. 2027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h6b5b3f776f01fd4e_5_0"/>
          <p:cNvSpPr txBox="1"/>
          <p:nvPr/>
        </p:nvSpPr>
        <p:spPr>
          <a:xfrm>
            <a:off x="4471416" y="5715000"/>
            <a:ext cx="3282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Sedm zdrojů v QAS, historie od 2020 načtena a ověřena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h6b5b3f776f01fd4e_5_0"/>
          <p:cNvSpPr/>
          <p:nvPr/>
        </p:nvSpPr>
        <p:spPr>
          <a:xfrm>
            <a:off x="7918704" y="5559552"/>
            <a:ext cx="128016" cy="128016"/>
          </a:xfrm>
          <a:prstGeom prst="diamond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h6b5b3f776f01fd4e_5_0"/>
          <p:cNvSpPr txBox="1"/>
          <p:nvPr/>
        </p:nvSpPr>
        <p:spPr>
          <a:xfrm>
            <a:off x="8119872" y="5532120"/>
            <a:ext cx="32826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M3  30. 6. 2027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h6b5b3f776f01fd4e_5_0"/>
          <p:cNvSpPr txBox="1"/>
          <p:nvPr/>
        </p:nvSpPr>
        <p:spPr>
          <a:xfrm>
            <a:off x="8119872" y="5715000"/>
            <a:ext cx="3282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Výpočetní jádro a predikce validovány proti referenci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h6b5b3f776f01fd4e_5_0"/>
          <p:cNvSpPr/>
          <p:nvPr/>
        </p:nvSpPr>
        <p:spPr>
          <a:xfrm>
            <a:off x="621792" y="6016752"/>
            <a:ext cx="128016" cy="128016"/>
          </a:xfrm>
          <a:prstGeom prst="diamond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h6b5b3f776f01fd4e_5_0"/>
          <p:cNvSpPr txBox="1"/>
          <p:nvPr/>
        </p:nvSpPr>
        <p:spPr>
          <a:xfrm>
            <a:off x="822960" y="5989320"/>
            <a:ext cx="32826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M4  31. 7. 2027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h6b5b3f776f01fd4e_5_0"/>
          <p:cNvSpPr txBox="1"/>
          <p:nvPr/>
        </p:nvSpPr>
        <p:spPr>
          <a:xfrm>
            <a:off x="822960" y="6172200"/>
            <a:ext cx="3282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Funkční celek UC01–UC04 v QAS, začíná UAT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h6b5b3f776f01fd4e_5_0"/>
          <p:cNvSpPr/>
          <p:nvPr/>
        </p:nvSpPr>
        <p:spPr>
          <a:xfrm>
            <a:off x="4270248" y="6016752"/>
            <a:ext cx="128016" cy="128016"/>
          </a:xfrm>
          <a:prstGeom prst="diamond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h6b5b3f776f01fd4e_5_0"/>
          <p:cNvSpPr txBox="1"/>
          <p:nvPr/>
        </p:nvSpPr>
        <p:spPr>
          <a:xfrm>
            <a:off x="4471416" y="5989320"/>
            <a:ext cx="32826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M5  15. 10. 2027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h6b5b3f776f01fd4e_5_0"/>
          <p:cNvSpPr txBox="1"/>
          <p:nvPr/>
        </p:nvSpPr>
        <p:spPr>
          <a:xfrm>
            <a:off x="4471416" y="6172200"/>
            <a:ext cx="3282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Bezpečnostní a funkční akceptace, bez Critical/High nálezů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h6b5b3f776f01fd4e_5_0"/>
          <p:cNvSpPr/>
          <p:nvPr/>
        </p:nvSpPr>
        <p:spPr>
          <a:xfrm>
            <a:off x="7918704" y="6016752"/>
            <a:ext cx="128016" cy="128016"/>
          </a:xfrm>
          <a:prstGeom prst="diamond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h6b5b3f776f01fd4e_5_0"/>
          <p:cNvSpPr txBox="1"/>
          <p:nvPr/>
        </p:nvSpPr>
        <p:spPr>
          <a:xfrm>
            <a:off x="8119872" y="5989320"/>
            <a:ext cx="32826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M6  17. 12. 2027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h6b5b3f776f01fd4e_5_0"/>
          <p:cNvSpPr txBox="1"/>
          <p:nvPr/>
        </p:nvSpPr>
        <p:spPr>
          <a:xfrm>
            <a:off x="8119872" y="6172200"/>
            <a:ext cx="3282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Předání a převzetí díla — 2. platební milník · podpora od 1. 1. 2028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h6b5b3f776f01fd4e_5_112"/>
          <p:cNvSpPr txBox="1"/>
          <p:nvPr/>
        </p:nvSpPr>
        <p:spPr>
          <a:xfrm>
            <a:off x="621792" y="475488"/>
            <a:ext cx="109453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Logika dodávky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h6b5b3f776f01fd4e_5_112"/>
          <p:cNvSpPr txBox="1"/>
          <p:nvPr/>
        </p:nvSpPr>
        <p:spPr>
          <a:xfrm>
            <a:off x="621792" y="1097280"/>
            <a:ext cx="109453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Pořadí fází není náhodné: každá fáze odstraňuje největší zbývající neznámou a končí ověřitelným stavem v QAS.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h6b5b3f776f01fd4e_5_112"/>
          <p:cNvSpPr txBox="1"/>
          <p:nvPr/>
        </p:nvSpPr>
        <p:spPr>
          <a:xfrm>
            <a:off x="41148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h6b5b3f776f01fd4e_5_112"/>
          <p:cNvSpPr txBox="1"/>
          <p:nvPr/>
        </p:nvSpPr>
        <p:spPr>
          <a:xfrm>
            <a:off x="10863072" y="64190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h6b5b3f776f01fd4e_5_112"/>
          <p:cNvSpPr/>
          <p:nvPr/>
        </p:nvSpPr>
        <p:spPr>
          <a:xfrm>
            <a:off x="621792" y="1709928"/>
            <a:ext cx="384048" cy="384048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h6b5b3f776f01fd4e_5_112"/>
          <p:cNvSpPr txBox="1"/>
          <p:nvPr/>
        </p:nvSpPr>
        <p:spPr>
          <a:xfrm>
            <a:off x="621792" y="1709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h6b5b3f776f01fd4e_5_112"/>
          <p:cNvSpPr txBox="1"/>
          <p:nvPr/>
        </p:nvSpPr>
        <p:spPr>
          <a:xfrm>
            <a:off x="1170432" y="1691640"/>
            <a:ext cx="46954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Nejdřív koncept, pak cokoli jiného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h6b5b3f776f01fd4e_5_112"/>
          <p:cNvSpPr txBox="1"/>
          <p:nvPr/>
        </p:nvSpPr>
        <p:spPr>
          <a:xfrm>
            <a:off x="1170432" y="2020824"/>
            <a:ext cx="46954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Deset týdnů na analýzu zdrojů, kanonický model, architekturu a UX. Teprve akceptovaný koncept (M1) spouští stavbu a první platbu. Co se neujasní tady, draží se všude dál.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h6b5b3f776f01fd4e_5_112"/>
          <p:cNvSpPr/>
          <p:nvPr/>
        </p:nvSpPr>
        <p:spPr>
          <a:xfrm>
            <a:off x="6323076" y="1709928"/>
            <a:ext cx="384048" cy="384048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h6b5b3f776f01fd4e_5_112"/>
          <p:cNvSpPr txBox="1"/>
          <p:nvPr/>
        </p:nvSpPr>
        <p:spPr>
          <a:xfrm>
            <a:off x="6323076" y="1709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h6b5b3f776f01fd4e_5_112"/>
          <p:cNvSpPr txBox="1"/>
          <p:nvPr/>
        </p:nvSpPr>
        <p:spPr>
          <a:xfrm>
            <a:off x="6871716" y="1691640"/>
            <a:ext cx="46954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před výpočtem, výpočet před obrazovkami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h6b5b3f776f01fd4e_5_112"/>
          <p:cNvSpPr txBox="1"/>
          <p:nvPr/>
        </p:nvSpPr>
        <p:spPr>
          <a:xfrm>
            <a:off x="6871716" y="2020824"/>
            <a:ext cx="46954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Backfill historie od 2020 a sedm zdrojů v QAS (M2) jsou podmínkou pro validaci jádra (M3). Frontend se staví souběžně, ale napojuje se až na ověřená data — nikdy na mock.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h6b5b3f776f01fd4e_5_112"/>
          <p:cNvSpPr/>
          <p:nvPr/>
        </p:nvSpPr>
        <p:spPr>
          <a:xfrm>
            <a:off x="621792" y="3127248"/>
            <a:ext cx="384048" cy="384048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h6b5b3f776f01fd4e_5_112"/>
          <p:cNvSpPr txBox="1"/>
          <p:nvPr/>
        </p:nvSpPr>
        <p:spPr>
          <a:xfrm>
            <a:off x="621792" y="31272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h6b5b3f776f01fd4e_5_112"/>
          <p:cNvSpPr txBox="1"/>
          <p:nvPr/>
        </p:nvSpPr>
        <p:spPr>
          <a:xfrm>
            <a:off x="1170432" y="3108960"/>
            <a:ext cx="46954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Predikce jako samostatná, ohraničená věc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h6b5b3f776f01fd4e_5_112"/>
          <p:cNvSpPr txBox="1"/>
          <p:nvPr/>
        </p:nvSpPr>
        <p:spPr>
          <a:xfrm>
            <a:off x="1170432" y="3438144"/>
            <a:ext cx="46954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Profilový model se trénuje na skutečné historii z M2 a validuje se proti archivu meteo předpovědí. Samostatná položka ceny, samostatný milník, žádná závislost frontendu na její přesnosti.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h6b5b3f776f01fd4e_5_112"/>
          <p:cNvSpPr/>
          <p:nvPr/>
        </p:nvSpPr>
        <p:spPr>
          <a:xfrm>
            <a:off x="6323076" y="3127248"/>
            <a:ext cx="384048" cy="384048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h6b5b3f776f01fd4e_5_112"/>
          <p:cNvSpPr txBox="1"/>
          <p:nvPr/>
        </p:nvSpPr>
        <p:spPr>
          <a:xfrm>
            <a:off x="6323076" y="31272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h6b5b3f776f01fd4e_5_112"/>
          <p:cNvSpPr txBox="1"/>
          <p:nvPr/>
        </p:nvSpPr>
        <p:spPr>
          <a:xfrm>
            <a:off x="6871716" y="3108960"/>
            <a:ext cx="46954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Akceptace po fázích, v QAS, s product ownerem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h6b5b3f776f01fd4e_5_112"/>
          <p:cNvSpPr txBox="1"/>
          <p:nvPr/>
        </p:nvSpPr>
        <p:spPr>
          <a:xfrm>
            <a:off x="6871716" y="3438144"/>
            <a:ext cx="46954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Každý milník má kritérium, které jde ověřit bez diskuse. UAT řídí product owner EG.D od M4. Bezpečnostní akceptace (M5) předchází jakémukoli nasazení do RUN.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h6b5b3f776f01fd4e_5_112"/>
          <p:cNvSpPr/>
          <p:nvPr/>
        </p:nvSpPr>
        <p:spPr>
          <a:xfrm>
            <a:off x="621792" y="4544568"/>
            <a:ext cx="384048" cy="384048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h6b5b3f776f01fd4e_5_112"/>
          <p:cNvSpPr txBox="1"/>
          <p:nvPr/>
        </p:nvSpPr>
        <p:spPr>
          <a:xfrm>
            <a:off x="621792" y="45445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h6b5b3f776f01fd4e_5_112"/>
          <p:cNvSpPr txBox="1"/>
          <p:nvPr/>
        </p:nvSpPr>
        <p:spPr>
          <a:xfrm>
            <a:off x="1170432" y="4526280"/>
            <a:ext cx="46954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RUN nasazuje výhradně E.ON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h6b5b3f776f01fd4e_5_112"/>
          <p:cNvSpPr txBox="1"/>
          <p:nvPr/>
        </p:nvSpPr>
        <p:spPr>
          <a:xfrm>
            <a:off x="1170432" y="4855464"/>
            <a:ext cx="46954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Dvě závislosti na E.ON IT jsou v plánu jako vlastní řádky: prostředí na začátku, promoce do RUN v říjnu. Zdržení na jejich straně nejde k tíži dodavatele (Q&amp;A), ale plán s ním počítá rezervou.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h6b5b3f776f01fd4e_5_112"/>
          <p:cNvSpPr/>
          <p:nvPr/>
        </p:nvSpPr>
        <p:spPr>
          <a:xfrm>
            <a:off x="6323076" y="4544568"/>
            <a:ext cx="384048" cy="384048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h6b5b3f776f01fd4e_5_112"/>
          <p:cNvSpPr txBox="1"/>
          <p:nvPr/>
        </p:nvSpPr>
        <p:spPr>
          <a:xfrm>
            <a:off x="6323076" y="45445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h6b5b3f776f01fd4e_5_112"/>
          <p:cNvSpPr txBox="1"/>
          <p:nvPr/>
        </p:nvSpPr>
        <p:spPr>
          <a:xfrm>
            <a:off x="6871716" y="4526280"/>
            <a:ext cx="46954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Pilot v produkci, rezerva před pevným termínem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h6b5b3f776f01fd4e_5_112"/>
          <p:cNvSpPr txBox="1"/>
          <p:nvPr/>
        </p:nvSpPr>
        <p:spPr>
          <a:xfrm>
            <a:off x="6871716" y="4855464"/>
            <a:ext cx="46954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Sedm týdnů pilotního provozu s reálnými denními dávkami a hypercare. Předání 17. 12. nechává dva týdny rezervy do 31. 12. 2027; podpora navazuje 1. 1. 2028 bez mezery.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9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Projektový tým 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9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Kapitola 8.4 žádá jmenovitě vedoucího projektu, hlavního konzultanta, datového analytika, architekta a vedoucího vývojového týmu.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19"/>
          <p:cNvSpPr/>
          <p:nvPr/>
        </p:nvSpPr>
        <p:spPr>
          <a:xfrm>
            <a:off x="621792" y="1737360"/>
            <a:ext cx="1709928" cy="3017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19"/>
          <p:cNvSpPr/>
          <p:nvPr/>
        </p:nvSpPr>
        <p:spPr>
          <a:xfrm>
            <a:off x="1110996" y="2011680"/>
            <a:ext cx="731520" cy="73152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19"/>
          <p:cNvSpPr txBox="1"/>
          <p:nvPr/>
        </p:nvSpPr>
        <p:spPr>
          <a:xfrm>
            <a:off x="804672" y="2880360"/>
            <a:ext cx="1344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Vedoucí projektu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9"/>
          <p:cNvSpPr txBox="1"/>
          <p:nvPr/>
        </p:nvSpPr>
        <p:spPr>
          <a:xfrm>
            <a:off x="804672" y="3364992"/>
            <a:ext cx="1344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Ondřej Stokláska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19"/>
          <p:cNvSpPr txBox="1"/>
          <p:nvPr/>
        </p:nvSpPr>
        <p:spPr>
          <a:xfrm>
            <a:off x="804672" y="3657600"/>
            <a:ext cx="13441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8C8C8C"/>
                </a:solidFill>
              </a:rPr>
              <a:t>Projektový manager a Solution Architect se zaměřením na Data. Role od roku 2008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19"/>
          <p:cNvSpPr/>
          <p:nvPr/>
        </p:nvSpPr>
        <p:spPr>
          <a:xfrm>
            <a:off x="2468880" y="1737360"/>
            <a:ext cx="1709928" cy="3017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19"/>
          <p:cNvSpPr/>
          <p:nvPr/>
        </p:nvSpPr>
        <p:spPr>
          <a:xfrm>
            <a:off x="2958083" y="2011680"/>
            <a:ext cx="731520" cy="73152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19"/>
          <p:cNvSpPr txBox="1"/>
          <p:nvPr/>
        </p:nvSpPr>
        <p:spPr>
          <a:xfrm>
            <a:off x="2651760" y="2880360"/>
            <a:ext cx="1344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Hlavní konzultant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19"/>
          <p:cNvSpPr txBox="1"/>
          <p:nvPr/>
        </p:nvSpPr>
        <p:spPr>
          <a:xfrm>
            <a:off x="2651760" y="3364992"/>
            <a:ext cx="1344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Tbd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19"/>
          <p:cNvSpPr txBox="1"/>
          <p:nvPr/>
        </p:nvSpPr>
        <p:spPr>
          <a:xfrm>
            <a:off x="2651760" y="3657600"/>
            <a:ext cx="13441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[Role od roku]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[Zkušenost s utilitním prostředím]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[Vazba na referenci]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19"/>
          <p:cNvSpPr/>
          <p:nvPr/>
        </p:nvSpPr>
        <p:spPr>
          <a:xfrm>
            <a:off x="4315968" y="1737360"/>
            <a:ext cx="1709928" cy="3017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19"/>
          <p:cNvSpPr/>
          <p:nvPr/>
        </p:nvSpPr>
        <p:spPr>
          <a:xfrm>
            <a:off x="4805172" y="2011680"/>
            <a:ext cx="731520" cy="73152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19"/>
          <p:cNvSpPr txBox="1"/>
          <p:nvPr/>
        </p:nvSpPr>
        <p:spPr>
          <a:xfrm>
            <a:off x="4498848" y="2880360"/>
            <a:ext cx="1344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/>
              <a:t>Data a</a:t>
            </a:r>
            <a:r>
              <a:rPr b="1" lang="en-US" sz="1200"/>
              <a:t>rchitect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9"/>
          <p:cNvSpPr txBox="1"/>
          <p:nvPr/>
        </p:nvSpPr>
        <p:spPr>
          <a:xfrm>
            <a:off x="4498848" y="3364992"/>
            <a:ext cx="1344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Pavel Chocholouš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19"/>
          <p:cNvSpPr txBox="1"/>
          <p:nvPr/>
        </p:nvSpPr>
        <p:spPr>
          <a:xfrm>
            <a:off x="4498848" y="3657600"/>
            <a:ext cx="13441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[Role od roku]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[Zkušenost s utilitním prostředím]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[Vazba na referenci]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19"/>
          <p:cNvSpPr/>
          <p:nvPr/>
        </p:nvSpPr>
        <p:spPr>
          <a:xfrm>
            <a:off x="8010144" y="1737360"/>
            <a:ext cx="1709928" cy="3017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19"/>
          <p:cNvSpPr/>
          <p:nvPr/>
        </p:nvSpPr>
        <p:spPr>
          <a:xfrm>
            <a:off x="8499419" y="2011680"/>
            <a:ext cx="731400" cy="7314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19"/>
          <p:cNvSpPr txBox="1"/>
          <p:nvPr/>
        </p:nvSpPr>
        <p:spPr>
          <a:xfrm>
            <a:off x="8193024" y="2880360"/>
            <a:ext cx="1344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Vedoucí vývojového týmu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19"/>
          <p:cNvSpPr txBox="1"/>
          <p:nvPr/>
        </p:nvSpPr>
        <p:spPr>
          <a:xfrm>
            <a:off x="8193024" y="3364992"/>
            <a:ext cx="1344168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Jan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Rádl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19"/>
          <p:cNvSpPr txBox="1"/>
          <p:nvPr/>
        </p:nvSpPr>
        <p:spPr>
          <a:xfrm>
            <a:off x="8193024" y="3657600"/>
            <a:ext cx="13441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Senior AI a frontend vývojář, autor frontendu E.ON Navigátor úspor. Role od roku 2008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19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19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6" name="Google Shape;106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7916" y="1901099"/>
            <a:ext cx="914400" cy="951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1831" y="1870937"/>
            <a:ext cx="1049575" cy="10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19" title="Untitled design (6)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1969" y="1898387"/>
            <a:ext cx="1049576" cy="104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19"/>
          <p:cNvSpPr/>
          <p:nvPr/>
        </p:nvSpPr>
        <p:spPr>
          <a:xfrm>
            <a:off x="9857232" y="1737360"/>
            <a:ext cx="1709928" cy="3017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19"/>
          <p:cNvSpPr/>
          <p:nvPr/>
        </p:nvSpPr>
        <p:spPr>
          <a:xfrm>
            <a:off x="10346507" y="2011680"/>
            <a:ext cx="731400" cy="7314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19"/>
          <p:cNvSpPr txBox="1"/>
          <p:nvPr/>
        </p:nvSpPr>
        <p:spPr>
          <a:xfrm>
            <a:off x="10040112" y="2880360"/>
            <a:ext cx="1344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/>
              <a:t>Obchod a administrativa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19"/>
          <p:cNvSpPr txBox="1"/>
          <p:nvPr/>
        </p:nvSpPr>
        <p:spPr>
          <a:xfrm>
            <a:off x="10040112" y="3364992"/>
            <a:ext cx="1344168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Michal Fibiger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19"/>
          <p:cNvSpPr txBox="1"/>
          <p:nvPr/>
        </p:nvSpPr>
        <p:spPr>
          <a:xfrm>
            <a:off x="10040112" y="3657600"/>
            <a:ext cx="13441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8C8C8C"/>
                </a:solidFill>
              </a:rPr>
              <a:t>CEO a jednatel Vorian, vede spolupráci se skupinou E.ON. Role od roku 2021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4" name="Google Shape;107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33178" y="1901100"/>
            <a:ext cx="951800" cy="9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LeadAnalyst 1075"/>
          <p:cNvSpPr/>
          <p:nvPr/>
        </p:nvSpPr>
        <p:spPr>
          <a:xfrm>
            <a:off x="6163056" y="1737360"/>
            <a:ext cx="1709928" cy="3017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LeadAnalyst 1076"/>
          <p:cNvSpPr/>
          <p:nvPr/>
        </p:nvSpPr>
        <p:spPr>
          <a:xfrm>
            <a:off x="6652259" y="2011680"/>
            <a:ext cx="731520" cy="73152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LeadAnalyst 1077"/>
          <p:cNvSpPr txBox="1"/>
          <p:nvPr/>
        </p:nvSpPr>
        <p:spPr>
          <a:xfrm>
            <a:off x="6345936" y="2880360"/>
            <a:ext cx="1344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 analyst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LeadAnalyst 1078"/>
          <p:cNvSpPr txBox="1"/>
          <p:nvPr/>
        </p:nvSpPr>
        <p:spPr>
          <a:xfrm>
            <a:off x="6345936" y="3364992"/>
            <a:ext cx="1344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Jan Lachman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LeadAnalyst 1079"/>
          <p:cNvSpPr txBox="1"/>
          <p:nvPr/>
        </p:nvSpPr>
        <p:spPr>
          <a:xfrm>
            <a:off x="6345936" y="3657600"/>
            <a:ext cx="13441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Senior Business a Solution Analyst, od roku 2025 v E.ON AI Tribe. Role od roku 2011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h3a1860cb4cd2a7a5_2_0"/>
          <p:cNvSpPr txBox="1"/>
          <p:nvPr/>
        </p:nvSpPr>
        <p:spPr>
          <a:xfrm>
            <a:off x="621792" y="411480"/>
            <a:ext cx="10945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Služby projektu — nasazení a předání </a:t>
            </a:r>
            <a:r>
              <a:rPr b="1" i="0" lang="en-US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(check oproti arch.!)</a:t>
            </a:r>
            <a:endParaRPr b="0" i="0" sz="2800" u="none" cap="none" strike="noStrike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h3a1860cb4cd2a7a5_2_0"/>
          <p:cNvSpPr txBox="1"/>
          <p:nvPr/>
        </p:nvSpPr>
        <p:spPr>
          <a:xfrm>
            <a:off x="621792" y="960120"/>
            <a:ext cx="10945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Dodáváme tři věci: aplikaci, prostředí, ve kterém vzniká, a cestu, kterou se do něj dostává. Vše v tenantu E.ON, vše v GitLabu E.ON.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h3a1860cb4cd2a7a5_2_0"/>
          <p:cNvSpPr txBox="1"/>
          <p:nvPr/>
        </p:nvSpPr>
        <p:spPr>
          <a:xfrm>
            <a:off x="41148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h3a1860cb4cd2a7a5_2_0"/>
          <p:cNvSpPr txBox="1"/>
          <p:nvPr/>
        </p:nvSpPr>
        <p:spPr>
          <a:xfrm>
            <a:off x="10863072" y="64190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h3a1860cb4cd2a7a5_2_0"/>
          <p:cNvSpPr/>
          <p:nvPr/>
        </p:nvSpPr>
        <p:spPr>
          <a:xfrm>
            <a:off x="621792" y="1481328"/>
            <a:ext cx="329184" cy="329184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h3a1860cb4cd2a7a5_2_0"/>
          <p:cNvSpPr txBox="1"/>
          <p:nvPr/>
        </p:nvSpPr>
        <p:spPr>
          <a:xfrm>
            <a:off x="621792" y="14813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h3a1860cb4cd2a7a5_2_0"/>
          <p:cNvSpPr txBox="1"/>
          <p:nvPr/>
        </p:nvSpPr>
        <p:spPr>
          <a:xfrm>
            <a:off x="1078992" y="1463040"/>
            <a:ext cx="2886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Aplikace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h3a1860cb4cd2a7a5_2_0"/>
          <p:cNvSpPr txBox="1"/>
          <p:nvPr/>
        </p:nvSpPr>
        <p:spPr>
          <a:xfrm>
            <a:off x="1078992" y="1773936"/>
            <a:ext cx="28864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Kontejnerové image (frontend, Query API, admin portál, engine) v Azure Container Registry E.ON. Každé vydání = Git tag + SBOM + výsledek skenu Wiz. Databázové migrace verzované, zpětně kompatibilní (expand / contract), takže rollback je návrat na předchozí tag.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h3a1860cb4cd2a7a5_2_0"/>
          <p:cNvSpPr/>
          <p:nvPr/>
        </p:nvSpPr>
        <p:spPr>
          <a:xfrm>
            <a:off x="4422648" y="1481328"/>
            <a:ext cx="329184" cy="329184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h3a1860cb4cd2a7a5_2_0"/>
          <p:cNvSpPr txBox="1"/>
          <p:nvPr/>
        </p:nvSpPr>
        <p:spPr>
          <a:xfrm>
            <a:off x="4422648" y="14813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h3a1860cb4cd2a7a5_2_0"/>
          <p:cNvSpPr txBox="1"/>
          <p:nvPr/>
        </p:nvSpPr>
        <p:spPr>
          <a:xfrm>
            <a:off x="4879848" y="1463040"/>
            <a:ext cx="2886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Prostředí jako kód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h3a1860cb4cd2a7a5_2_0"/>
          <p:cNvSpPr txBox="1"/>
          <p:nvPr/>
        </p:nvSpPr>
        <p:spPr>
          <a:xfrm>
            <a:off x="4879848" y="1773936"/>
            <a:ext cx="28864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Terraform pro QAS i RUN v jednom repozitáři: Container Apps, PostgreSQL, ADLS, Key Vault, private endpoints, diagnostika. Síť, Cloudflare a APIM spravuje E.ON IT — naše moduly je jen referencují. Prostředí lze z repozitáře znovu postavit v řádu hodin.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h3a1860cb4cd2a7a5_2_0"/>
          <p:cNvSpPr/>
          <p:nvPr/>
        </p:nvSpPr>
        <p:spPr>
          <a:xfrm>
            <a:off x="8223504" y="1481328"/>
            <a:ext cx="329184" cy="329184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h3a1860cb4cd2a7a5_2_0"/>
          <p:cNvSpPr txBox="1"/>
          <p:nvPr/>
        </p:nvSpPr>
        <p:spPr>
          <a:xfrm>
            <a:off x="8223504" y="14813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h3a1860cb4cd2a7a5_2_0"/>
          <p:cNvSpPr txBox="1"/>
          <p:nvPr/>
        </p:nvSpPr>
        <p:spPr>
          <a:xfrm>
            <a:off x="8680704" y="1463040"/>
            <a:ext cx="2886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Nasazovací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h3a1860cb4cd2a7a5_2_0"/>
          <p:cNvSpPr txBox="1"/>
          <p:nvPr/>
        </p:nvSpPr>
        <p:spPr>
          <a:xfrm>
            <a:off x="8680704" y="1773936"/>
            <a:ext cx="28864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GitLab CI s branami: testy ≥ 80 %, SAST, dependency scan, Wiz, DAST před promocí. Do QAS nasazuje Vorian, do RUN výhradně E.ON IT po schválení EG.D. Pipeline, runbooky a dokumentace jsou součást předání, ne služba navíc.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h3a1860cb4cd2a7a5_2_0"/>
          <p:cNvSpPr txBox="1"/>
          <p:nvPr/>
        </p:nvSpPr>
        <p:spPr>
          <a:xfrm>
            <a:off x="621792" y="324612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JAK SE VYDÁVÁ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h3a1860cb4cd2a7a5_2_0"/>
          <p:cNvSpPr/>
          <p:nvPr/>
        </p:nvSpPr>
        <p:spPr>
          <a:xfrm>
            <a:off x="621792" y="3520440"/>
            <a:ext cx="1687068" cy="82296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h3a1860cb4cd2a7a5_2_0"/>
          <p:cNvSpPr txBox="1"/>
          <p:nvPr/>
        </p:nvSpPr>
        <p:spPr>
          <a:xfrm>
            <a:off x="758952" y="3611880"/>
            <a:ext cx="14127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h3a1860cb4cd2a7a5_2_0"/>
          <p:cNvSpPr txBox="1"/>
          <p:nvPr/>
        </p:nvSpPr>
        <p:spPr>
          <a:xfrm>
            <a:off x="758952" y="3913632"/>
            <a:ext cx="14127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review, reviewer ≠ autor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0" name="Google Shape;1100;h3a1860cb4cd2a7a5_2_0"/>
          <p:cNvCxnSpPr/>
          <p:nvPr/>
        </p:nvCxnSpPr>
        <p:spPr>
          <a:xfrm>
            <a:off x="2308860" y="3931920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1" name="Google Shape;1101;h3a1860cb4cd2a7a5_2_0"/>
          <p:cNvSpPr/>
          <p:nvPr/>
        </p:nvSpPr>
        <p:spPr>
          <a:xfrm>
            <a:off x="2473452" y="3520440"/>
            <a:ext cx="1687068" cy="82296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h3a1860cb4cd2a7a5_2_0"/>
          <p:cNvSpPr txBox="1"/>
          <p:nvPr/>
        </p:nvSpPr>
        <p:spPr>
          <a:xfrm>
            <a:off x="2610612" y="3611880"/>
            <a:ext cx="14127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 gates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h3a1860cb4cd2a7a5_2_0"/>
          <p:cNvSpPr txBox="1"/>
          <p:nvPr/>
        </p:nvSpPr>
        <p:spPr>
          <a:xfrm>
            <a:off x="2610612" y="3913632"/>
            <a:ext cx="14127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testy, SAST, dependency, Wiz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4" name="Google Shape;1104;h3a1860cb4cd2a7a5_2_0"/>
          <p:cNvCxnSpPr/>
          <p:nvPr/>
        </p:nvCxnSpPr>
        <p:spPr>
          <a:xfrm>
            <a:off x="4160520" y="3931920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5" name="Google Shape;1105;h3a1860cb4cd2a7a5_2_0"/>
          <p:cNvSpPr/>
          <p:nvPr/>
        </p:nvSpPr>
        <p:spPr>
          <a:xfrm>
            <a:off x="4325112" y="3520440"/>
            <a:ext cx="1687068" cy="82296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h3a1860cb4cd2a7a5_2_0"/>
          <p:cNvSpPr txBox="1"/>
          <p:nvPr/>
        </p:nvSpPr>
        <p:spPr>
          <a:xfrm>
            <a:off x="4462272" y="3611880"/>
            <a:ext cx="14127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→ ACR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h3a1860cb4cd2a7a5_2_0"/>
          <p:cNvSpPr txBox="1"/>
          <p:nvPr/>
        </p:nvSpPr>
        <p:spPr>
          <a:xfrm>
            <a:off x="4462272" y="3913632"/>
            <a:ext cx="14127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push jen po čistém skenu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8" name="Google Shape;1108;h3a1860cb4cd2a7a5_2_0"/>
          <p:cNvCxnSpPr/>
          <p:nvPr/>
        </p:nvCxnSpPr>
        <p:spPr>
          <a:xfrm>
            <a:off x="6012180" y="3931920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9" name="Google Shape;1109;h3a1860cb4cd2a7a5_2_0"/>
          <p:cNvSpPr/>
          <p:nvPr/>
        </p:nvSpPr>
        <p:spPr>
          <a:xfrm>
            <a:off x="6176772" y="3520440"/>
            <a:ext cx="1687068" cy="82296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h3a1860cb4cd2a7a5_2_0"/>
          <p:cNvSpPr txBox="1"/>
          <p:nvPr/>
        </p:nvSpPr>
        <p:spPr>
          <a:xfrm>
            <a:off x="6313932" y="3611880"/>
            <a:ext cx="14127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h3a1860cb4cd2a7a5_2_0"/>
          <p:cNvSpPr txBox="1"/>
          <p:nvPr/>
        </p:nvSpPr>
        <p:spPr>
          <a:xfrm>
            <a:off x="6313932" y="3913632"/>
            <a:ext cx="14127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nasazuje Vorian, DAST, UAT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2" name="Google Shape;1112;h3a1860cb4cd2a7a5_2_0"/>
          <p:cNvCxnSpPr/>
          <p:nvPr/>
        </p:nvCxnSpPr>
        <p:spPr>
          <a:xfrm>
            <a:off x="7863840" y="3931920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3" name="Google Shape;1113;h3a1860cb4cd2a7a5_2_0"/>
          <p:cNvSpPr/>
          <p:nvPr/>
        </p:nvSpPr>
        <p:spPr>
          <a:xfrm>
            <a:off x="8028432" y="3520440"/>
            <a:ext cx="1687068" cy="82296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h3a1860cb4cd2a7a5_2_0"/>
          <p:cNvSpPr txBox="1"/>
          <p:nvPr/>
        </p:nvSpPr>
        <p:spPr>
          <a:xfrm>
            <a:off x="8165592" y="3611880"/>
            <a:ext cx="14127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Schválení EG.D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h3a1860cb4cd2a7a5_2_0"/>
          <p:cNvSpPr txBox="1"/>
          <p:nvPr/>
        </p:nvSpPr>
        <p:spPr>
          <a:xfrm>
            <a:off x="8165592" y="3913632"/>
            <a:ext cx="14127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product owner, release note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6" name="Google Shape;1116;h3a1860cb4cd2a7a5_2_0"/>
          <p:cNvCxnSpPr/>
          <p:nvPr/>
        </p:nvCxnSpPr>
        <p:spPr>
          <a:xfrm>
            <a:off x="9715500" y="3931920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7" name="Google Shape;1117;h3a1860cb4cd2a7a5_2_0"/>
          <p:cNvSpPr/>
          <p:nvPr/>
        </p:nvSpPr>
        <p:spPr>
          <a:xfrm>
            <a:off x="9880092" y="3520440"/>
            <a:ext cx="1687068" cy="82296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h3a1860cb4cd2a7a5_2_0"/>
          <p:cNvSpPr txBox="1"/>
          <p:nvPr/>
        </p:nvSpPr>
        <p:spPr>
          <a:xfrm>
            <a:off x="10017252" y="3611880"/>
            <a:ext cx="14127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h3a1860cb4cd2a7a5_2_0"/>
          <p:cNvSpPr txBox="1"/>
          <p:nvPr/>
        </p:nvSpPr>
        <p:spPr>
          <a:xfrm>
            <a:off x="10017252" y="3913632"/>
            <a:ext cx="14127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nasazuje E.ON IT, smoke test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0" name="Google Shape;1120;h3a1860cb4cd2a7a5_2_0"/>
          <p:cNvGraphicFramePr/>
          <p:nvPr/>
        </p:nvGraphicFramePr>
        <p:xfrm>
          <a:off x="621792" y="45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{4AE20A2F-A244-48F6-8F02-71892E3F2A70}</a:tableStyleId>
              </a:tblPr>
              <a:tblGrid>
                <a:gridCol w="2194550"/>
                <a:gridCol w="3017525"/>
                <a:gridCol w="2011675"/>
                <a:gridCol w="372160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Režim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Kadence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Kdo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 obsahuje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Realizace (do 12/2027)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 každém milníku M2–M5 do QAS; do RUN pro pilot (M5→F5)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Vorian → E.ON IT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inkrement funkcí, migrace, aktualizace runbooků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Podpora — plánované vydání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1× měsíčně v dohodnutém okně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Vorian připraví, E.ON IT nasadí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opravy vad, bezpečnostní aktualizace knihovek a base image, drobný rozvoj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Podpora — hotfix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 5 pracovních dní od potvrzení vady (dle katalogového listu)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Vorian → E.ON IT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izolovaná oprava na předchozím tagu, stejné brány, zkrácené review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Předání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M6, 17. 12. 2027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Vorian → E.ON IT + EG.D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repozitáře, pipeline, Terraform, provozní a uživatelská dokumentace, runbooky, zaškolení, protokol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h3a1860cb4cd2a7a5_2_46"/>
          <p:cNvSpPr txBox="1"/>
          <p:nvPr/>
        </p:nvSpPr>
        <p:spPr>
          <a:xfrm>
            <a:off x="621792" y="411480"/>
            <a:ext cx="10945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Zálohování, obnova a podpora provozu </a:t>
            </a:r>
            <a:r>
              <a:rPr b="1" lang="en-US" sz="2800">
                <a:solidFill>
                  <a:schemeClr val="dk1"/>
                </a:solidFill>
                <a:highlight>
                  <a:srgbClr val="FFFF00"/>
                </a:highlight>
              </a:rPr>
              <a:t>(check oproti arch.!)</a:t>
            </a:r>
            <a:endParaRPr b="1" sz="2800"/>
          </a:p>
        </p:txBody>
      </p:sp>
      <p:sp>
        <p:nvSpPr>
          <p:cNvPr id="1127" name="Google Shape;1127;h3a1860cb4cd2a7a5_2_46"/>
          <p:cNvSpPr txBox="1"/>
          <p:nvPr/>
        </p:nvSpPr>
        <p:spPr>
          <a:xfrm>
            <a:off x="621792" y="960120"/>
            <a:ext cx="10945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Veřejná data, malý objem, vše odvoditelné z raw vrstvy. Zálohujeme to, co nejde znovu stáhnout, a umíme to prokázat obnovou.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h3a1860cb4cd2a7a5_2_46"/>
          <p:cNvSpPr txBox="1"/>
          <p:nvPr/>
        </p:nvSpPr>
        <p:spPr>
          <a:xfrm>
            <a:off x="41148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h3a1860cb4cd2a7a5_2_46"/>
          <p:cNvSpPr txBox="1"/>
          <p:nvPr/>
        </p:nvSpPr>
        <p:spPr>
          <a:xfrm>
            <a:off x="10863072" y="64190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0" name="Google Shape;1130;h3a1860cb4cd2a7a5_2_46"/>
          <p:cNvGraphicFramePr/>
          <p:nvPr/>
        </p:nvGraphicFramePr>
        <p:xfrm>
          <a:off x="621792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{4AE20A2F-A244-48F6-8F02-71892E3F2A70}</a:tableStyleId>
              </a:tblPr>
              <a:tblGrid>
                <a:gridCol w="2194550"/>
                <a:gridCol w="3566150"/>
                <a:gridCol w="914400"/>
                <a:gridCol w="731525"/>
                <a:gridCol w="35387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Komponenta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Mechanismus zálohy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RPO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RTO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Poznámka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 Flexible Server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automatické zálohy Azure + WAL, point-in-time restore, retence 14 dní, zónově redundantní úložiště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 5 min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 2 h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obnova do nového serveru a přepnutí private endpointu; čtvrtletní test obnovy v runbooku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ADLS Gen2 — raw archiv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neměnné soubory, ZRS replikace, soft delete 30 dní, verzování blobů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(zapsaná dávka)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 1 h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zdroj pravdy pro reprocessing; uchování do 12/2033 dle podmínek dotace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Odvozená data (fakta, pohledy, predikce)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nezálohují se zvlášť — přepočet jobů compute / predict / publish z raw a faktů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 4 h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celá historie od 2020 se přepočítá v jednotkách minut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Konfigurace a tajemství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Vault soft delete + purge protection; Terraform state v úložišti E.ON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 1 h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žádné tajemství mimo Key Vault, nic k ruční rekonstrukci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Kód, image, pipeline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GitLab E.ON (záloha dle politiky E.ON), ACR s retencí tagů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 4 h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prostředí lze z repozitáře znovu postavit; image se neskladují mimo tenant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Roční podklady MPO / ERÚ / ČSÚ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originální soubory v ADLS + záznam uploadu v databázi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 1 h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uploaduje EG.D, obsah souborů garantuje EG.D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1" name="Google Shape;1131;h3a1860cb4cd2a7a5_2_46"/>
          <p:cNvSpPr txBox="1"/>
          <p:nvPr/>
        </p:nvSpPr>
        <p:spPr>
          <a:xfrm>
            <a:off x="621792" y="41605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PODPORA PROVOZU — 36 + 12 MĚSÍCŮ OD 1. 1. 2028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h3a1860cb4cd2a7a5_2_46"/>
          <p:cNvSpPr/>
          <p:nvPr/>
        </p:nvSpPr>
        <p:spPr>
          <a:xfrm>
            <a:off x="621792" y="4453128"/>
            <a:ext cx="329184" cy="329184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h3a1860cb4cd2a7a5_2_46"/>
          <p:cNvSpPr txBox="1"/>
          <p:nvPr/>
        </p:nvSpPr>
        <p:spPr>
          <a:xfrm>
            <a:off x="621792" y="44531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h3a1860cb4cd2a7a5_2_46"/>
          <p:cNvSpPr txBox="1"/>
          <p:nvPr/>
        </p:nvSpPr>
        <p:spPr>
          <a:xfrm>
            <a:off x="1078992" y="4434840"/>
            <a:ext cx="2886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Paušál — odstraňování vad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h3a1860cb4cd2a7a5_2_46"/>
          <p:cNvSpPr txBox="1"/>
          <p:nvPr/>
        </p:nvSpPr>
        <p:spPr>
          <a:xfrm>
            <a:off x="1078992" y="4745736"/>
            <a:ext cx="28864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Pracovní dny 8–17 h, bez pohotovosti mimo pracovní dobu (katalogový list ji nepožaduje, dostupnost není sledovaný parametr). Jmenovitý kontakt — tiket zakládá a vede člověk, ne automat. Zahrnuje monitoring dávek, bezpečnostní aktualizace, měsíční vydání, čtvrtletní test obnovy a access review.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h3a1860cb4cd2a7a5_2_46"/>
          <p:cNvSpPr/>
          <p:nvPr/>
        </p:nvSpPr>
        <p:spPr>
          <a:xfrm>
            <a:off x="4422648" y="4453128"/>
            <a:ext cx="329184" cy="329184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h3a1860cb4cd2a7a5_2_46"/>
          <p:cNvSpPr txBox="1"/>
          <p:nvPr/>
        </p:nvSpPr>
        <p:spPr>
          <a:xfrm>
            <a:off x="4422648" y="44531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h3a1860cb4cd2a7a5_2_46"/>
          <p:cNvSpPr txBox="1"/>
          <p:nvPr/>
        </p:nvSpPr>
        <p:spPr>
          <a:xfrm>
            <a:off x="4879848" y="4434840"/>
            <a:ext cx="2886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Servisní služby a drobný rozvoj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h3a1860cb4cd2a7a5_2_46"/>
          <p:cNvSpPr txBox="1"/>
          <p:nvPr/>
        </p:nvSpPr>
        <p:spPr>
          <a:xfrm>
            <a:off x="4879848" y="4745736"/>
            <a:ext cx="28864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Sazbou za MD dle Přílohy č. 3: roční nahrání podkladů a přepočet EKO-indexu, změny schémat externích rozhraní, nové vizualizace, úpravy po změně metodiky MPO. Objednává product owner EG.D, každá položka má odhad předem.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h3a1860cb4cd2a7a5_2_46"/>
          <p:cNvSpPr/>
          <p:nvPr/>
        </p:nvSpPr>
        <p:spPr>
          <a:xfrm>
            <a:off x="8223504" y="4453128"/>
            <a:ext cx="329184" cy="329184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h3a1860cb4cd2a7a5_2_46"/>
          <p:cNvSpPr txBox="1"/>
          <p:nvPr/>
        </p:nvSpPr>
        <p:spPr>
          <a:xfrm>
            <a:off x="8223504" y="44531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h3a1860cb4cd2a7a5_2_46"/>
          <p:cNvSpPr txBox="1"/>
          <p:nvPr/>
        </p:nvSpPr>
        <p:spPr>
          <a:xfrm>
            <a:off x="8680704" y="4434840"/>
            <a:ext cx="2886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 podpora nezahrnuje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h3a1860cb4cd2a7a5_2_46"/>
          <p:cNvSpPr txBox="1"/>
          <p:nvPr/>
        </p:nvSpPr>
        <p:spPr>
          <a:xfrm>
            <a:off x="8680704" y="4745736"/>
            <a:ext cx="28864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Provoz Azure, Cloudflare, New Relic a licence (hradí E.ON). Zásahy v RUN — provádí E.ON IT na náš podnět. Správa obsahu a statických textů (dodává EG.D). Reakce na změny v DWH EG.D bez předchozího oznámení.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h3a1860cb4cd2a7a5_2_68"/>
          <p:cNvSpPr txBox="1"/>
          <p:nvPr/>
        </p:nvSpPr>
        <p:spPr>
          <a:xfrm>
            <a:off x="621792" y="411480"/>
            <a:ext cx="10945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Vymezení požadavků, které nabídka nepokrývá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h3a1860cb4cd2a7a5_2_68"/>
          <p:cNvSpPr txBox="1"/>
          <p:nvPr/>
        </p:nvSpPr>
        <p:spPr>
          <a:xfrm>
            <a:off x="621792" y="960120"/>
            <a:ext cx="10945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Jednoznačně, aby hodnocení i smlouva stály na stejném rozsahu. Každý bod má oporu v zadání nebo v odpovědích na dotazy.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h3a1860cb4cd2a7a5_2_68"/>
          <p:cNvSpPr txBox="1"/>
          <p:nvPr/>
        </p:nvSpPr>
        <p:spPr>
          <a:xfrm>
            <a:off x="41148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h3a1860cb4cd2a7a5_2_68"/>
          <p:cNvSpPr txBox="1"/>
          <p:nvPr/>
        </p:nvSpPr>
        <p:spPr>
          <a:xfrm>
            <a:off x="10863072" y="64190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3" name="Google Shape;1153;h3a1860cb4cd2a7a5_2_68"/>
          <p:cNvGraphicFramePr/>
          <p:nvPr/>
        </p:nvGraphicFramePr>
        <p:xfrm>
          <a:off x="621792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{4AE20A2F-A244-48F6-8F02-71892E3F2A70}</a:tableStyleId>
              </a:tblPr>
              <a:tblGrid>
                <a:gridCol w="365750"/>
                <a:gridCol w="3931925"/>
                <a:gridCol w="4572000"/>
                <a:gridCol w="20757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Požadavek / oblast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Stav v nabídce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Opora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Popis řešení pro hodnocení rizik a zobrazení aktuálního stavu řešení (kap. 8.5)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Nezpracováno — položka převzata z jiného VŘ a zadavatelem zrušena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e-mail R. Lácha, 22. 9. 2026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Dostupnost aplikace jako sledovaný parametr SLA; pohotovost mimo pracovní dobu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Nenabízíme; podpora v pracovní dny 8–17 h, lhůty dle katalogového listu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katalogový list, Q&amp;A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Garantovaná přesnost predikce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Nenabízíme; profilová třída modelu, cílová chybovost ~10 %, bez akceptační metriky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Q&amp;A (zadavatel metriku odmítl)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/ LLM komponenta v běžícím řešení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Nenabízíme; AI jen jako nástroj při vývoji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Q&amp;A 166, 192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Správa obsahu, redakční systém, texty lokalit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Nenabízíme CMS; statické popisy dodává EG.D jako data, úpravy přes servisní služby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Q&amp;A (obsah není naceněn)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Azure, Cloudflare, New Relic, licence třetích stran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Hradí objednatel, nejsou součástí ceny; vyčíslujeme pouze orientačně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Q&amp;A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Nasazení do RUN, správa sítě, certifikátů, Cloudflare a APIM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Provádí E.ON IT; dodáváme podklady a součinnost; zdržení nejde k tíži dodavatele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Q&amp;A 1, 75, 76, 179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Okresy mimo distribuční území (Havlíčkův Brod, Vsetín); Olomoucký kraj jen Prostějov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Nepokrýváme; rozsah 22 okresů dle mapování zadavatele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příloha Mapování okresů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Granularita jemnější než 1 hodina; jiné než české jazykové mutace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Nenabízíme; 1 h / okres dle Q&amp;A, pouze čeština dle zadání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Q&amp;A, Příloha 1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Změny schémat externích rozhraní (ENTSO-E, OTE, CzechGlobe) a metodiky MPO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Mimo paušál; řešeno servisními službami nebo drobným rozvojem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Příloha 3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Certifikace ISO/IEC 27001 k datu podání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Žádáme o výjimku; certifikační proces od začátku 2027, opatření doloženo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Q&amp;A 200, 201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Provoz po 48 měsících podpory do konce udržitelnosti dotace (12/2033)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Nenabízíme v ceně; archiv a dokumentace předány tak, aby provoz mohl převzít E.ON nebo třetí strana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Ustanovení pro dodavatele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20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Požadavky na součinnost</a:t>
            </a:r>
            <a:endParaRPr sz="33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20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Kapitola 8.8 žádá odhad součinnosti zadavatele v člověkodnech pro všechny fáze.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20"/>
          <p:cNvSpPr txBox="1"/>
          <p:nvPr/>
        </p:nvSpPr>
        <p:spPr>
          <a:xfrm>
            <a:off x="621792" y="164592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Role na straně zadavatele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0"/>
          <p:cNvSpPr txBox="1"/>
          <p:nvPr/>
        </p:nvSpPr>
        <p:spPr>
          <a:xfrm>
            <a:off x="4005072" y="164592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Fáze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0"/>
          <p:cNvSpPr txBox="1"/>
          <p:nvPr/>
        </p:nvSpPr>
        <p:spPr>
          <a:xfrm>
            <a:off x="5925312" y="164592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Odhad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20"/>
          <p:cNvSpPr txBox="1"/>
          <p:nvPr/>
        </p:nvSpPr>
        <p:spPr>
          <a:xfrm>
            <a:off x="7114032" y="1645920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Předmět součinnosti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5" name="Google Shape;1165;p20"/>
          <p:cNvCxnSpPr/>
          <p:nvPr/>
        </p:nvCxnSpPr>
        <p:spPr>
          <a:xfrm>
            <a:off x="621792" y="1911096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6" name="Google Shape;1166;p20"/>
          <p:cNvSpPr txBox="1"/>
          <p:nvPr/>
        </p:nvSpPr>
        <p:spPr>
          <a:xfrm>
            <a:off x="621792" y="1993392"/>
            <a:ext cx="3246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 EG.D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Produktový vlastník pro produkt GABINA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0"/>
          <p:cNvSpPr txBox="1"/>
          <p:nvPr/>
        </p:nvSpPr>
        <p:spPr>
          <a:xfrm>
            <a:off x="4005072" y="1993392"/>
            <a:ext cx="1783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průběžně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0"/>
          <p:cNvSpPr txBox="1"/>
          <p:nvPr/>
        </p:nvSpPr>
        <p:spPr>
          <a:xfrm>
            <a:off x="5925312" y="1993392"/>
            <a:ext cx="1051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</a:rPr>
              <a:t>44 MDs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20"/>
          <p:cNvSpPr txBox="1"/>
          <p:nvPr/>
        </p:nvSpPr>
        <p:spPr>
          <a:xfrm>
            <a:off x="7114032" y="1993392"/>
            <a:ext cx="4343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</a:rPr>
              <a:t>řízení a koordinace dodávky za EG.D, řídí alokaci interních stakeholderů, r</a:t>
            </a:r>
            <a:r>
              <a:rPr lang="en-US" sz="1100">
                <a:solidFill>
                  <a:srgbClr val="8C8C8C"/>
                </a:solidFill>
              </a:rPr>
              <a:t>ozhodnutí o rozsahu, řízení změn, testování a UAT, akceptace</a:t>
            </a:r>
            <a:endParaRPr sz="1100">
              <a:solidFill>
                <a:srgbClr val="8C8C8C"/>
              </a:solidFill>
            </a:endParaRPr>
          </a:p>
        </p:txBody>
      </p:sp>
      <p:cxnSp>
        <p:nvCxnSpPr>
          <p:cNvPr id="1170" name="Google Shape;1170;p20"/>
          <p:cNvCxnSpPr/>
          <p:nvPr/>
        </p:nvCxnSpPr>
        <p:spPr>
          <a:xfrm>
            <a:off x="621792" y="2536921"/>
            <a:ext cx="109455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1" name="Google Shape;1171;p20"/>
          <p:cNvSpPr txBox="1"/>
          <p:nvPr/>
        </p:nvSpPr>
        <p:spPr>
          <a:xfrm>
            <a:off x="623242" y="2825492"/>
            <a:ext cx="3246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EG.D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Datový specialista DWH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20"/>
          <p:cNvSpPr txBox="1"/>
          <p:nvPr/>
        </p:nvSpPr>
        <p:spPr>
          <a:xfrm>
            <a:off x="4006522" y="2825492"/>
            <a:ext cx="178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fáze 0–1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20"/>
          <p:cNvSpPr txBox="1"/>
          <p:nvPr/>
        </p:nvSpPr>
        <p:spPr>
          <a:xfrm>
            <a:off x="5926762" y="2825492"/>
            <a:ext cx="1051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</a:rPr>
              <a:t>24 MDs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0"/>
          <p:cNvSpPr txBox="1"/>
          <p:nvPr/>
        </p:nvSpPr>
        <p:spPr>
          <a:xfrm>
            <a:off x="7115282" y="2785811"/>
            <a:ext cx="4343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Rozhraní, struktura dat, lokality, čís</a:t>
            </a:r>
            <a:r>
              <a:rPr lang="en-US" sz="1100">
                <a:solidFill>
                  <a:srgbClr val="8C8C8C"/>
                </a:solidFill>
              </a:rPr>
              <a:t>elníky,</a:t>
            </a: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 testovací a trénovací data, integrace na DW</a:t>
            </a:r>
            <a:r>
              <a:rPr lang="en-US" sz="1100">
                <a:solidFill>
                  <a:srgbClr val="8C8C8C"/>
                </a:solidFill>
              </a:rPr>
              <a:t>H / zdrojové systémy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5" name="Google Shape;1175;p20"/>
          <p:cNvCxnSpPr/>
          <p:nvPr/>
        </p:nvCxnSpPr>
        <p:spPr>
          <a:xfrm>
            <a:off x="623242" y="3200396"/>
            <a:ext cx="109455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6" name="Google Shape;1176;p20"/>
          <p:cNvSpPr txBox="1"/>
          <p:nvPr/>
        </p:nvSpPr>
        <p:spPr>
          <a:xfrm>
            <a:off x="623242" y="3606830"/>
            <a:ext cx="3246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EG.D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architektura,</a:t>
            </a:r>
            <a:r>
              <a:rPr b="1" lang="en-US" sz="1100"/>
              <a:t> i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nfrastruktura a bezpečnost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20"/>
          <p:cNvSpPr txBox="1"/>
          <p:nvPr/>
        </p:nvSpPr>
        <p:spPr>
          <a:xfrm>
            <a:off x="4006522" y="3606830"/>
            <a:ext cx="178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fáze 1–5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0"/>
          <p:cNvSpPr txBox="1"/>
          <p:nvPr/>
        </p:nvSpPr>
        <p:spPr>
          <a:xfrm>
            <a:off x="5926762" y="3606830"/>
            <a:ext cx="1051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</a:rPr>
              <a:t>36 MDs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20"/>
          <p:cNvSpPr txBox="1"/>
          <p:nvPr/>
        </p:nvSpPr>
        <p:spPr>
          <a:xfrm>
            <a:off x="7115275" y="3350623"/>
            <a:ext cx="4343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Subskripce, síť, certifikáty, preferované fr</a:t>
            </a:r>
            <a:r>
              <a:rPr lang="en-US" sz="1100">
                <a:solidFill>
                  <a:srgbClr val="8C8C8C"/>
                </a:solidFill>
              </a:rPr>
              <a:t>ameworky, </a:t>
            </a: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nasazení do TEST a RUN, </a:t>
            </a:r>
            <a:r>
              <a:rPr lang="en-US" sz="1100">
                <a:solidFill>
                  <a:srgbClr val="8C8C8C"/>
                </a:solidFill>
              </a:rPr>
              <a:t>Threat modely, schválení výjimek</a:t>
            </a:r>
            <a:endParaRPr sz="1100">
              <a:solidFill>
                <a:srgbClr val="8C8C8C"/>
              </a:solidFill>
            </a:endParaRPr>
          </a:p>
        </p:txBody>
      </p:sp>
      <p:cxnSp>
        <p:nvCxnSpPr>
          <p:cNvPr id="1180" name="Google Shape;1180;p20"/>
          <p:cNvCxnSpPr/>
          <p:nvPr/>
        </p:nvCxnSpPr>
        <p:spPr>
          <a:xfrm>
            <a:off x="623242" y="3981734"/>
            <a:ext cx="109455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1" name="Google Shape;1181;p20"/>
          <p:cNvSpPr txBox="1"/>
          <p:nvPr/>
        </p:nvSpPr>
        <p:spPr>
          <a:xfrm>
            <a:off x="293955" y="6551563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20"/>
          <p:cNvSpPr txBox="1"/>
          <p:nvPr/>
        </p:nvSpPr>
        <p:spPr>
          <a:xfrm>
            <a:off x="10864597" y="6482113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21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Infrastruktura a provozní náklady - vyClaudit</a:t>
            </a:r>
            <a:r>
              <a:rPr b="1" lang="en-US" sz="3300">
                <a:highlight>
                  <a:srgbClr val="FFFF00"/>
                </a:highlight>
              </a:rPr>
              <a:t>…</a:t>
            </a:r>
            <a:endParaRPr sz="33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1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Kapitola 8.7 žádá návrh technické specifikace v prostředí Azure pro ocenění provozních nákladů.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1"/>
          <p:cNvSpPr/>
          <p:nvPr/>
        </p:nvSpPr>
        <p:spPr>
          <a:xfrm>
            <a:off x="621792" y="1691640"/>
            <a:ext cx="5198364" cy="3108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1"/>
          <p:cNvSpPr txBox="1"/>
          <p:nvPr/>
        </p:nvSpPr>
        <p:spPr>
          <a:xfrm>
            <a:off x="987552" y="3017520"/>
            <a:ext cx="44668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 tabulka Azure služeb — typ, velikost, prostředí QAS a RUN, odhad měsíčních nákladů 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1"/>
          <p:cNvSpPr txBox="1"/>
          <p:nvPr/>
        </p:nvSpPr>
        <p:spPr>
          <a:xfrm>
            <a:off x="6368796" y="1737360"/>
            <a:ext cx="51983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Jak k nákladům přistupujeme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21"/>
          <p:cNvSpPr txBox="1"/>
          <p:nvPr/>
        </p:nvSpPr>
        <p:spPr>
          <a:xfrm>
            <a:off x="6368796" y="2148840"/>
            <a:ext cx="5198364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Náklady na Azure a licence hradí E.ON a nevstupují do naší nabídkové ceny. Přesto je vyčíslujeme — zadavatel očekává nabídku, která je nákladově optimální i z pohledu budoucího provozu.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[Doplňte orientační měsíční náklad a čím je dán.]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1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21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22"/>
          <p:cNvSpPr txBox="1"/>
          <p:nvPr/>
        </p:nvSpPr>
        <p:spPr>
          <a:xfrm>
            <a:off x="914400" y="23957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SEKCE 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2"/>
          <p:cNvSpPr txBox="1"/>
          <p:nvPr/>
        </p:nvSpPr>
        <p:spPr>
          <a:xfrm>
            <a:off x="914400" y="283464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FFFFFF"/>
                </a:solidFill>
              </a:rPr>
              <a:t>Odhady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22"/>
          <p:cNvSpPr txBox="1"/>
          <p:nvPr/>
        </p:nvSpPr>
        <p:spPr>
          <a:xfrm>
            <a:off x="914400" y="39319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Struktura odpovídá Příloze č. 3. Kvalitativní hodnocení probíhá bez znalosti nabídkových cen.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4" name="Google Shape;1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4120" y="4709160"/>
            <a:ext cx="1364127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22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22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3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Struktura nabídkové ceny - m</a:t>
            </a:r>
            <a:r>
              <a:rPr b="1" lang="en-US" sz="3300">
                <a:highlight>
                  <a:srgbClr val="FFFF00"/>
                </a:highlight>
              </a:rPr>
              <a:t>ají být pouze odhady</a:t>
            </a:r>
            <a:endParaRPr sz="33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23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Přesně podle Přílohy č. 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23"/>
          <p:cNvSpPr txBox="1"/>
          <p:nvPr/>
        </p:nvSpPr>
        <p:spPr>
          <a:xfrm>
            <a:off x="621792" y="164592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Položka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23"/>
          <p:cNvSpPr txBox="1"/>
          <p:nvPr/>
        </p:nvSpPr>
        <p:spPr>
          <a:xfrm>
            <a:off x="1719072" y="1645920"/>
            <a:ext cx="5852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Popis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23"/>
          <p:cNvSpPr txBox="1"/>
          <p:nvPr/>
        </p:nvSpPr>
        <p:spPr>
          <a:xfrm>
            <a:off x="7571232" y="164592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MJ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23"/>
          <p:cNvSpPr txBox="1"/>
          <p:nvPr/>
        </p:nvSpPr>
        <p:spPr>
          <a:xfrm>
            <a:off x="9308592" y="164592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Pracnost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23"/>
          <p:cNvSpPr txBox="1"/>
          <p:nvPr/>
        </p:nvSpPr>
        <p:spPr>
          <a:xfrm>
            <a:off x="10497312" y="1645920"/>
            <a:ext cx="11795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Cena bez DPH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9" name="Google Shape;1219;p23"/>
          <p:cNvCxnSpPr/>
          <p:nvPr/>
        </p:nvCxnSpPr>
        <p:spPr>
          <a:xfrm>
            <a:off x="621792" y="1911096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0" name="Google Shape;1220;p23"/>
          <p:cNvSpPr txBox="1"/>
          <p:nvPr/>
        </p:nvSpPr>
        <p:spPr>
          <a:xfrm>
            <a:off x="621792" y="1993392"/>
            <a:ext cx="960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23"/>
          <p:cNvSpPr txBox="1"/>
          <p:nvPr/>
        </p:nvSpPr>
        <p:spPr>
          <a:xfrm>
            <a:off x="1719072" y="1993392"/>
            <a:ext cx="5715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Koncepční fáze — cílový koncept a backlog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23"/>
          <p:cNvSpPr txBox="1"/>
          <p:nvPr/>
        </p:nvSpPr>
        <p:spPr>
          <a:xfrm>
            <a:off x="7571232" y="199339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Celek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23"/>
          <p:cNvSpPr txBox="1"/>
          <p:nvPr/>
        </p:nvSpPr>
        <p:spPr>
          <a:xfrm>
            <a:off x="9308592" y="1993392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[MD]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23"/>
          <p:cNvSpPr txBox="1"/>
          <p:nvPr/>
        </p:nvSpPr>
        <p:spPr>
          <a:xfrm>
            <a:off x="10497312" y="1993392"/>
            <a:ext cx="10424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[Kč]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5" name="Google Shape;1225;p23"/>
          <p:cNvCxnSpPr/>
          <p:nvPr/>
        </p:nvCxnSpPr>
        <p:spPr>
          <a:xfrm>
            <a:off x="621792" y="2276856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6" name="Google Shape;1226;p23"/>
          <p:cNvSpPr txBox="1"/>
          <p:nvPr/>
        </p:nvSpPr>
        <p:spPr>
          <a:xfrm>
            <a:off x="621792" y="2359152"/>
            <a:ext cx="960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1.2.1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23"/>
          <p:cNvSpPr txBox="1"/>
          <p:nvPr/>
        </p:nvSpPr>
        <p:spPr>
          <a:xfrm>
            <a:off x="1719072" y="2359152"/>
            <a:ext cx="5715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Technický návrh, infrastruktura a datová architektura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23"/>
          <p:cNvSpPr txBox="1"/>
          <p:nvPr/>
        </p:nvSpPr>
        <p:spPr>
          <a:xfrm>
            <a:off x="7571232" y="235915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Celek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23"/>
          <p:cNvSpPr txBox="1"/>
          <p:nvPr/>
        </p:nvSpPr>
        <p:spPr>
          <a:xfrm>
            <a:off x="9308592" y="2359152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[MD]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23"/>
          <p:cNvSpPr txBox="1"/>
          <p:nvPr/>
        </p:nvSpPr>
        <p:spPr>
          <a:xfrm>
            <a:off x="10497312" y="2359152"/>
            <a:ext cx="10424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[Kč]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1" name="Google Shape;1231;p23"/>
          <p:cNvCxnSpPr/>
          <p:nvPr/>
        </p:nvCxnSpPr>
        <p:spPr>
          <a:xfrm>
            <a:off x="621792" y="2642616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2" name="Google Shape;1232;p23"/>
          <p:cNvSpPr txBox="1"/>
          <p:nvPr/>
        </p:nvSpPr>
        <p:spPr>
          <a:xfrm>
            <a:off x="621792" y="2724912"/>
            <a:ext cx="960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1.2.2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23"/>
          <p:cNvSpPr txBox="1"/>
          <p:nvPr/>
        </p:nvSpPr>
        <p:spPr>
          <a:xfrm>
            <a:off x="1719072" y="2724912"/>
            <a:ext cx="5715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Funkční požadavky dle kapitoly 3.2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23"/>
          <p:cNvSpPr txBox="1"/>
          <p:nvPr/>
        </p:nvSpPr>
        <p:spPr>
          <a:xfrm>
            <a:off x="7571232" y="272491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Celek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23"/>
          <p:cNvSpPr txBox="1"/>
          <p:nvPr/>
        </p:nvSpPr>
        <p:spPr>
          <a:xfrm>
            <a:off x="9308592" y="2724912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[MD]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3"/>
          <p:cNvSpPr txBox="1"/>
          <p:nvPr/>
        </p:nvSpPr>
        <p:spPr>
          <a:xfrm>
            <a:off x="10497312" y="2724912"/>
            <a:ext cx="10424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[Kč]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7" name="Google Shape;1237;p23"/>
          <p:cNvCxnSpPr/>
          <p:nvPr/>
        </p:nvCxnSpPr>
        <p:spPr>
          <a:xfrm>
            <a:off x="621792" y="3008376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8" name="Google Shape;1238;p23"/>
          <p:cNvSpPr txBox="1"/>
          <p:nvPr/>
        </p:nvSpPr>
        <p:spPr>
          <a:xfrm>
            <a:off x="621792" y="3090672"/>
            <a:ext cx="960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1.2.2.1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23"/>
          <p:cNvSpPr txBox="1"/>
          <p:nvPr/>
        </p:nvSpPr>
        <p:spPr>
          <a:xfrm>
            <a:off x="1719072" y="3090672"/>
            <a:ext cx="5715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Predikční model (FR08)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23"/>
          <p:cNvSpPr txBox="1"/>
          <p:nvPr/>
        </p:nvSpPr>
        <p:spPr>
          <a:xfrm>
            <a:off x="7571232" y="309067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Celek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23"/>
          <p:cNvSpPr txBox="1"/>
          <p:nvPr/>
        </p:nvSpPr>
        <p:spPr>
          <a:xfrm>
            <a:off x="9308592" y="3090672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[MD]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23"/>
          <p:cNvSpPr txBox="1"/>
          <p:nvPr/>
        </p:nvSpPr>
        <p:spPr>
          <a:xfrm>
            <a:off x="10497312" y="3090672"/>
            <a:ext cx="10424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[Kč]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3" name="Google Shape;1243;p23"/>
          <p:cNvCxnSpPr/>
          <p:nvPr/>
        </p:nvCxnSpPr>
        <p:spPr>
          <a:xfrm>
            <a:off x="621792" y="3374136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4" name="Google Shape;1244;p23"/>
          <p:cNvSpPr txBox="1"/>
          <p:nvPr/>
        </p:nvSpPr>
        <p:spPr>
          <a:xfrm>
            <a:off x="621792" y="3456432"/>
            <a:ext cx="960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1.2.3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23"/>
          <p:cNvSpPr txBox="1"/>
          <p:nvPr/>
        </p:nvSpPr>
        <p:spPr>
          <a:xfrm>
            <a:off x="1719072" y="3456432"/>
            <a:ext cx="5715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UX/UI framework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23"/>
          <p:cNvSpPr txBox="1"/>
          <p:nvPr/>
        </p:nvSpPr>
        <p:spPr>
          <a:xfrm>
            <a:off x="7571232" y="345643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Celek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23"/>
          <p:cNvSpPr txBox="1"/>
          <p:nvPr/>
        </p:nvSpPr>
        <p:spPr>
          <a:xfrm>
            <a:off x="9308592" y="3456432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[MD]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23"/>
          <p:cNvSpPr txBox="1"/>
          <p:nvPr/>
        </p:nvSpPr>
        <p:spPr>
          <a:xfrm>
            <a:off x="10497312" y="3456432"/>
            <a:ext cx="10424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[Kč]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9" name="Google Shape;1249;p23"/>
          <p:cNvCxnSpPr/>
          <p:nvPr/>
        </p:nvCxnSpPr>
        <p:spPr>
          <a:xfrm>
            <a:off x="621792" y="3739896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0" name="Google Shape;1250;p23"/>
          <p:cNvSpPr txBox="1"/>
          <p:nvPr/>
        </p:nvSpPr>
        <p:spPr>
          <a:xfrm>
            <a:off x="621792" y="3822192"/>
            <a:ext cx="960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3"/>
          <p:cNvSpPr txBox="1"/>
          <p:nvPr/>
        </p:nvSpPr>
        <p:spPr>
          <a:xfrm>
            <a:off x="1719072" y="3822192"/>
            <a:ext cx="5715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Podpora provozu — paušál a servisní služby, 48 měsíců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23"/>
          <p:cNvSpPr txBox="1"/>
          <p:nvPr/>
        </p:nvSpPr>
        <p:spPr>
          <a:xfrm>
            <a:off x="7571232" y="382219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Měsíc / MD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23"/>
          <p:cNvSpPr txBox="1"/>
          <p:nvPr/>
        </p:nvSpPr>
        <p:spPr>
          <a:xfrm>
            <a:off x="9308592" y="3822192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[MD]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23"/>
          <p:cNvSpPr txBox="1"/>
          <p:nvPr/>
        </p:nvSpPr>
        <p:spPr>
          <a:xfrm>
            <a:off x="10497312" y="3822192"/>
            <a:ext cx="10424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[Kč]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5" name="Google Shape;1255;p23"/>
          <p:cNvCxnSpPr/>
          <p:nvPr/>
        </p:nvCxnSpPr>
        <p:spPr>
          <a:xfrm>
            <a:off x="621792" y="4105656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6" name="Google Shape;1256;p23"/>
          <p:cNvSpPr txBox="1"/>
          <p:nvPr/>
        </p:nvSpPr>
        <p:spPr>
          <a:xfrm>
            <a:off x="621792" y="4187952"/>
            <a:ext cx="960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23"/>
          <p:cNvSpPr txBox="1"/>
          <p:nvPr/>
        </p:nvSpPr>
        <p:spPr>
          <a:xfrm>
            <a:off x="1719072" y="4187952"/>
            <a:ext cx="5715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Drobný rozvoj — 48 měsíců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23"/>
          <p:cNvSpPr txBox="1"/>
          <p:nvPr/>
        </p:nvSpPr>
        <p:spPr>
          <a:xfrm>
            <a:off x="7571232" y="418795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MD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23"/>
          <p:cNvSpPr txBox="1"/>
          <p:nvPr/>
        </p:nvSpPr>
        <p:spPr>
          <a:xfrm>
            <a:off x="9308592" y="4187952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[MD]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23"/>
          <p:cNvSpPr txBox="1"/>
          <p:nvPr/>
        </p:nvSpPr>
        <p:spPr>
          <a:xfrm>
            <a:off x="10497312" y="4187952"/>
            <a:ext cx="10424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[Kč]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1" name="Google Shape;1261;p23"/>
          <p:cNvCxnSpPr/>
          <p:nvPr/>
        </p:nvCxnSpPr>
        <p:spPr>
          <a:xfrm>
            <a:off x="621792" y="4471416"/>
            <a:ext cx="10945368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2" name="Google Shape;1262;p23"/>
          <p:cNvSpPr txBox="1"/>
          <p:nvPr/>
        </p:nvSpPr>
        <p:spPr>
          <a:xfrm>
            <a:off x="621792" y="456285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Celkové náklady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23"/>
          <p:cNvSpPr txBox="1"/>
          <p:nvPr/>
        </p:nvSpPr>
        <p:spPr>
          <a:xfrm>
            <a:off x="8851392" y="4562856"/>
            <a:ext cx="2715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[Kč bez DPH]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23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23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24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Odhad</a:t>
            </a: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330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pracnosti</a:t>
            </a:r>
            <a:endParaRPr sz="33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24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Bottom-up odhad včetně alikvotní režie řízení, testování a compliance.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24"/>
          <p:cNvSpPr/>
          <p:nvPr/>
        </p:nvSpPr>
        <p:spPr>
          <a:xfrm>
            <a:off x="621792" y="1691640"/>
            <a:ext cx="6400800" cy="3108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24"/>
          <p:cNvSpPr txBox="1"/>
          <p:nvPr/>
        </p:nvSpPr>
        <p:spPr>
          <a:xfrm>
            <a:off x="621792" y="3063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 Vložte graf rozpadu MD po položkách ceníku nebo po fázích 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24"/>
          <p:cNvSpPr txBox="1"/>
          <p:nvPr/>
        </p:nvSpPr>
        <p:spPr>
          <a:xfrm>
            <a:off x="7388352" y="1737360"/>
            <a:ext cx="417880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[MD]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24"/>
          <p:cNvSpPr txBox="1"/>
          <p:nvPr/>
        </p:nvSpPr>
        <p:spPr>
          <a:xfrm>
            <a:off x="7388352" y="2487168"/>
            <a:ext cx="4178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celkem za implementaci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24"/>
          <p:cNvSpPr txBox="1"/>
          <p:nvPr/>
        </p:nvSpPr>
        <p:spPr>
          <a:xfrm>
            <a:off x="7388352" y="3017520"/>
            <a:ext cx="417880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[Doplňte rizikovou přirážku a její zdůvodnění — závislost na E.ON IT, proměnlivost externích rozhraní, body odsunuté do analytické fáze.]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24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24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26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Předpoklady</a:t>
            </a:r>
            <a:endParaRPr sz="33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26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Body, ze kterých cena vychází a které se potvrdí v analytické fázi.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26"/>
          <p:cNvSpPr txBox="1"/>
          <p:nvPr/>
        </p:nvSpPr>
        <p:spPr>
          <a:xfrm>
            <a:off x="621792" y="1673352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26"/>
          <p:cNvSpPr txBox="1"/>
          <p:nvPr/>
        </p:nvSpPr>
        <p:spPr>
          <a:xfrm>
            <a:off x="877824" y="1691640"/>
            <a:ext cx="48966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Rozsah dat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26"/>
          <p:cNvSpPr txBox="1"/>
          <p:nvPr/>
        </p:nvSpPr>
        <p:spPr>
          <a:xfrm>
            <a:off x="877824" y="1965960"/>
            <a:ext cx="48966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1 hodina, úroveň okres, 22 okresů, dodávka rozdělená podle typu zdroje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26"/>
          <p:cNvSpPr txBox="1"/>
          <p:nvPr/>
        </p:nvSpPr>
        <p:spPr>
          <a:xfrm>
            <a:off x="6414516" y="1673352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26"/>
          <p:cNvSpPr txBox="1"/>
          <p:nvPr/>
        </p:nvSpPr>
        <p:spPr>
          <a:xfrm>
            <a:off x="6670548" y="1691640"/>
            <a:ext cx="48966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Prostředí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26"/>
          <p:cNvSpPr txBox="1"/>
          <p:nvPr/>
        </p:nvSpPr>
        <p:spPr>
          <a:xfrm>
            <a:off x="6670548" y="1965960"/>
            <a:ext cx="48966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RUN a QAS oddělené, vývojové prostředí v rámci infrastruktury QAS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26"/>
          <p:cNvSpPr txBox="1"/>
          <p:nvPr/>
        </p:nvSpPr>
        <p:spPr>
          <a:xfrm>
            <a:off x="621792" y="2743200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26"/>
          <p:cNvSpPr txBox="1"/>
          <p:nvPr/>
        </p:nvSpPr>
        <p:spPr>
          <a:xfrm>
            <a:off x="877824" y="2761488"/>
            <a:ext cx="48966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a licence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26"/>
          <p:cNvSpPr txBox="1"/>
          <p:nvPr/>
        </p:nvSpPr>
        <p:spPr>
          <a:xfrm>
            <a:off x="877824" y="3035808"/>
            <a:ext cx="48966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Azure, New Relic, Cloudflare a nástroje třetích stran hradí objednatel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26"/>
          <p:cNvSpPr txBox="1"/>
          <p:nvPr/>
        </p:nvSpPr>
        <p:spPr>
          <a:xfrm>
            <a:off x="6414516" y="2743200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26"/>
          <p:cNvSpPr txBox="1"/>
          <p:nvPr/>
        </p:nvSpPr>
        <p:spPr>
          <a:xfrm>
            <a:off x="6670548" y="2761488"/>
            <a:ext cx="48966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Obsah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26"/>
          <p:cNvSpPr txBox="1"/>
          <p:nvPr/>
        </p:nvSpPr>
        <p:spPr>
          <a:xfrm>
            <a:off x="6670548" y="3035808"/>
            <a:ext cx="48966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Statické popisy lokalit dodává EG.D, správa obsahu není součástí nacenění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26"/>
          <p:cNvSpPr txBox="1"/>
          <p:nvPr/>
        </p:nvSpPr>
        <p:spPr>
          <a:xfrm>
            <a:off x="621792" y="3813048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26"/>
          <p:cNvSpPr txBox="1"/>
          <p:nvPr/>
        </p:nvSpPr>
        <p:spPr>
          <a:xfrm>
            <a:off x="877824" y="3831336"/>
            <a:ext cx="48966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Nasazení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26"/>
          <p:cNvSpPr txBox="1"/>
          <p:nvPr/>
        </p:nvSpPr>
        <p:spPr>
          <a:xfrm>
            <a:off x="877824" y="4105656"/>
            <a:ext cx="48966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Do prostředí RUN nasazuje E.ON IT, zdržení nejde k tíži dodavatele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26"/>
          <p:cNvSpPr txBox="1"/>
          <p:nvPr/>
        </p:nvSpPr>
        <p:spPr>
          <a:xfrm>
            <a:off x="6414516" y="3813048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26"/>
          <p:cNvSpPr txBox="1"/>
          <p:nvPr/>
        </p:nvSpPr>
        <p:spPr>
          <a:xfrm>
            <a:off x="6670548" y="3831336"/>
            <a:ext cx="48966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Otevřené body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26"/>
          <p:cNvSpPr txBox="1"/>
          <p:nvPr/>
        </p:nvSpPr>
        <p:spPr>
          <a:xfrm>
            <a:off x="6670548" y="4105656"/>
            <a:ext cx="48966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Chybové stavy, pravidla pro neúplná data a přístupnost se upřesní v analýze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26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26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7"/>
          <p:cNvSpPr txBox="1"/>
          <p:nvPr/>
        </p:nvSpPr>
        <p:spPr>
          <a:xfrm>
            <a:off x="914400" y="23957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SEKCE 05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27"/>
          <p:cNvSpPr txBox="1"/>
          <p:nvPr/>
        </p:nvSpPr>
        <p:spPr>
          <a:xfrm>
            <a:off x="914400" y="2834640"/>
            <a:ext cx="8686800" cy="7772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Proč Vorian 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27"/>
          <p:cNvSpPr txBox="1"/>
          <p:nvPr/>
        </p:nvSpPr>
        <p:spPr>
          <a:xfrm>
            <a:off x="914400" y="39319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Reference, řízení rizik a závěr. Teprve tady mluvíme o sobě.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5" name="Google Shape;13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4120" y="4709160"/>
            <a:ext cx="1364127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27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27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28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Referenční zakázky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28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Kapitola 8.3 připouští až tři reference. Pro splnění vyřazovacího kritéria stačí jedna obdobná.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28"/>
          <p:cNvSpPr/>
          <p:nvPr/>
        </p:nvSpPr>
        <p:spPr>
          <a:xfrm>
            <a:off x="621792" y="1737360"/>
            <a:ext cx="3343656" cy="3017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28"/>
          <p:cNvSpPr txBox="1"/>
          <p:nvPr/>
        </p:nvSpPr>
        <p:spPr>
          <a:xfrm>
            <a:off x="941832" y="2011680"/>
            <a:ext cx="27035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[Název projektu]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28"/>
          <p:cNvSpPr txBox="1"/>
          <p:nvPr/>
        </p:nvSpPr>
        <p:spPr>
          <a:xfrm>
            <a:off x="941832" y="2322576"/>
            <a:ext cx="27035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[Zákazník]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28"/>
          <p:cNvSpPr txBox="1"/>
          <p:nvPr/>
        </p:nvSpPr>
        <p:spPr>
          <a:xfrm>
            <a:off x="941832" y="2651760"/>
            <a:ext cx="2703576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[Termín realizace od–do]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[Místo realizace]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[Rámcová hodnota zakázky]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[Projektový tým]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[Použitá metodika]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[Platforma a rozsah řešení]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[Kontakt pro ověření]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28"/>
          <p:cNvSpPr/>
          <p:nvPr/>
        </p:nvSpPr>
        <p:spPr>
          <a:xfrm>
            <a:off x="4422648" y="1737360"/>
            <a:ext cx="3343656" cy="3017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28"/>
          <p:cNvSpPr txBox="1"/>
          <p:nvPr/>
        </p:nvSpPr>
        <p:spPr>
          <a:xfrm>
            <a:off x="4742688" y="2011680"/>
            <a:ext cx="27035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[Název projektu]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28"/>
          <p:cNvSpPr txBox="1"/>
          <p:nvPr/>
        </p:nvSpPr>
        <p:spPr>
          <a:xfrm>
            <a:off x="4742688" y="2322576"/>
            <a:ext cx="27035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[Zákazník]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28"/>
          <p:cNvSpPr txBox="1"/>
          <p:nvPr/>
        </p:nvSpPr>
        <p:spPr>
          <a:xfrm>
            <a:off x="4742688" y="2651760"/>
            <a:ext cx="2703576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[Termín realizace od–do]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[Místo realizace]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[Rámcová hodnota zakázky]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[Projektový tým]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[Použitá metodika]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[Platforma a rozsah řešení]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[Kontakt pro ověření]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28"/>
          <p:cNvSpPr/>
          <p:nvPr/>
        </p:nvSpPr>
        <p:spPr>
          <a:xfrm>
            <a:off x="8223504" y="1737360"/>
            <a:ext cx="3343656" cy="3017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28"/>
          <p:cNvSpPr txBox="1"/>
          <p:nvPr/>
        </p:nvSpPr>
        <p:spPr>
          <a:xfrm>
            <a:off x="8543544" y="2011680"/>
            <a:ext cx="27035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[Název projektu]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28"/>
          <p:cNvSpPr txBox="1"/>
          <p:nvPr/>
        </p:nvSpPr>
        <p:spPr>
          <a:xfrm>
            <a:off x="8543544" y="2322576"/>
            <a:ext cx="27035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[Zákazník]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28"/>
          <p:cNvSpPr txBox="1"/>
          <p:nvPr/>
        </p:nvSpPr>
        <p:spPr>
          <a:xfrm>
            <a:off x="8543544" y="2651760"/>
            <a:ext cx="2703576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[Termín realizace od–do]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[Místo realizace]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[Rámcová hodnota zakázky]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[Projektový tým]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[Použitá metodika]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[Platforma a rozsah řešení]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[Kontakt pro ověření]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28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28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29"/>
          <p:cNvSpPr txBox="1"/>
          <p:nvPr/>
        </p:nvSpPr>
        <p:spPr>
          <a:xfrm>
            <a:off x="621792" y="475488"/>
            <a:ext cx="10945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Rizika a jak je řídíme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29"/>
          <p:cNvSpPr txBox="1"/>
          <p:nvPr/>
        </p:nvSpPr>
        <p:spPr>
          <a:xfrm>
            <a:off x="621792" y="1133856"/>
            <a:ext cx="10945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Otevřeně pojmenovaná rizika působí věrohodněji než jejich absence.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29"/>
          <p:cNvSpPr txBox="1"/>
          <p:nvPr/>
        </p:nvSpPr>
        <p:spPr>
          <a:xfrm>
            <a:off x="621792" y="1645920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Riziko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29"/>
          <p:cNvSpPr txBox="1"/>
          <p:nvPr/>
        </p:nvSpPr>
        <p:spPr>
          <a:xfrm>
            <a:off x="5468112" y="1645920"/>
            <a:ext cx="62087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Opatření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8" name="Google Shape;1348;p29"/>
          <p:cNvCxnSpPr/>
          <p:nvPr/>
        </p:nvCxnSpPr>
        <p:spPr>
          <a:xfrm>
            <a:off x="621792" y="1911096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9" name="Google Shape;1349;p29"/>
          <p:cNvSpPr txBox="1"/>
          <p:nvPr/>
        </p:nvSpPr>
        <p:spPr>
          <a:xfrm>
            <a:off x="621792" y="1993392"/>
            <a:ext cx="4709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Závislost na E.ON IT při nasazení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29"/>
          <p:cNvSpPr txBox="1"/>
          <p:nvPr/>
        </p:nvSpPr>
        <p:spPr>
          <a:xfrm>
            <a:off x="5468112" y="1993392"/>
            <a:ext cx="60716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Release plán s rezervou, včasné plánování oken, eskalační cesta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1" name="Google Shape;1351;p29"/>
          <p:cNvCxnSpPr/>
          <p:nvPr/>
        </p:nvCxnSpPr>
        <p:spPr>
          <a:xfrm>
            <a:off x="621792" y="2478024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2" name="Google Shape;1352;p29"/>
          <p:cNvSpPr txBox="1"/>
          <p:nvPr/>
        </p:nvSpPr>
        <p:spPr>
          <a:xfrm>
            <a:off x="621792" y="2560320"/>
            <a:ext cx="4709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Proměnlivost externích rozhraní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29"/>
          <p:cNvSpPr txBox="1"/>
          <p:nvPr/>
        </p:nvSpPr>
        <p:spPr>
          <a:xfrm>
            <a:off x="5468112" y="2560320"/>
            <a:ext cx="60716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Oddělená integrační vrstva, monitoring schémat, změny nad rámec paušálu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4" name="Google Shape;1354;p29"/>
          <p:cNvCxnSpPr/>
          <p:nvPr/>
        </p:nvCxnSpPr>
        <p:spPr>
          <a:xfrm>
            <a:off x="621792" y="3044952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5" name="Google Shape;1355;p29"/>
          <p:cNvSpPr txBox="1"/>
          <p:nvPr/>
        </p:nvSpPr>
        <p:spPr>
          <a:xfrm>
            <a:off x="621792" y="3127248"/>
            <a:ext cx="4709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Predikční model jako největší neznámá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29"/>
          <p:cNvSpPr txBox="1"/>
          <p:nvPr/>
        </p:nvSpPr>
        <p:spPr>
          <a:xfrm>
            <a:off x="5468112" y="3127248"/>
            <a:ext cx="60716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Konzervativní odhad, samostatné nacenění, validace na historii od roku 2020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7" name="Google Shape;1357;p29"/>
          <p:cNvCxnSpPr/>
          <p:nvPr/>
        </p:nvCxnSpPr>
        <p:spPr>
          <a:xfrm>
            <a:off x="621792" y="3611880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8" name="Google Shape;1358;p29"/>
          <p:cNvSpPr txBox="1"/>
          <p:nvPr/>
        </p:nvSpPr>
        <p:spPr>
          <a:xfrm>
            <a:off x="621792" y="3694176"/>
            <a:ext cx="4709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Nejednotné kódy lokalit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29"/>
          <p:cNvSpPr txBox="1"/>
          <p:nvPr/>
        </p:nvSpPr>
        <p:spPr>
          <a:xfrm>
            <a:off x="5468112" y="3694176"/>
            <a:ext cx="60716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Mapovací vrstva RÚIAN, LAU 1 a interních kódů DWH jako samostatná komponenta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0" name="Google Shape;1360;p29"/>
          <p:cNvCxnSpPr/>
          <p:nvPr/>
        </p:nvCxnSpPr>
        <p:spPr>
          <a:xfrm>
            <a:off x="621792" y="4178808"/>
            <a:ext cx="10945368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1" name="Google Shape;1361;p29"/>
          <p:cNvSpPr txBox="1"/>
          <p:nvPr/>
        </p:nvSpPr>
        <p:spPr>
          <a:xfrm>
            <a:off x="621792" y="4261104"/>
            <a:ext cx="4709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Body odsunuté do analytické fáze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29"/>
          <p:cNvSpPr txBox="1"/>
          <p:nvPr/>
        </p:nvSpPr>
        <p:spPr>
          <a:xfrm>
            <a:off x="5468112" y="4261104"/>
            <a:ext cx="60716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Vymezené předpoklady nabídky, změnové řízení pro odchylky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29"/>
          <p:cNvSpPr txBox="1"/>
          <p:nvPr/>
        </p:nvSpPr>
        <p:spPr>
          <a:xfrm>
            <a:off x="411480" y="64190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29"/>
          <p:cNvSpPr txBox="1"/>
          <p:nvPr/>
        </p:nvSpPr>
        <p:spPr>
          <a:xfrm>
            <a:off x="10863072" y="641908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h244f88c167811e80_0_0"/>
          <p:cNvSpPr txBox="1"/>
          <p:nvPr/>
        </p:nvSpPr>
        <p:spPr>
          <a:xfrm>
            <a:off x="621792" y="475488"/>
            <a:ext cx="10945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Proč Vorian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h244f88c167811e80_0_0"/>
          <p:cNvSpPr/>
          <p:nvPr/>
        </p:nvSpPr>
        <p:spPr>
          <a:xfrm>
            <a:off x="621792" y="1920240"/>
            <a:ext cx="603600" cy="603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h244f88c167811e80_0_0"/>
          <p:cNvSpPr txBox="1"/>
          <p:nvPr/>
        </p:nvSpPr>
        <p:spPr>
          <a:xfrm>
            <a:off x="621792" y="1920240"/>
            <a:ext cx="603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h244f88c167811e80_0_0"/>
          <p:cNvSpPr txBox="1"/>
          <p:nvPr/>
        </p:nvSpPr>
        <p:spPr>
          <a:xfrm>
            <a:off x="621792" y="2779776"/>
            <a:ext cx="331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Senioři, kteří dodávají sami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h244f88c167811e80_0_0"/>
          <p:cNvSpPr txBox="1"/>
          <p:nvPr/>
        </p:nvSpPr>
        <p:spPr>
          <a:xfrm>
            <a:off x="621792" y="3108960"/>
            <a:ext cx="331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Čtyři seniorní konzultanti pokrývají všech pět klíčových rolí z bodu 8.4. Kdo řešení navrhuje, ten ho i postaví a provozuje. Žádné předávání práce a žádní junioři, kteří se učí na vašem projektu.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h244f88c167811e80_0_0"/>
          <p:cNvSpPr/>
          <p:nvPr/>
        </p:nvSpPr>
        <p:spPr>
          <a:xfrm>
            <a:off x="4437888" y="1920240"/>
            <a:ext cx="603600" cy="603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h244f88c167811e80_0_0"/>
          <p:cNvSpPr txBox="1"/>
          <p:nvPr/>
        </p:nvSpPr>
        <p:spPr>
          <a:xfrm>
            <a:off x="4437888" y="1920240"/>
            <a:ext cx="603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h244f88c167811e80_0_0"/>
          <p:cNvSpPr txBox="1"/>
          <p:nvPr/>
        </p:nvSpPr>
        <p:spPr>
          <a:xfrm>
            <a:off x="4437888" y="2779776"/>
            <a:ext cx="331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Malá firma, rychlá rozhodnutí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h244f88c167811e80_0_0"/>
          <p:cNvSpPr txBox="1"/>
          <p:nvPr/>
        </p:nvSpPr>
        <p:spPr>
          <a:xfrm>
            <a:off x="4437888" y="3108960"/>
            <a:ext cx="331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Nejsme korporát. EG.D jedná přímo s lidmi, kteří aplikaci staví, a rozhoduje se v řádu dnů, ne týdnů. Jeden tým a stejné tváře od analýzy po podporu provozu.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h244f88c167811e80_0_0"/>
          <p:cNvSpPr/>
          <p:nvPr/>
        </p:nvSpPr>
        <p:spPr>
          <a:xfrm>
            <a:off x="8253984" y="1920240"/>
            <a:ext cx="603600" cy="603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h244f88c167811e80_0_0"/>
          <p:cNvSpPr txBox="1"/>
          <p:nvPr/>
        </p:nvSpPr>
        <p:spPr>
          <a:xfrm>
            <a:off x="8253984" y="1920240"/>
            <a:ext cx="603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h244f88c167811e80_0_0"/>
          <p:cNvSpPr txBox="1"/>
          <p:nvPr/>
        </p:nvSpPr>
        <p:spPr>
          <a:xfrm>
            <a:off x="8253984" y="2779776"/>
            <a:ext cx="331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</a:rPr>
              <a:t>O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věřeno v </a:t>
            </a:r>
            <a:r>
              <a:rPr b="1" i="0" lang="en-US" sz="15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E.ON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Data a</a:t>
            </a:r>
            <a:r>
              <a:rPr b="1" lang="en-US" sz="1500">
                <a:solidFill>
                  <a:srgbClr val="FFFFFF"/>
                </a:solidFill>
              </a:rPr>
              <a:t> 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h244f88c167811e80_0_0"/>
          <p:cNvSpPr txBox="1"/>
          <p:nvPr/>
        </p:nvSpPr>
        <p:spPr>
          <a:xfrm>
            <a:off x="8253984" y="3108960"/>
            <a:ext cx="331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Od poloviny roku 2025 jsme partnerem E.ON AI Tribe v programu Customer Care 2030. AI nástroje zrychlují náš vývoj a testování. Do samotné aplikace AI nevkládáme, v souladu s odpověďmi 166 a 192.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h244f88c167811e80_0_0"/>
          <p:cNvSpPr txBox="1"/>
          <p:nvPr/>
        </p:nvSpPr>
        <p:spPr>
          <a:xfrm>
            <a:off x="411480" y="6419088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VORIAN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h244f88c167811e80_0_0"/>
          <p:cNvSpPr txBox="1"/>
          <p:nvPr/>
        </p:nvSpPr>
        <p:spPr>
          <a:xfrm>
            <a:off x="10863072" y="64190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31"/>
          <p:cNvSpPr txBox="1"/>
          <p:nvPr/>
        </p:nvSpPr>
        <p:spPr>
          <a:xfrm>
            <a:off x="822960" y="86868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Děkujeme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31"/>
          <p:cNvSpPr txBox="1"/>
          <p:nvPr/>
        </p:nvSpPr>
        <p:spPr>
          <a:xfrm>
            <a:off x="822960" y="3017520"/>
            <a:ext cx="2496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30. 9. 2026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31"/>
          <p:cNvSpPr txBox="1"/>
          <p:nvPr/>
        </p:nvSpPr>
        <p:spPr>
          <a:xfrm>
            <a:off x="822960" y="3291840"/>
            <a:ext cx="2496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Podání nabídky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31"/>
          <p:cNvSpPr txBox="1"/>
          <p:nvPr/>
        </p:nvSpPr>
        <p:spPr>
          <a:xfrm>
            <a:off x="3639312" y="3017520"/>
            <a:ext cx="2496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21.–22. 10. 2026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31"/>
          <p:cNvSpPr txBox="1"/>
          <p:nvPr/>
        </p:nvSpPr>
        <p:spPr>
          <a:xfrm>
            <a:off x="3639312" y="3291840"/>
            <a:ext cx="2496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Prezentace uchazečů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31"/>
          <p:cNvSpPr txBox="1"/>
          <p:nvPr/>
        </p:nvSpPr>
        <p:spPr>
          <a:xfrm>
            <a:off x="6455664" y="3017520"/>
            <a:ext cx="2496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2. 11. 2026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31"/>
          <p:cNvSpPr txBox="1"/>
          <p:nvPr/>
        </p:nvSpPr>
        <p:spPr>
          <a:xfrm>
            <a:off x="6455664" y="3291840"/>
            <a:ext cx="2496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Jednání o ceně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31"/>
          <p:cNvSpPr txBox="1"/>
          <p:nvPr/>
        </p:nvSpPr>
        <p:spPr>
          <a:xfrm>
            <a:off x="9272016" y="3017520"/>
            <a:ext cx="2496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23. 11. 2026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31"/>
          <p:cNvSpPr txBox="1"/>
          <p:nvPr/>
        </p:nvSpPr>
        <p:spPr>
          <a:xfrm>
            <a:off x="9272016" y="3291840"/>
            <a:ext cx="2496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Zahájení realizace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31"/>
          <p:cNvSpPr txBox="1"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[Kontaktní osoba]   ·   [e-mail]   ·   [telefon]   ·   vorian.cz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0" name="Google Shape;140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5074920"/>
            <a:ext cx="1081893" cy="1051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2026-09-18T12:26:03Z</dcterms:created>
  <dc:creator>Vorian</dc:creator>
</cp:coreProperties>
</file>